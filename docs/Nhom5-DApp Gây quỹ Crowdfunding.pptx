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5" r:id="rId20"/>
    <p:sldId id="276" r:id="rId21"/>
    <p:sldId id="277" r:id="rId22"/>
  </p:sldIdLst>
  <p:sldSz cx="16256000" cy="9144000"/>
  <p:notesSz cx="9144000" cy="16256000"/>
  <p:embeddedFontLst>
    <p:embeddedFont>
      <p:font typeface="Liter" panose="020B0604020202020204" charset="0"/>
      <p:regular r:id="rId24"/>
    </p:embeddedFont>
    <p:embeddedFont>
      <p:font typeface="Quattrocento Sans" panose="020B0502050000020003" pitchFamily="34" charset="0"/>
      <p:regular r:id="rId25"/>
      <p:bold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2" d="100"/>
          <a:sy n="62" d="100"/>
        </p:scale>
        <p:origin x="667"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755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ttps://kimi-img.moonshot.cn/pub/slides/okc/d5rtvzlfo7tzy/mnt/agents/output/blockchain-crowdfunding/images/4_121_212_Blockchain_Abstract_Royalty.png"/>
          <p:cNvPicPr>
            <a:picLocks noChangeAspect="1"/>
          </p:cNvPicPr>
          <p:nvPr/>
        </p:nvPicPr>
        <p:blipFill>
          <a:blip r:embed="rId3"/>
          <a:srcRect t="74" b="74"/>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flip="none" rotWithShape="1">
            <a:gsLst>
              <a:gs pos="0">
                <a:srgbClr val="1B3A5C">
                  <a:alpha val="60000"/>
                </a:srgbClr>
              </a:gs>
              <a:gs pos="50000">
                <a:srgbClr val="1B3A5C">
                  <a:alpha val="80000"/>
                </a:srgbClr>
              </a:gs>
              <a:gs pos="100000">
                <a:srgbClr val="1B3A5C">
                  <a:alpha val="90000"/>
                </a:srgbClr>
              </a:gs>
            </a:gsLst>
            <a:lin ang="5400000" scaled="1"/>
          </a:gradFill>
          <a:ln w="12700">
            <a:solidFill>
              <a:srgbClr val="333333"/>
            </a:solidFill>
            <a:prstDash val="solid"/>
          </a:ln>
        </p:spPr>
      </p:sp>
      <p:sp>
        <p:nvSpPr>
          <p:cNvPr id="4" name="Text 1"/>
          <p:cNvSpPr/>
          <p:nvPr/>
        </p:nvSpPr>
        <p:spPr>
          <a:xfrm>
            <a:off x="4318000" y="2794000"/>
            <a:ext cx="7620000" cy="381000"/>
          </a:xfrm>
          <a:prstGeom prst="rect">
            <a:avLst/>
          </a:prstGeom>
          <a:noFill/>
          <a:ln/>
        </p:spPr>
        <p:txBody>
          <a:bodyPr wrap="none" lIns="0" tIns="0" rIns="0" bIns="0" rtlCol="0" anchor="ctr"/>
          <a:lstStyle/>
          <a:p>
            <a:pPr algn="ctr">
              <a:lnSpc>
                <a:spcPct val="100000"/>
              </a:lnSpc>
            </a:pPr>
            <a:r>
              <a:rPr lang="en-US" sz="1300" kern="0" spc="400" dirty="0">
                <a:solidFill>
                  <a:srgbClr val="FFFFFF"/>
                </a:solidFill>
                <a:latin typeface="Liter" pitchFamily="34" charset="0"/>
                <a:ea typeface="Liter" pitchFamily="34" charset="-122"/>
                <a:cs typeface="Liter" pitchFamily="34" charset="-120"/>
              </a:rPr>
              <a:t>ĐỒ ÁN MÔN HỌC</a:t>
            </a:r>
            <a:endParaRPr lang="en-US" sz="1300" dirty="0"/>
          </a:p>
        </p:txBody>
      </p:sp>
      <p:sp>
        <p:nvSpPr>
          <p:cNvPr id="5" name="Shape 2"/>
          <p:cNvSpPr/>
          <p:nvPr/>
        </p:nvSpPr>
        <p:spPr>
          <a:xfrm>
            <a:off x="6858000" y="3302000"/>
            <a:ext cx="2540000" cy="25400"/>
          </a:xfrm>
          <a:prstGeom prst="rect">
            <a:avLst/>
          </a:prstGeom>
          <a:solidFill>
            <a:srgbClr val="FFFFFF">
              <a:alpha val="37647"/>
            </a:srgbClr>
          </a:solidFill>
          <a:ln/>
        </p:spPr>
      </p:sp>
      <p:sp>
        <p:nvSpPr>
          <p:cNvPr id="6" name="Text 3"/>
          <p:cNvSpPr/>
          <p:nvPr/>
        </p:nvSpPr>
        <p:spPr>
          <a:xfrm>
            <a:off x="1778000" y="3556000"/>
            <a:ext cx="12700000" cy="762000"/>
          </a:xfrm>
          <a:prstGeom prst="rect">
            <a:avLst/>
          </a:prstGeom>
          <a:noFill/>
          <a:ln/>
        </p:spPr>
        <p:txBody>
          <a:bodyPr wrap="none" lIns="0" tIns="0" rIns="0" bIns="0" rtlCol="0" anchor="ctr"/>
          <a:lstStyle/>
          <a:p>
            <a:pPr algn="ctr">
              <a:lnSpc>
                <a:spcPct val="120000"/>
              </a:lnSpc>
            </a:pPr>
            <a:r>
              <a:rPr lang="en-US" sz="4400" kern="0" spc="600" dirty="0">
                <a:solidFill>
                  <a:srgbClr val="FFFFFF"/>
                </a:solidFill>
                <a:latin typeface="Liter" pitchFamily="34" charset="0"/>
                <a:ea typeface="Liter" pitchFamily="34" charset="-122"/>
                <a:cs typeface="Liter" pitchFamily="34" charset="-120"/>
              </a:rPr>
              <a:t>CÔNG NGHỆ BLOCKCHAIN</a:t>
            </a:r>
            <a:endParaRPr lang="en-US" sz="4000" dirty="0"/>
          </a:p>
        </p:txBody>
      </p:sp>
      <p:sp>
        <p:nvSpPr>
          <p:cNvPr id="7" name="Shape 4"/>
          <p:cNvSpPr/>
          <p:nvPr/>
        </p:nvSpPr>
        <p:spPr>
          <a:xfrm>
            <a:off x="6858000" y="4508500"/>
            <a:ext cx="2540000" cy="25400"/>
          </a:xfrm>
          <a:prstGeom prst="rect">
            <a:avLst/>
          </a:prstGeom>
          <a:solidFill>
            <a:srgbClr val="FFFFFF">
              <a:alpha val="37647"/>
            </a:srgbClr>
          </a:solidFill>
          <a:ln/>
        </p:spPr>
      </p:sp>
      <p:sp>
        <p:nvSpPr>
          <p:cNvPr id="8" name="Text 5"/>
          <p:cNvSpPr/>
          <p:nvPr/>
        </p:nvSpPr>
        <p:spPr>
          <a:xfrm>
            <a:off x="2413000" y="4762500"/>
            <a:ext cx="11430000" cy="1016000"/>
          </a:xfrm>
          <a:prstGeom prst="rect">
            <a:avLst/>
          </a:prstGeom>
          <a:noFill/>
          <a:ln/>
        </p:spPr>
        <p:txBody>
          <a:bodyPr wrap="square" lIns="0" tIns="0" rIns="0" bIns="0" rtlCol="0" anchor="ctr"/>
          <a:lstStyle/>
          <a:p>
            <a:pPr algn="ctr">
              <a:lnSpc>
                <a:spcPct val="150000"/>
              </a:lnSpc>
            </a:pPr>
            <a:r>
              <a:rPr lang="en-US" sz="2200" dirty="0">
                <a:solidFill>
                  <a:srgbClr val="FFFFFF">
                    <a:alpha val="80000"/>
                  </a:srgbClr>
                </a:solidFill>
                <a:latin typeface="Quattrocento Sans" pitchFamily="34" charset="0"/>
                <a:ea typeface="Quattrocento Sans" pitchFamily="34" charset="-122"/>
                <a:cs typeface="Quattrocento Sans" pitchFamily="34" charset="-120"/>
              </a:rPr>
              <a:t>Hệ thống DApp Gây quỹ Crowdfunding</a:t>
            </a:r>
            <a:endParaRPr lang="en-US" sz="1600" dirty="0"/>
          </a:p>
          <a:p>
            <a:pPr algn="ctr">
              <a:lnSpc>
                <a:spcPct val="150000"/>
              </a:lnSpc>
            </a:pPr>
            <a:r>
              <a:rPr lang="en-US" sz="2200" dirty="0">
                <a:solidFill>
                  <a:srgbClr val="FFFFFF">
                    <a:alpha val="80000"/>
                  </a:srgbClr>
                </a:solidFill>
                <a:latin typeface="Quattrocento Sans" pitchFamily="34" charset="0"/>
                <a:ea typeface="Quattrocento Sans" pitchFamily="34" charset="-122"/>
                <a:cs typeface="Quattrocento Sans" pitchFamily="34" charset="-120"/>
              </a:rPr>
              <a:t>trên nền tảng Blockchain</a:t>
            </a:r>
            <a:endParaRPr lang="en-US" sz="1600" dirty="0"/>
          </a:p>
        </p:txBody>
      </p:sp>
      <p:sp>
        <p:nvSpPr>
          <p:cNvPr id="9" name="Text 6"/>
          <p:cNvSpPr/>
          <p:nvPr/>
        </p:nvSpPr>
        <p:spPr>
          <a:xfrm>
            <a:off x="4318000" y="6223000"/>
            <a:ext cx="7620000" cy="381000"/>
          </a:xfrm>
          <a:prstGeom prst="rect">
            <a:avLst/>
          </a:prstGeom>
          <a:noFill/>
          <a:ln/>
        </p:spPr>
        <p:txBody>
          <a:bodyPr wrap="none" lIns="0" tIns="0" rIns="0" bIns="0" rtlCol="0" anchor="ctr"/>
          <a:lstStyle/>
          <a:p>
            <a:pPr algn="ctr">
              <a:lnSpc>
                <a:spcPct val="100000"/>
              </a:lnSpc>
            </a:pPr>
            <a:r>
              <a:rPr lang="en-US" sz="1600" dirty="0">
                <a:solidFill>
                  <a:srgbClr val="FFFFFF">
                    <a:alpha val="60000"/>
                  </a:srgbClr>
                </a:solidFill>
                <a:latin typeface="Quattrocento Sans" pitchFamily="34" charset="0"/>
                <a:ea typeface="Quattrocento Sans" pitchFamily="34" charset="-122"/>
                <a:cs typeface="Quattrocento Sans" pitchFamily="34" charset="-120"/>
              </a:rPr>
              <a:t>Năm học 2025 - 2026</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762000" y="571500"/>
            <a:ext cx="2540000" cy="304800"/>
          </a:xfrm>
          <a:prstGeom prst="rect">
            <a:avLst/>
          </a:prstGeom>
          <a:noFill/>
          <a:ln/>
        </p:spPr>
        <p:txBody>
          <a:bodyPr wrap="none" lIns="0" tIns="0" rIns="0" bIns="0" rtlCol="0" anchor="ctr"/>
          <a:lstStyle/>
          <a:p>
            <a:pPr>
              <a:lnSpc>
                <a:spcPct val="100000"/>
              </a:lnSpc>
            </a:pPr>
            <a:r>
              <a:rPr lang="en-US" sz="1300" kern="0" spc="300" dirty="0">
                <a:solidFill>
                  <a:srgbClr val="64748B"/>
                </a:solidFill>
                <a:latin typeface="Liter" pitchFamily="34" charset="0"/>
                <a:ea typeface="Liter" pitchFamily="34" charset="-122"/>
                <a:cs typeface="Liter" pitchFamily="34" charset="-120"/>
              </a:rPr>
              <a:t>MỤC LỤC</a:t>
            </a:r>
            <a:endParaRPr lang="en-US" sz="1300" dirty="0"/>
          </a:p>
        </p:txBody>
      </p:sp>
      <p:sp>
        <p:nvSpPr>
          <p:cNvPr id="3" name="Text 1"/>
          <p:cNvSpPr/>
          <p:nvPr/>
        </p:nvSpPr>
        <p:spPr>
          <a:xfrm>
            <a:off x="762000" y="952500"/>
            <a:ext cx="5080000" cy="635000"/>
          </a:xfrm>
          <a:prstGeom prst="rect">
            <a:avLst/>
          </a:prstGeom>
          <a:noFill/>
          <a:ln/>
        </p:spPr>
        <p:txBody>
          <a:bodyPr wrap="none" lIns="0" tIns="0" rIns="0" bIns="0" rtlCol="0" anchor="ctr"/>
          <a:lstStyle/>
          <a:p>
            <a:pPr>
              <a:lnSpc>
                <a:spcPct val="130000"/>
              </a:lnSpc>
            </a:pPr>
            <a:r>
              <a:rPr lang="en-US" sz="3600" dirty="0">
                <a:solidFill>
                  <a:srgbClr val="1B3A5C"/>
                </a:solidFill>
                <a:latin typeface="Liter" pitchFamily="34" charset="0"/>
                <a:ea typeface="Liter" pitchFamily="34" charset="-122"/>
                <a:cs typeface="Liter" pitchFamily="34" charset="-120"/>
              </a:rPr>
              <a:t>Nội dung trình bày</a:t>
            </a:r>
            <a:endParaRPr lang="en-US" sz="2800" dirty="0"/>
          </a:p>
        </p:txBody>
      </p:sp>
      <p:sp>
        <p:nvSpPr>
          <p:cNvPr id="4" name="Shape 2"/>
          <p:cNvSpPr/>
          <p:nvPr/>
        </p:nvSpPr>
        <p:spPr>
          <a:xfrm>
            <a:off x="762000" y="1714500"/>
            <a:ext cx="762000" cy="50800"/>
          </a:xfrm>
          <a:prstGeom prst="rect">
            <a:avLst/>
          </a:prstGeom>
          <a:solidFill>
            <a:srgbClr val="3B82F6"/>
          </a:solidFill>
          <a:ln/>
        </p:spPr>
      </p:sp>
      <p:sp>
        <p:nvSpPr>
          <p:cNvPr id="5" name="Shape 3"/>
          <p:cNvSpPr/>
          <p:nvPr/>
        </p:nvSpPr>
        <p:spPr>
          <a:xfrm>
            <a:off x="762000" y="2286000"/>
            <a:ext cx="7112000" cy="5588000"/>
          </a:xfrm>
          <a:prstGeom prst="roundRect">
            <a:avLst>
              <a:gd name="adj" fmla="val 8000"/>
            </a:avLst>
          </a:prstGeom>
          <a:solidFill>
            <a:srgbClr val="FFFFFF"/>
          </a:solidFill>
          <a:ln/>
          <a:effectLst>
            <a:outerShdw blurRad="203200" dist="50800" dir="5400000" algn="bl" rotWithShape="0">
              <a:srgbClr val="000000">
                <a:alpha val="5098"/>
              </a:srgbClr>
            </a:outerShdw>
          </a:effectLst>
        </p:spPr>
      </p:sp>
      <p:sp>
        <p:nvSpPr>
          <p:cNvPr id="6" name="Text 4"/>
          <p:cNvSpPr/>
          <p:nvPr/>
        </p:nvSpPr>
        <p:spPr>
          <a:xfrm>
            <a:off x="1270000" y="2794000"/>
            <a:ext cx="1524000" cy="889000"/>
          </a:xfrm>
          <a:prstGeom prst="rect">
            <a:avLst/>
          </a:prstGeom>
          <a:noFill/>
          <a:ln/>
        </p:spPr>
        <p:txBody>
          <a:bodyPr wrap="none" lIns="0" tIns="0" rIns="0" bIns="0" rtlCol="0" anchor="t"/>
          <a:lstStyle/>
          <a:p>
            <a:pPr>
              <a:lnSpc>
                <a:spcPct val="100000"/>
              </a:lnSpc>
            </a:pPr>
            <a:r>
              <a:rPr lang="en-US" sz="5600" dirty="0">
                <a:solidFill>
                  <a:srgbClr val="3B82F6"/>
                </a:solidFill>
                <a:latin typeface="Liter" pitchFamily="34" charset="0"/>
                <a:ea typeface="Liter" pitchFamily="34" charset="-122"/>
                <a:cs typeface="Liter" pitchFamily="34" charset="-120"/>
              </a:rPr>
              <a:t>01</a:t>
            </a:r>
            <a:endParaRPr lang="en-US" sz="1600" dirty="0"/>
          </a:p>
        </p:txBody>
      </p:sp>
      <p:sp>
        <p:nvSpPr>
          <p:cNvPr id="7" name="Text 5"/>
          <p:cNvSpPr/>
          <p:nvPr/>
        </p:nvSpPr>
        <p:spPr>
          <a:xfrm>
            <a:off x="1270000" y="3810000"/>
            <a:ext cx="6096000" cy="444500"/>
          </a:xfrm>
          <a:prstGeom prst="rect">
            <a:avLst/>
          </a:prstGeom>
          <a:noFill/>
          <a:ln/>
        </p:spPr>
        <p:txBody>
          <a:bodyPr wrap="none" lIns="0" tIns="0" rIns="0" bIns="0" rtlCol="0" anchor="ctr"/>
          <a:lstStyle/>
          <a:p>
            <a:pPr>
              <a:lnSpc>
                <a:spcPct val="100000"/>
              </a:lnSpc>
            </a:pPr>
            <a:r>
              <a:rPr lang="en-US" sz="2400" dirty="0">
                <a:solidFill>
                  <a:srgbClr val="1B3A5C"/>
                </a:solidFill>
                <a:latin typeface="Liter" pitchFamily="34" charset="0"/>
                <a:ea typeface="Liter" pitchFamily="34" charset="-122"/>
                <a:cs typeface="Liter" pitchFamily="34" charset="-120"/>
              </a:rPr>
              <a:t>Phân tích và thiết kế hệ thống</a:t>
            </a:r>
            <a:endParaRPr lang="en-US" sz="1600" dirty="0"/>
          </a:p>
        </p:txBody>
      </p:sp>
      <p:sp>
        <p:nvSpPr>
          <p:cNvPr id="8" name="Shape 6"/>
          <p:cNvSpPr/>
          <p:nvPr/>
        </p:nvSpPr>
        <p:spPr>
          <a:xfrm>
            <a:off x="1270000" y="4445000"/>
            <a:ext cx="6096000" cy="12700"/>
          </a:xfrm>
          <a:prstGeom prst="rect">
            <a:avLst/>
          </a:prstGeom>
          <a:solidFill>
            <a:srgbClr val="E2E8F0"/>
          </a:solidFill>
          <a:ln/>
        </p:spPr>
      </p:sp>
      <p:sp>
        <p:nvSpPr>
          <p:cNvPr id="9" name="Text 7"/>
          <p:cNvSpPr/>
          <p:nvPr/>
        </p:nvSpPr>
        <p:spPr>
          <a:xfrm>
            <a:off x="1270000" y="4699000"/>
            <a:ext cx="6096000" cy="2794000"/>
          </a:xfrm>
          <a:prstGeom prst="rect">
            <a:avLst/>
          </a:prstGeom>
          <a:noFill/>
          <a:ln/>
        </p:spPr>
        <p:txBody>
          <a:bodyPr wrap="square" lIns="0" tIns="0" rIns="0" bIns="0" rtlCol="0" anchor="t"/>
          <a:lstStyle/>
          <a:p>
            <a:pPr>
              <a:lnSpc>
                <a:spcPct val="180000"/>
              </a:lnSpc>
            </a:pPr>
            <a:r>
              <a:rPr lang="en-US" sz="1600" dirty="0">
                <a:solidFill>
                  <a:srgbClr val="64748B"/>
                </a:solidFill>
                <a:latin typeface="QuattrocentoSans" pitchFamily="34" charset="0"/>
                <a:ea typeface="QuattrocentoSans" pitchFamily="34" charset="-122"/>
                <a:cs typeface="QuattrocentoSans" pitchFamily="34" charset="-120"/>
              </a:rPr>
              <a:t>• Phân tích bài toán gây quỹ Crowdfunding</a:t>
            </a:r>
            <a:endParaRPr lang="en-US" sz="1800" dirty="0"/>
          </a:p>
          <a:p>
            <a:pPr>
              <a:lnSpc>
                <a:spcPct val="180000"/>
              </a:lnSpc>
            </a:pPr>
            <a:r>
              <a:rPr lang="en-US" sz="1600" dirty="0">
                <a:solidFill>
                  <a:srgbClr val="64748B"/>
                </a:solidFill>
                <a:latin typeface="QuattrocentoSans" pitchFamily="34" charset="0"/>
                <a:ea typeface="QuattrocentoSans" pitchFamily="34" charset="-122"/>
                <a:cs typeface="QuattrocentoSans" pitchFamily="34" charset="-120"/>
              </a:rPr>
              <a:t>• Yêu cầu chức năng và phi chức năng</a:t>
            </a:r>
            <a:endParaRPr lang="en-US" sz="1800" dirty="0"/>
          </a:p>
          <a:p>
            <a:pPr>
              <a:lnSpc>
                <a:spcPct val="180000"/>
              </a:lnSpc>
            </a:pPr>
            <a:r>
              <a:rPr lang="en-US" sz="1600" dirty="0">
                <a:solidFill>
                  <a:srgbClr val="64748B"/>
                </a:solidFill>
                <a:latin typeface="QuattrocentoSans" pitchFamily="34" charset="0"/>
                <a:ea typeface="QuattrocentoSans" pitchFamily="34" charset="-122"/>
                <a:cs typeface="QuattrocentoSans" pitchFamily="34" charset="-120"/>
              </a:rPr>
              <a:t>• Sơ đồ Use Case và đặc tả</a:t>
            </a:r>
            <a:endParaRPr lang="en-US" sz="1800" dirty="0"/>
          </a:p>
          <a:p>
            <a:pPr>
              <a:lnSpc>
                <a:spcPct val="180000"/>
              </a:lnSpc>
            </a:pPr>
            <a:r>
              <a:rPr lang="en-US" sz="1600" dirty="0">
                <a:solidFill>
                  <a:srgbClr val="64748B"/>
                </a:solidFill>
                <a:latin typeface="QuattrocentoSans" pitchFamily="34" charset="0"/>
                <a:ea typeface="QuattrocentoSans" pitchFamily="34" charset="-122"/>
                <a:cs typeface="QuattrocentoSans" pitchFamily="34" charset="-120"/>
              </a:rPr>
              <a:t>• Thiết kế kiến trúc hệ thống 3 lớp</a:t>
            </a:r>
            <a:endParaRPr lang="en-US" sz="1800" dirty="0"/>
          </a:p>
          <a:p>
            <a:pPr>
              <a:lnSpc>
                <a:spcPct val="180000"/>
              </a:lnSpc>
            </a:pPr>
            <a:r>
              <a:rPr lang="en-US" sz="1600" dirty="0">
                <a:solidFill>
                  <a:srgbClr val="64748B"/>
                </a:solidFill>
                <a:latin typeface="QuattrocentoSans" pitchFamily="34" charset="0"/>
                <a:ea typeface="QuattrocentoSans" pitchFamily="34" charset="-122"/>
                <a:cs typeface="QuattrocentoSans" pitchFamily="34" charset="-120"/>
              </a:rPr>
              <a:t>• Thiết kế Smart Contract</a:t>
            </a:r>
            <a:endParaRPr lang="en-US" sz="1800" dirty="0"/>
          </a:p>
          <a:p>
            <a:pPr>
              <a:lnSpc>
                <a:spcPct val="180000"/>
              </a:lnSpc>
            </a:pPr>
            <a:r>
              <a:rPr lang="en-US" sz="1600" dirty="0">
                <a:solidFill>
                  <a:srgbClr val="64748B"/>
                </a:solidFill>
                <a:latin typeface="QuattrocentoSans" pitchFamily="34" charset="0"/>
                <a:ea typeface="QuattrocentoSans" pitchFamily="34" charset="-122"/>
                <a:cs typeface="QuattrocentoSans" pitchFamily="34" charset="-120"/>
              </a:rPr>
              <a:t>• Cấu trúc dữ liệu và xử lý lỗi</a:t>
            </a:r>
            <a:endParaRPr lang="en-US" sz="1800" dirty="0"/>
          </a:p>
        </p:txBody>
      </p:sp>
      <p:sp>
        <p:nvSpPr>
          <p:cNvPr id="10" name="Shape 8"/>
          <p:cNvSpPr/>
          <p:nvPr/>
        </p:nvSpPr>
        <p:spPr>
          <a:xfrm>
            <a:off x="8382000" y="2286000"/>
            <a:ext cx="7112000" cy="5588000"/>
          </a:xfrm>
          <a:prstGeom prst="roundRect">
            <a:avLst>
              <a:gd name="adj" fmla="val 8000"/>
            </a:avLst>
          </a:prstGeom>
          <a:solidFill>
            <a:srgbClr val="FFFFFF"/>
          </a:solidFill>
          <a:ln/>
          <a:effectLst>
            <a:outerShdw blurRad="203200" dist="50800" dir="5400000" algn="bl" rotWithShape="0">
              <a:srgbClr val="000000">
                <a:alpha val="5098"/>
              </a:srgbClr>
            </a:outerShdw>
          </a:effectLst>
        </p:spPr>
      </p:sp>
      <p:sp>
        <p:nvSpPr>
          <p:cNvPr id="11" name="Text 9"/>
          <p:cNvSpPr/>
          <p:nvPr/>
        </p:nvSpPr>
        <p:spPr>
          <a:xfrm>
            <a:off x="8890000" y="2794000"/>
            <a:ext cx="1524000" cy="889000"/>
          </a:xfrm>
          <a:prstGeom prst="rect">
            <a:avLst/>
          </a:prstGeom>
          <a:noFill/>
          <a:ln/>
        </p:spPr>
        <p:txBody>
          <a:bodyPr wrap="none" lIns="0" tIns="0" rIns="0" bIns="0" rtlCol="0" anchor="t"/>
          <a:lstStyle/>
          <a:p>
            <a:pPr>
              <a:lnSpc>
                <a:spcPct val="100000"/>
              </a:lnSpc>
            </a:pPr>
            <a:r>
              <a:rPr lang="en-US" sz="5600" dirty="0">
                <a:solidFill>
                  <a:srgbClr val="3B82F6"/>
                </a:solidFill>
                <a:latin typeface="Liter" pitchFamily="34" charset="0"/>
                <a:ea typeface="Liter" pitchFamily="34" charset="-122"/>
                <a:cs typeface="Liter" pitchFamily="34" charset="-120"/>
              </a:rPr>
              <a:t>02</a:t>
            </a:r>
            <a:endParaRPr lang="en-US" sz="1600" dirty="0"/>
          </a:p>
        </p:txBody>
      </p:sp>
      <p:sp>
        <p:nvSpPr>
          <p:cNvPr id="12" name="Text 10"/>
          <p:cNvSpPr/>
          <p:nvPr/>
        </p:nvSpPr>
        <p:spPr>
          <a:xfrm>
            <a:off x="8890000" y="3810000"/>
            <a:ext cx="6096000" cy="444500"/>
          </a:xfrm>
          <a:prstGeom prst="rect">
            <a:avLst/>
          </a:prstGeom>
          <a:noFill/>
          <a:ln/>
        </p:spPr>
        <p:txBody>
          <a:bodyPr wrap="none" lIns="0" tIns="0" rIns="0" bIns="0" rtlCol="0" anchor="ctr"/>
          <a:lstStyle/>
          <a:p>
            <a:pPr>
              <a:lnSpc>
                <a:spcPct val="100000"/>
              </a:lnSpc>
            </a:pPr>
            <a:r>
              <a:rPr lang="en-US" sz="2400" dirty="0">
                <a:solidFill>
                  <a:srgbClr val="1B3A5C"/>
                </a:solidFill>
                <a:latin typeface="Liter" pitchFamily="34" charset="0"/>
                <a:ea typeface="Liter" pitchFamily="34" charset="-122"/>
                <a:cs typeface="Liter" pitchFamily="34" charset="-120"/>
              </a:rPr>
              <a:t>Xây dựng và triển khai hệ thống</a:t>
            </a:r>
            <a:endParaRPr lang="en-US" sz="1600" dirty="0"/>
          </a:p>
        </p:txBody>
      </p:sp>
      <p:sp>
        <p:nvSpPr>
          <p:cNvPr id="13" name="Shape 11"/>
          <p:cNvSpPr/>
          <p:nvPr/>
        </p:nvSpPr>
        <p:spPr>
          <a:xfrm>
            <a:off x="8890000" y="4445000"/>
            <a:ext cx="6096000" cy="12700"/>
          </a:xfrm>
          <a:prstGeom prst="rect">
            <a:avLst/>
          </a:prstGeom>
          <a:solidFill>
            <a:srgbClr val="E2E8F0"/>
          </a:solidFill>
          <a:ln/>
        </p:spPr>
      </p:sp>
      <p:sp>
        <p:nvSpPr>
          <p:cNvPr id="14" name="Text 12"/>
          <p:cNvSpPr/>
          <p:nvPr/>
        </p:nvSpPr>
        <p:spPr>
          <a:xfrm>
            <a:off x="8890000" y="4699000"/>
            <a:ext cx="6096000" cy="2794000"/>
          </a:xfrm>
          <a:prstGeom prst="rect">
            <a:avLst/>
          </a:prstGeom>
          <a:noFill/>
          <a:ln/>
        </p:spPr>
        <p:txBody>
          <a:bodyPr wrap="square" lIns="0" tIns="0" rIns="0" bIns="0" rtlCol="0" anchor="t"/>
          <a:lstStyle/>
          <a:p>
            <a:pPr>
              <a:lnSpc>
                <a:spcPct val="180000"/>
              </a:lnSpc>
            </a:pPr>
            <a:r>
              <a:rPr lang="en-US" sz="1600" dirty="0">
                <a:solidFill>
                  <a:srgbClr val="64748B"/>
                </a:solidFill>
                <a:latin typeface="QuattrocentoSans" pitchFamily="34" charset="0"/>
                <a:ea typeface="QuattrocentoSans" pitchFamily="34" charset="-122"/>
                <a:cs typeface="QuattrocentoSans" pitchFamily="34" charset="-120"/>
              </a:rPr>
              <a:t>• Giới thiệu công nghệ sử dụng</a:t>
            </a:r>
            <a:endParaRPr lang="en-US" sz="1800" dirty="0"/>
          </a:p>
          <a:p>
            <a:pPr>
              <a:lnSpc>
                <a:spcPct val="180000"/>
              </a:lnSpc>
            </a:pPr>
            <a:r>
              <a:rPr lang="en-US" sz="1600" dirty="0">
                <a:solidFill>
                  <a:srgbClr val="64748B"/>
                </a:solidFill>
                <a:latin typeface="QuattrocentoSans" pitchFamily="34" charset="0"/>
                <a:ea typeface="QuattrocentoSans" pitchFamily="34" charset="-122"/>
                <a:cs typeface="QuattrocentoSans" pitchFamily="34" charset="-120"/>
              </a:rPr>
              <a:t>• Xây dựng Smart Contract bằng Solidity</a:t>
            </a:r>
            <a:endParaRPr lang="en-US" sz="1800" dirty="0"/>
          </a:p>
          <a:p>
            <a:pPr>
              <a:lnSpc>
                <a:spcPct val="180000"/>
              </a:lnSpc>
            </a:pPr>
            <a:r>
              <a:rPr lang="en-US" sz="1600" dirty="0">
                <a:solidFill>
                  <a:srgbClr val="64748B"/>
                </a:solidFill>
                <a:latin typeface="QuattrocentoSans" pitchFamily="34" charset="0"/>
                <a:ea typeface="QuattrocentoSans" pitchFamily="34" charset="-122"/>
                <a:cs typeface="QuattrocentoSans" pitchFamily="34" charset="-120"/>
              </a:rPr>
              <a:t>• Thiết kế hợp đồng Crowdfunding</a:t>
            </a:r>
            <a:endParaRPr lang="en-US" sz="1800" dirty="0"/>
          </a:p>
          <a:p>
            <a:pPr>
              <a:lnSpc>
                <a:spcPct val="180000"/>
              </a:lnSpc>
            </a:pPr>
            <a:r>
              <a:rPr lang="en-US" sz="1600" dirty="0">
                <a:solidFill>
                  <a:srgbClr val="64748B"/>
                </a:solidFill>
                <a:latin typeface="QuattrocentoSans" pitchFamily="34" charset="0"/>
                <a:ea typeface="QuattrocentoSans" pitchFamily="34" charset="-122"/>
                <a:cs typeface="QuattrocentoSans" pitchFamily="34" charset="-120"/>
              </a:rPr>
              <a:t>• Các chức năng chính của Smart Contract</a:t>
            </a:r>
            <a:endParaRPr lang="en-US" sz="1800" dirty="0"/>
          </a:p>
          <a:p>
            <a:pPr>
              <a:lnSpc>
                <a:spcPct val="180000"/>
              </a:lnSpc>
            </a:pPr>
            <a:r>
              <a:rPr lang="en-US" sz="1600" dirty="0">
                <a:solidFill>
                  <a:srgbClr val="64748B"/>
                </a:solidFill>
                <a:latin typeface="QuattrocentoSans" pitchFamily="34" charset="0"/>
                <a:ea typeface="QuattrocentoSans" pitchFamily="34" charset="-122"/>
                <a:cs typeface="QuattrocentoSans" pitchFamily="34" charset="-120"/>
              </a:rPr>
              <a:t>• Triển khai bằng Hardhat</a:t>
            </a:r>
            <a:endParaRPr lang="en-US" sz="1800" dirty="0"/>
          </a:p>
          <a:p>
            <a:pPr>
              <a:lnSpc>
                <a:spcPct val="180000"/>
              </a:lnSpc>
            </a:pPr>
            <a:r>
              <a:rPr lang="en-US" sz="1600" dirty="0">
                <a:solidFill>
                  <a:srgbClr val="64748B"/>
                </a:solidFill>
                <a:latin typeface="QuattrocentoSans" pitchFamily="34" charset="0"/>
                <a:ea typeface="QuattrocentoSans" pitchFamily="34" charset="-122"/>
                <a:cs typeface="QuattrocentoSans" pitchFamily="34" charset="-120"/>
              </a:rPr>
              <a:t>• Xây dựng giao diện ngườii dùng</a:t>
            </a:r>
            <a:endParaRPr lang="en-US" sz="18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8890000" y="0"/>
            <a:ext cx="7366000" cy="9144000"/>
          </a:xfrm>
          <a:prstGeom prst="rect">
            <a:avLst/>
          </a:prstGeom>
          <a:gradFill flip="none" rotWithShape="1">
            <a:gsLst>
              <a:gs pos="0">
                <a:srgbClr val="1B3A5C"/>
              </a:gs>
              <a:gs pos="100000">
                <a:srgbClr val="243B5D"/>
              </a:gs>
            </a:gsLst>
            <a:lin ang="0" scaled="1"/>
          </a:gradFill>
          <a:ln/>
        </p:spPr>
      </p:sp>
      <p:pic>
        <p:nvPicPr>
          <p:cNvPr id="3" name="Image 0" descr="https://kimi-img.moonshot.cn/pub/slides/okc/d5rtvzlfo7tzy/mnt/agents/output/blockchain-crowdfunding/images/1_Abstract_Futuristic_Blockchain_Dark.png"/>
          <p:cNvPicPr>
            <a:picLocks noChangeAspect="1"/>
          </p:cNvPicPr>
          <p:nvPr/>
        </p:nvPicPr>
        <p:blipFill>
          <a:blip r:embed="rId3">
            <a:alphaModFix amt="25000"/>
          </a:blip>
          <a:srcRect l="22957" r="22957"/>
          <a:stretch/>
        </p:blipFill>
        <p:spPr>
          <a:xfrm>
            <a:off x="9144000" y="1270000"/>
            <a:ext cx="6350000" cy="6604000"/>
          </a:xfrm>
          <a:prstGeom prst="roundRect">
            <a:avLst>
              <a:gd name="adj" fmla="val 8000"/>
            </a:avLst>
          </a:prstGeom>
        </p:spPr>
      </p:pic>
      <p:sp>
        <p:nvSpPr>
          <p:cNvPr id="4" name="Text 1"/>
          <p:cNvSpPr/>
          <p:nvPr/>
        </p:nvSpPr>
        <p:spPr>
          <a:xfrm>
            <a:off x="1016000" y="2540000"/>
            <a:ext cx="2540000" cy="355600"/>
          </a:xfrm>
          <a:prstGeom prst="rect">
            <a:avLst/>
          </a:prstGeom>
          <a:noFill/>
          <a:ln/>
        </p:spPr>
        <p:txBody>
          <a:bodyPr wrap="none" lIns="0" tIns="0" rIns="0" bIns="0" rtlCol="0" anchor="ctr"/>
          <a:lstStyle/>
          <a:p>
            <a:pPr>
              <a:lnSpc>
                <a:spcPct val="100000"/>
              </a:lnSpc>
            </a:pPr>
            <a:r>
              <a:rPr lang="vi-VN" sz="1300" kern="0" spc="400" dirty="0">
                <a:solidFill>
                  <a:srgbClr val="FFFFFF">
                    <a:alpha val="50196"/>
                  </a:srgbClr>
                </a:solidFill>
                <a:latin typeface="Liter" pitchFamily="34" charset="0"/>
                <a:ea typeface="Liter" pitchFamily="34" charset="-122"/>
                <a:cs typeface="Liter" pitchFamily="34" charset="-120"/>
              </a:rPr>
              <a:t>01</a:t>
            </a:r>
            <a:endParaRPr lang="en-US" sz="1300" dirty="0"/>
          </a:p>
        </p:txBody>
      </p:sp>
      <p:sp>
        <p:nvSpPr>
          <p:cNvPr id="5" name="Shape 2"/>
          <p:cNvSpPr/>
          <p:nvPr/>
        </p:nvSpPr>
        <p:spPr>
          <a:xfrm>
            <a:off x="1016000" y="3048000"/>
            <a:ext cx="762000" cy="50800"/>
          </a:xfrm>
          <a:prstGeom prst="rect">
            <a:avLst/>
          </a:prstGeom>
          <a:solidFill>
            <a:srgbClr val="3B82F6"/>
          </a:solidFill>
          <a:ln/>
        </p:spPr>
      </p:sp>
      <p:sp>
        <p:nvSpPr>
          <p:cNvPr id="6" name="Text 3"/>
          <p:cNvSpPr/>
          <p:nvPr/>
        </p:nvSpPr>
        <p:spPr>
          <a:xfrm>
            <a:off x="1016000" y="3365500"/>
            <a:ext cx="7366000" cy="1651000"/>
          </a:xfrm>
          <a:prstGeom prst="rect">
            <a:avLst/>
          </a:prstGeom>
          <a:noFill/>
          <a:ln/>
        </p:spPr>
        <p:txBody>
          <a:bodyPr wrap="square" lIns="0" tIns="0" rIns="0" bIns="0" rtlCol="0" anchor="t"/>
          <a:lstStyle/>
          <a:p>
            <a:pPr>
              <a:lnSpc>
                <a:spcPct val="130000"/>
              </a:lnSpc>
            </a:pPr>
            <a:r>
              <a:rPr lang="en-US" sz="4200" dirty="0">
                <a:solidFill>
                  <a:srgbClr val="FFFFFF"/>
                </a:solidFill>
                <a:latin typeface="Liter" pitchFamily="34" charset="0"/>
                <a:ea typeface="Liter" pitchFamily="34" charset="-122"/>
                <a:cs typeface="Liter" pitchFamily="34" charset="-120"/>
              </a:rPr>
              <a:t>Phân tích và</a:t>
            </a:r>
            <a:endParaRPr lang="en-US" sz="4000" dirty="0"/>
          </a:p>
          <a:p>
            <a:pPr>
              <a:lnSpc>
                <a:spcPct val="130000"/>
              </a:lnSpc>
            </a:pPr>
            <a:r>
              <a:rPr lang="en-US" sz="4200" dirty="0">
                <a:solidFill>
                  <a:srgbClr val="FFFFFF"/>
                </a:solidFill>
                <a:latin typeface="Liter" pitchFamily="34" charset="0"/>
                <a:ea typeface="Liter" pitchFamily="34" charset="-122"/>
                <a:cs typeface="Liter" pitchFamily="34" charset="-120"/>
              </a:rPr>
              <a:t>thiết kế hệ thống</a:t>
            </a:r>
            <a:endParaRPr lang="en-US" sz="4000" dirty="0"/>
          </a:p>
        </p:txBody>
      </p:sp>
      <p:sp>
        <p:nvSpPr>
          <p:cNvPr id="7" name="Text 4"/>
          <p:cNvSpPr/>
          <p:nvPr/>
        </p:nvSpPr>
        <p:spPr>
          <a:xfrm>
            <a:off x="1016000" y="5334000"/>
            <a:ext cx="6350000" cy="1016000"/>
          </a:xfrm>
          <a:prstGeom prst="rect">
            <a:avLst/>
          </a:prstGeom>
          <a:noFill/>
          <a:ln/>
        </p:spPr>
        <p:txBody>
          <a:bodyPr wrap="square" lIns="0" tIns="0" rIns="0" bIns="0" rtlCol="0" anchor="t"/>
          <a:lstStyle/>
          <a:p>
            <a:pPr>
              <a:lnSpc>
                <a:spcPct val="160000"/>
              </a:lnSpc>
            </a:pPr>
            <a:r>
              <a:rPr lang="en-US" sz="1800" dirty="0">
                <a:solidFill>
                  <a:srgbClr val="FFFFFF">
                    <a:alpha val="66667"/>
                  </a:srgbClr>
                </a:solidFill>
                <a:latin typeface="Quattrocento Sans" pitchFamily="34" charset="0"/>
                <a:ea typeface="Quattrocento Sans" pitchFamily="34" charset="-122"/>
                <a:cs typeface="Quattrocento Sans" pitchFamily="34" charset="-120"/>
              </a:rPr>
              <a:t>Phân tích bài toán, yêu cầu hệ thống,</a:t>
            </a:r>
            <a:endParaRPr lang="en-US" sz="1600" dirty="0"/>
          </a:p>
          <a:p>
            <a:pPr>
              <a:lnSpc>
                <a:spcPct val="160000"/>
              </a:lnSpc>
            </a:pPr>
            <a:r>
              <a:rPr lang="en-US" sz="1800" dirty="0">
                <a:solidFill>
                  <a:srgbClr val="FFFFFF">
                    <a:alpha val="66667"/>
                  </a:srgbClr>
                </a:solidFill>
                <a:latin typeface="Quattrocento Sans" pitchFamily="34" charset="0"/>
                <a:ea typeface="Quattrocento Sans" pitchFamily="34" charset="-122"/>
                <a:cs typeface="Quattrocento Sans" pitchFamily="34" charset="-120"/>
              </a:rPr>
              <a:t>thiết kế kiến trúc và Smart Contract</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B3A5C"/>
          </a:solidFill>
          <a:ln/>
        </p:spPr>
      </p:sp>
      <p:sp>
        <p:nvSpPr>
          <p:cNvPr id="3" name="Text 1"/>
          <p:cNvSpPr/>
          <p:nvPr/>
        </p:nvSpPr>
        <p:spPr>
          <a:xfrm>
            <a:off x="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FFFFFF"/>
                </a:solidFill>
                <a:latin typeface="Liter" pitchFamily="34" charset="0"/>
                <a:ea typeface="Liter" pitchFamily="34" charset="-122"/>
                <a:cs typeface="Liter" pitchFamily="34" charset="-120"/>
              </a:rPr>
              <a:t>PHÂN TÍCH VÀ THIẾT KẾ</a:t>
            </a:r>
            <a:endParaRPr lang="en-US" sz="1300" dirty="0"/>
          </a:p>
        </p:txBody>
      </p:sp>
      <p:sp>
        <p:nvSpPr>
          <p:cNvPr id="4" name="Text 2"/>
          <p:cNvSpPr/>
          <p:nvPr/>
        </p:nvSpPr>
        <p:spPr>
          <a:xfrm>
            <a:off x="812800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94A3B8"/>
                </a:solidFill>
                <a:latin typeface="Liter" pitchFamily="34" charset="0"/>
                <a:ea typeface="Liter" pitchFamily="34" charset="-122"/>
                <a:cs typeface="Liter" pitchFamily="34" charset="-120"/>
              </a:rPr>
              <a:t>XÂY DỰNG VÀ TRIỂN KHAI</a:t>
            </a:r>
            <a:endParaRPr lang="en-US" sz="1300" dirty="0"/>
          </a:p>
        </p:txBody>
      </p:sp>
      <p:sp>
        <p:nvSpPr>
          <p:cNvPr id="5" name="Shape 3"/>
          <p:cNvSpPr/>
          <p:nvPr/>
        </p:nvSpPr>
        <p:spPr>
          <a:xfrm>
            <a:off x="0" y="558800"/>
            <a:ext cx="8128000" cy="50800"/>
          </a:xfrm>
          <a:prstGeom prst="rect">
            <a:avLst/>
          </a:prstGeom>
          <a:solidFill>
            <a:srgbClr val="3B82F6"/>
          </a:solidFill>
          <a:ln/>
        </p:spPr>
      </p:sp>
      <p:sp>
        <p:nvSpPr>
          <p:cNvPr id="6" name="Shape 4"/>
          <p:cNvSpPr/>
          <p:nvPr/>
        </p:nvSpPr>
        <p:spPr>
          <a:xfrm>
            <a:off x="762000" y="863600"/>
            <a:ext cx="63500" cy="406400"/>
          </a:xfrm>
          <a:prstGeom prst="rect">
            <a:avLst/>
          </a:prstGeom>
          <a:solidFill>
            <a:srgbClr val="3B82F6"/>
          </a:solidFill>
          <a:ln/>
        </p:spPr>
      </p:sp>
      <p:sp>
        <p:nvSpPr>
          <p:cNvPr id="7" name="Text 5"/>
          <p:cNvSpPr/>
          <p:nvPr/>
        </p:nvSpPr>
        <p:spPr>
          <a:xfrm>
            <a:off x="990600" y="825500"/>
            <a:ext cx="8890000" cy="482600"/>
          </a:xfrm>
          <a:prstGeom prst="rect">
            <a:avLst/>
          </a:prstGeom>
          <a:noFill/>
          <a:ln/>
        </p:spPr>
        <p:txBody>
          <a:bodyPr wrap="none" lIns="0" tIns="0" rIns="0" bIns="0" rtlCol="0" anchor="ctr"/>
          <a:lstStyle/>
          <a:p>
            <a:pPr>
              <a:lnSpc>
                <a:spcPct val="130000"/>
              </a:lnSpc>
            </a:pPr>
            <a:r>
              <a:rPr lang="en-US" sz="2800" dirty="0">
                <a:solidFill>
                  <a:srgbClr val="1B3A5C"/>
                </a:solidFill>
                <a:latin typeface="Liter" pitchFamily="34" charset="0"/>
                <a:ea typeface="Liter" pitchFamily="34" charset="-122"/>
                <a:cs typeface="Liter" pitchFamily="34" charset="-120"/>
              </a:rPr>
              <a:t>2.1 Phân tích bài toán</a:t>
            </a:r>
            <a:endParaRPr lang="en-US" sz="2800" dirty="0"/>
          </a:p>
        </p:txBody>
      </p:sp>
      <p:sp>
        <p:nvSpPr>
          <p:cNvPr id="8" name="Shape 6"/>
          <p:cNvSpPr/>
          <p:nvPr/>
        </p:nvSpPr>
        <p:spPr>
          <a:xfrm>
            <a:off x="762000" y="1524000"/>
            <a:ext cx="7112000" cy="3556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9" name="Text 7"/>
          <p:cNvSpPr/>
          <p:nvPr/>
        </p:nvSpPr>
        <p:spPr>
          <a:xfrm>
            <a:off x="1079500" y="1714500"/>
            <a:ext cx="6477000" cy="381000"/>
          </a:xfrm>
          <a:prstGeom prst="rect">
            <a:avLst/>
          </a:prstGeom>
          <a:noFill/>
          <a:ln/>
        </p:spPr>
        <p:txBody>
          <a:bodyPr wrap="none" lIns="0" tIns="0" rIns="0" bIns="0" rtlCol="0" anchor="ctr"/>
          <a:lstStyle/>
          <a:p>
            <a:pPr>
              <a:lnSpc>
                <a:spcPct val="100000"/>
              </a:lnSpc>
            </a:pPr>
            <a:r>
              <a:rPr lang="en-US" sz="2000" b="1" dirty="0">
                <a:solidFill>
                  <a:srgbClr val="1B3A5C"/>
                </a:solidFill>
                <a:latin typeface="Liter" pitchFamily="34" charset="0"/>
                <a:ea typeface="Liter" pitchFamily="34" charset="-122"/>
                <a:cs typeface="Liter" pitchFamily="34" charset="-120"/>
              </a:rPr>
              <a:t>Vấn đề của nền tảng truyền thống</a:t>
            </a:r>
            <a:endParaRPr lang="en-US" sz="1600" dirty="0"/>
          </a:p>
        </p:txBody>
      </p:sp>
      <p:sp>
        <p:nvSpPr>
          <p:cNvPr id="10" name="Text 8"/>
          <p:cNvSpPr/>
          <p:nvPr/>
        </p:nvSpPr>
        <p:spPr>
          <a:xfrm>
            <a:off x="1079500" y="2184400"/>
            <a:ext cx="6477000" cy="2730500"/>
          </a:xfrm>
          <a:prstGeom prst="rect">
            <a:avLst/>
          </a:prstGeom>
          <a:noFill/>
          <a:ln/>
        </p:spPr>
        <p:txBody>
          <a:bodyPr wrap="square" lIns="0" tIns="0" rIns="0" bIns="0" rtlCol="0" anchor="t"/>
          <a:lstStyle/>
          <a:p>
            <a:pPr>
              <a:lnSpc>
                <a:spcPct val="170000"/>
              </a:lnSpc>
            </a:pPr>
            <a:r>
              <a:rPr lang="en-US" sz="1600" dirty="0">
                <a:solidFill>
                  <a:srgbClr val="1E293B"/>
                </a:solidFill>
                <a:latin typeface="QuattrocentoSans" pitchFamily="34" charset="0"/>
                <a:ea typeface="QuattrocentoSans" pitchFamily="34" charset="-122"/>
                <a:cs typeface="QuattrocentoSans" pitchFamily="34" charset="-120"/>
              </a:rPr>
              <a:t>• Phụ thuộc vào bên trung gian</a:t>
            </a:r>
            <a:endParaRPr lang="en-US" sz="1800" dirty="0"/>
          </a:p>
          <a:p>
            <a:pPr>
              <a:lnSpc>
                <a:spcPct val="170000"/>
              </a:lnSpc>
            </a:pPr>
            <a:r>
              <a:rPr lang="en-US" sz="1600" dirty="0">
                <a:solidFill>
                  <a:srgbClr val="1E293B"/>
                </a:solidFill>
                <a:latin typeface="QuattrocentoSans" pitchFamily="34" charset="0"/>
                <a:ea typeface="QuattrocentoSans" pitchFamily="34" charset="-122"/>
                <a:cs typeface="QuattrocentoSans" pitchFamily="34" charset="-120"/>
              </a:rPr>
              <a:t>• Thiếu minh bạch trong quản lý dòng tiền</a:t>
            </a:r>
            <a:endParaRPr lang="en-US" sz="1800" dirty="0"/>
          </a:p>
          <a:p>
            <a:pPr>
              <a:lnSpc>
                <a:spcPct val="170000"/>
              </a:lnSpc>
            </a:pPr>
            <a:r>
              <a:rPr lang="en-US" sz="1600" dirty="0">
                <a:solidFill>
                  <a:srgbClr val="1E293B"/>
                </a:solidFill>
                <a:latin typeface="QuattrocentoSans" pitchFamily="34" charset="0"/>
                <a:ea typeface="QuattrocentoSans" pitchFamily="34" charset="-122"/>
                <a:cs typeface="QuattrocentoSans" pitchFamily="34" charset="-120"/>
              </a:rPr>
              <a:t>• Tiềm ẩn nguy cơ gian lận</a:t>
            </a:r>
            <a:endParaRPr lang="en-US" sz="1800" dirty="0"/>
          </a:p>
          <a:p>
            <a:pPr>
              <a:lnSpc>
                <a:spcPct val="170000"/>
              </a:lnSpc>
            </a:pPr>
            <a:r>
              <a:rPr lang="en-US" sz="1600" dirty="0">
                <a:solidFill>
                  <a:srgbClr val="1E293B"/>
                </a:solidFill>
                <a:latin typeface="QuattrocentoSans" pitchFamily="34" charset="0"/>
                <a:ea typeface="QuattrocentoSans" pitchFamily="34" charset="-122"/>
                <a:cs typeface="QuattrocentoSans" pitchFamily="34" charset="-120"/>
              </a:rPr>
              <a:t>• </a:t>
            </a:r>
            <a:r>
              <a:rPr lang="en-US" sz="1600" dirty="0" err="1">
                <a:solidFill>
                  <a:srgbClr val="1E293B"/>
                </a:solidFill>
                <a:latin typeface="QuattrocentoSans" pitchFamily="34" charset="0"/>
                <a:ea typeface="QuattrocentoSans" pitchFamily="34" charset="-122"/>
                <a:cs typeface="QuattrocentoSans" pitchFamily="34" charset="-120"/>
              </a:rPr>
              <a:t>Người</a:t>
            </a:r>
            <a:r>
              <a:rPr lang="en-US" sz="1600" dirty="0">
                <a:solidFill>
                  <a:srgbClr val="1E293B"/>
                </a:solidFill>
                <a:latin typeface="QuattrocentoSans" pitchFamily="34" charset="0"/>
                <a:ea typeface="QuattrocentoSans" pitchFamily="34" charset="-122"/>
                <a:cs typeface="QuattrocentoSans" pitchFamily="34" charset="-120"/>
              </a:rPr>
              <a:t> đóng góp không kiểm chứng được việc sử dụng vốn</a:t>
            </a:r>
            <a:endParaRPr lang="en-US" sz="1800" dirty="0"/>
          </a:p>
          <a:p>
            <a:pPr>
              <a:lnSpc>
                <a:spcPct val="170000"/>
              </a:lnSpc>
            </a:pPr>
            <a:r>
              <a:rPr lang="en-US" sz="1600" dirty="0">
                <a:solidFill>
                  <a:srgbClr val="1E293B"/>
                </a:solidFill>
                <a:latin typeface="QuattrocentoSans" pitchFamily="34" charset="0"/>
                <a:ea typeface="QuattrocentoSans" pitchFamily="34" charset="-122"/>
                <a:cs typeface="QuattrocentoSans" pitchFamily="34" charset="-120"/>
              </a:rPr>
              <a:t>• Chi phí trung gian cao, quy trình thủ công</a:t>
            </a:r>
            <a:endParaRPr lang="en-US" sz="1800" dirty="0"/>
          </a:p>
        </p:txBody>
      </p:sp>
      <p:sp>
        <p:nvSpPr>
          <p:cNvPr id="11" name="Shape 9"/>
          <p:cNvSpPr/>
          <p:nvPr/>
        </p:nvSpPr>
        <p:spPr>
          <a:xfrm>
            <a:off x="8382000" y="1524000"/>
            <a:ext cx="7112000" cy="3556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12" name="Text 10"/>
          <p:cNvSpPr/>
          <p:nvPr/>
        </p:nvSpPr>
        <p:spPr>
          <a:xfrm>
            <a:off x="8699500" y="1714500"/>
            <a:ext cx="6477000" cy="381000"/>
          </a:xfrm>
          <a:prstGeom prst="rect">
            <a:avLst/>
          </a:prstGeom>
          <a:noFill/>
          <a:ln/>
        </p:spPr>
        <p:txBody>
          <a:bodyPr wrap="none" lIns="0" tIns="0" rIns="0" bIns="0" rtlCol="0" anchor="ctr"/>
          <a:lstStyle/>
          <a:p>
            <a:pPr>
              <a:lnSpc>
                <a:spcPct val="100000"/>
              </a:lnSpc>
            </a:pPr>
            <a:r>
              <a:rPr lang="en-US" sz="2000" b="1" dirty="0">
                <a:solidFill>
                  <a:srgbClr val="1B3A5C"/>
                </a:solidFill>
                <a:latin typeface="Liter" pitchFamily="34" charset="0"/>
                <a:ea typeface="Liter" pitchFamily="34" charset="-122"/>
                <a:cs typeface="Liter" pitchFamily="34" charset="-120"/>
              </a:rPr>
              <a:t>Giải pháp Blockchain + Smart Contract</a:t>
            </a:r>
            <a:endParaRPr lang="en-US" sz="1600" dirty="0"/>
          </a:p>
        </p:txBody>
      </p:sp>
      <p:sp>
        <p:nvSpPr>
          <p:cNvPr id="13" name="Text 11"/>
          <p:cNvSpPr/>
          <p:nvPr/>
        </p:nvSpPr>
        <p:spPr>
          <a:xfrm>
            <a:off x="8699500" y="2184400"/>
            <a:ext cx="6477000" cy="2730500"/>
          </a:xfrm>
          <a:prstGeom prst="rect">
            <a:avLst/>
          </a:prstGeom>
          <a:noFill/>
          <a:ln/>
        </p:spPr>
        <p:txBody>
          <a:bodyPr wrap="square" lIns="0" tIns="0" rIns="0" bIns="0" rtlCol="0" anchor="t"/>
          <a:lstStyle/>
          <a:p>
            <a:pPr>
              <a:lnSpc>
                <a:spcPct val="170000"/>
              </a:lnSpc>
            </a:pPr>
            <a:r>
              <a:rPr lang="en-US" sz="1600" dirty="0">
                <a:solidFill>
                  <a:srgbClr val="1E293B"/>
                </a:solidFill>
                <a:latin typeface="QuattrocentoSans" pitchFamily="34" charset="0"/>
                <a:ea typeface="QuattrocentoSans" pitchFamily="34" charset="-122"/>
                <a:cs typeface="QuattrocentoSans" pitchFamily="34" charset="-120"/>
              </a:rPr>
              <a:t>• Lưu trữ dữ liệu minh bạch, không thể thay đổi</a:t>
            </a:r>
            <a:endParaRPr lang="en-US" sz="1800" dirty="0"/>
          </a:p>
          <a:p>
            <a:pPr>
              <a:lnSpc>
                <a:spcPct val="170000"/>
              </a:lnSpc>
            </a:pPr>
            <a:r>
              <a:rPr lang="en-US" sz="1600" dirty="0">
                <a:solidFill>
                  <a:srgbClr val="1E293B"/>
                </a:solidFill>
                <a:latin typeface="QuattrocentoSans" pitchFamily="34" charset="0"/>
                <a:ea typeface="QuattrocentoSans" pitchFamily="34" charset="-122"/>
                <a:cs typeface="QuattrocentoSans" pitchFamily="34" charset="-120"/>
              </a:rPr>
              <a:t>• Smart Contract tự động hóa điều kiện giao dịch</a:t>
            </a:r>
            <a:endParaRPr lang="en-US" sz="1800" dirty="0"/>
          </a:p>
          <a:p>
            <a:pPr>
              <a:lnSpc>
                <a:spcPct val="170000"/>
              </a:lnSpc>
            </a:pPr>
            <a:r>
              <a:rPr lang="en-US" sz="1600" dirty="0">
                <a:solidFill>
                  <a:srgbClr val="1E293B"/>
                </a:solidFill>
                <a:latin typeface="QuattrocentoSans" pitchFamily="34" charset="0"/>
                <a:ea typeface="QuattrocentoSans" pitchFamily="34" charset="-122"/>
                <a:cs typeface="QuattrocentoSans" pitchFamily="34" charset="-120"/>
              </a:rPr>
              <a:t>• Nhận tiền, kiểm tra mục tiêu, hoàn tiền tự động</a:t>
            </a:r>
            <a:endParaRPr lang="en-US" sz="1800" dirty="0"/>
          </a:p>
          <a:p>
            <a:pPr>
              <a:lnSpc>
                <a:spcPct val="170000"/>
              </a:lnSpc>
            </a:pPr>
            <a:r>
              <a:rPr lang="en-US" sz="1600" dirty="0">
                <a:solidFill>
                  <a:srgbClr val="1E293B"/>
                </a:solidFill>
                <a:latin typeface="QuattrocentoSans" pitchFamily="34" charset="0"/>
                <a:ea typeface="QuattrocentoSans" pitchFamily="34" charset="-122"/>
                <a:cs typeface="QuattrocentoSans" pitchFamily="34" charset="-120"/>
              </a:rPr>
              <a:t>• Loại bỏ trung gian, giảm rủi ro</a:t>
            </a:r>
            <a:endParaRPr lang="en-US" sz="1800" dirty="0"/>
          </a:p>
          <a:p>
            <a:pPr>
              <a:lnSpc>
                <a:spcPct val="170000"/>
              </a:lnSpc>
            </a:pPr>
            <a:r>
              <a:rPr lang="en-US" sz="1600" dirty="0">
                <a:solidFill>
                  <a:srgbClr val="1E293B"/>
                </a:solidFill>
                <a:latin typeface="QuattrocentoSans" pitchFamily="34" charset="0"/>
                <a:ea typeface="QuattrocentoSans" pitchFamily="34" charset="-122"/>
                <a:cs typeface="QuattrocentoSans" pitchFamily="34" charset="-120"/>
              </a:rPr>
              <a:t>• Tăng tính minh bạch và hiệu quả</a:t>
            </a:r>
            <a:endParaRPr lang="en-US" sz="1800" dirty="0"/>
          </a:p>
        </p:txBody>
      </p:sp>
      <p:sp>
        <p:nvSpPr>
          <p:cNvPr id="14" name="Shape 12"/>
          <p:cNvSpPr/>
          <p:nvPr/>
        </p:nvSpPr>
        <p:spPr>
          <a:xfrm>
            <a:off x="762000" y="5397500"/>
            <a:ext cx="14732000" cy="1270000"/>
          </a:xfrm>
          <a:prstGeom prst="roundRect">
            <a:avLst>
              <a:gd name="adj" fmla="val 6000"/>
            </a:avLst>
          </a:prstGeom>
          <a:solidFill>
            <a:srgbClr val="1B3A5C">
              <a:alpha val="5098"/>
            </a:srgbClr>
          </a:solidFill>
          <a:ln w="12700">
            <a:solidFill>
              <a:srgbClr val="1B3A5C">
                <a:alpha val="12549"/>
              </a:srgbClr>
            </a:solidFill>
            <a:prstDash val="solid"/>
          </a:ln>
        </p:spPr>
      </p:sp>
      <p:sp>
        <p:nvSpPr>
          <p:cNvPr id="15" name="Shape 13"/>
          <p:cNvSpPr/>
          <p:nvPr/>
        </p:nvSpPr>
        <p:spPr>
          <a:xfrm>
            <a:off x="1079500" y="5715000"/>
            <a:ext cx="457200" cy="457200"/>
          </a:xfrm>
          <a:custGeom>
            <a:avLst/>
            <a:gdLst/>
            <a:ahLst/>
            <a:cxnLst/>
            <a:rect l="l" t="t" r="r" b="b"/>
            <a:pathLst>
              <a:path w="457200" h="457200">
                <a:moveTo>
                  <a:pt x="400050" y="228600"/>
                </a:moveTo>
                <a:cubicBezTo>
                  <a:pt x="400050" y="133974"/>
                  <a:pt x="323226" y="57150"/>
                  <a:pt x="228600" y="57150"/>
                </a:cubicBezTo>
                <a:cubicBezTo>
                  <a:pt x="133974" y="57150"/>
                  <a:pt x="57150" y="133974"/>
                  <a:pt x="57150" y="228600"/>
                </a:cubicBezTo>
                <a:cubicBezTo>
                  <a:pt x="57150" y="323226"/>
                  <a:pt x="133974" y="400050"/>
                  <a:pt x="228600" y="400050"/>
                </a:cubicBezTo>
                <a:cubicBezTo>
                  <a:pt x="323226" y="400050"/>
                  <a:pt x="400050" y="323226"/>
                  <a:pt x="400050" y="228600"/>
                </a:cubicBezTo>
                <a:close/>
                <a:moveTo>
                  <a:pt x="0" y="228600"/>
                </a:moveTo>
                <a:cubicBezTo>
                  <a:pt x="0" y="102432"/>
                  <a:pt x="102432" y="0"/>
                  <a:pt x="228600" y="0"/>
                </a:cubicBezTo>
                <a:cubicBezTo>
                  <a:pt x="354768" y="0"/>
                  <a:pt x="457200" y="102432"/>
                  <a:pt x="457200" y="228600"/>
                </a:cubicBezTo>
                <a:cubicBezTo>
                  <a:pt x="457200" y="354768"/>
                  <a:pt x="354768" y="457200"/>
                  <a:pt x="228600" y="457200"/>
                </a:cubicBezTo>
                <a:cubicBezTo>
                  <a:pt x="102432" y="457200"/>
                  <a:pt x="0" y="354768"/>
                  <a:pt x="0" y="228600"/>
                </a:cubicBezTo>
                <a:close/>
                <a:moveTo>
                  <a:pt x="228600" y="300038"/>
                </a:moveTo>
                <a:cubicBezTo>
                  <a:pt x="268027" y="300038"/>
                  <a:pt x="300038" y="268027"/>
                  <a:pt x="300038" y="228600"/>
                </a:cubicBezTo>
                <a:cubicBezTo>
                  <a:pt x="300038" y="189173"/>
                  <a:pt x="268027" y="157163"/>
                  <a:pt x="228600" y="157163"/>
                </a:cubicBezTo>
                <a:cubicBezTo>
                  <a:pt x="189173" y="157163"/>
                  <a:pt x="157163" y="189173"/>
                  <a:pt x="157163" y="228600"/>
                </a:cubicBezTo>
                <a:cubicBezTo>
                  <a:pt x="157163" y="268027"/>
                  <a:pt x="189173" y="300038"/>
                  <a:pt x="228600" y="300038"/>
                </a:cubicBezTo>
                <a:close/>
                <a:moveTo>
                  <a:pt x="228600" y="100013"/>
                </a:moveTo>
                <a:cubicBezTo>
                  <a:pt x="299569" y="100013"/>
                  <a:pt x="357188" y="157631"/>
                  <a:pt x="357188" y="228600"/>
                </a:cubicBezTo>
                <a:cubicBezTo>
                  <a:pt x="357188" y="299569"/>
                  <a:pt x="299569" y="357188"/>
                  <a:pt x="228600" y="357188"/>
                </a:cubicBezTo>
                <a:cubicBezTo>
                  <a:pt x="157631" y="357188"/>
                  <a:pt x="100013" y="299569"/>
                  <a:pt x="100013" y="228600"/>
                </a:cubicBezTo>
                <a:cubicBezTo>
                  <a:pt x="100013" y="157631"/>
                  <a:pt x="157631" y="100013"/>
                  <a:pt x="228600" y="100013"/>
                </a:cubicBezTo>
                <a:close/>
                <a:moveTo>
                  <a:pt x="200025" y="228600"/>
                </a:moveTo>
                <a:cubicBezTo>
                  <a:pt x="200025" y="212829"/>
                  <a:pt x="212829" y="200025"/>
                  <a:pt x="228600" y="200025"/>
                </a:cubicBezTo>
                <a:cubicBezTo>
                  <a:pt x="244371" y="200025"/>
                  <a:pt x="257175" y="212829"/>
                  <a:pt x="257175" y="228600"/>
                </a:cubicBezTo>
                <a:cubicBezTo>
                  <a:pt x="257175" y="244371"/>
                  <a:pt x="244371" y="257175"/>
                  <a:pt x="228600" y="257175"/>
                </a:cubicBezTo>
                <a:cubicBezTo>
                  <a:pt x="212829" y="257175"/>
                  <a:pt x="200025" y="244371"/>
                  <a:pt x="200025" y="228600"/>
                </a:cubicBezTo>
                <a:close/>
              </a:path>
            </a:pathLst>
          </a:custGeom>
          <a:solidFill>
            <a:srgbClr val="3B82F6"/>
          </a:solidFill>
          <a:ln/>
        </p:spPr>
      </p:sp>
      <p:sp>
        <p:nvSpPr>
          <p:cNvPr id="16" name="Text 14"/>
          <p:cNvSpPr/>
          <p:nvPr/>
        </p:nvSpPr>
        <p:spPr>
          <a:xfrm>
            <a:off x="1714500" y="5588000"/>
            <a:ext cx="13462000" cy="889000"/>
          </a:xfrm>
          <a:prstGeom prst="rect">
            <a:avLst/>
          </a:prstGeom>
          <a:noFill/>
          <a:ln/>
        </p:spPr>
        <p:txBody>
          <a:bodyPr wrap="square" lIns="0" tIns="0" rIns="0" bIns="0" rtlCol="0" anchor="ctr"/>
          <a:lstStyle/>
          <a:p>
            <a:pPr>
              <a:lnSpc>
                <a:spcPct val="150000"/>
              </a:lnSpc>
            </a:pPr>
            <a:r>
              <a:rPr lang="en-US" sz="1800" b="1" dirty="0">
                <a:solidFill>
                  <a:srgbClr val="1E293B"/>
                </a:solidFill>
                <a:latin typeface="QuattrocentoSans" pitchFamily="34" charset="0"/>
                <a:ea typeface="QuattrocentoSans" pitchFamily="34" charset="-122"/>
                <a:cs typeface="QuattrocentoSans" pitchFamily="34" charset="-120"/>
              </a:rPr>
              <a:t>Kết luận:</a:t>
            </a:r>
            <a:r>
              <a:rPr lang="en-US" sz="1800" dirty="0">
                <a:solidFill>
                  <a:srgbClr val="1E293B"/>
                </a:solidFill>
                <a:latin typeface="QuattrocentoSans" pitchFamily="34" charset="0"/>
                <a:ea typeface="QuattrocentoSans" pitchFamily="34" charset="-122"/>
                <a:cs typeface="QuattrocentoSans" pitchFamily="34" charset="-120"/>
              </a:rPr>
              <a:t> Xây dựng hệ thống DApp gây quỹ là giải pháp phù hợp nhằm nâng cao tính minh bạch, giảm thiểu rủi ro và loại bỏ sự phụ thuộc vào bên trung gian.</a:t>
            </a:r>
            <a:endParaRPr lang="en-US" sz="1800" dirty="0"/>
          </a:p>
        </p:txBody>
      </p:sp>
      <p:sp>
        <p:nvSpPr>
          <p:cNvPr id="17" name="Text 15"/>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400" dirty="0">
                <a:solidFill>
                  <a:srgbClr val="64748B"/>
                </a:solidFill>
                <a:latin typeface="QuattrocentoSans" pitchFamily="34" charset="0"/>
                <a:ea typeface="QuattrocentoSans" pitchFamily="34" charset="-122"/>
                <a:cs typeface="QuattrocentoSans" pitchFamily="34" charset="-120"/>
              </a:rPr>
              <a:t>04</a:t>
            </a:r>
            <a:endParaRPr lang="en-US" sz="14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B3A5C"/>
          </a:solidFill>
          <a:ln/>
        </p:spPr>
      </p:sp>
      <p:sp>
        <p:nvSpPr>
          <p:cNvPr id="3" name="Text 1"/>
          <p:cNvSpPr/>
          <p:nvPr/>
        </p:nvSpPr>
        <p:spPr>
          <a:xfrm>
            <a:off x="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FFFFFF"/>
                </a:solidFill>
                <a:latin typeface="Liter" pitchFamily="34" charset="0"/>
                <a:ea typeface="Liter" pitchFamily="34" charset="-122"/>
                <a:cs typeface="Liter" pitchFamily="34" charset="-120"/>
              </a:rPr>
              <a:t>PHÂN TÍCH VÀ THIẾT KẾ</a:t>
            </a:r>
            <a:endParaRPr lang="en-US" sz="1300" dirty="0"/>
          </a:p>
        </p:txBody>
      </p:sp>
      <p:sp>
        <p:nvSpPr>
          <p:cNvPr id="4" name="Text 2"/>
          <p:cNvSpPr/>
          <p:nvPr/>
        </p:nvSpPr>
        <p:spPr>
          <a:xfrm>
            <a:off x="812800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94A3B8"/>
                </a:solidFill>
                <a:latin typeface="Liter" pitchFamily="34" charset="0"/>
                <a:ea typeface="Liter" pitchFamily="34" charset="-122"/>
                <a:cs typeface="Liter" pitchFamily="34" charset="-120"/>
              </a:rPr>
              <a:t>XÂY DỰNG VÀ TRIỂN KHAI</a:t>
            </a:r>
            <a:endParaRPr lang="en-US" sz="1300" dirty="0"/>
          </a:p>
        </p:txBody>
      </p:sp>
      <p:sp>
        <p:nvSpPr>
          <p:cNvPr id="5" name="Shape 3"/>
          <p:cNvSpPr/>
          <p:nvPr/>
        </p:nvSpPr>
        <p:spPr>
          <a:xfrm>
            <a:off x="0" y="558800"/>
            <a:ext cx="8128000" cy="50800"/>
          </a:xfrm>
          <a:prstGeom prst="rect">
            <a:avLst/>
          </a:prstGeom>
          <a:solidFill>
            <a:srgbClr val="3B82F6"/>
          </a:solidFill>
          <a:ln/>
        </p:spPr>
      </p:sp>
      <p:sp>
        <p:nvSpPr>
          <p:cNvPr id="6" name="Shape 4"/>
          <p:cNvSpPr/>
          <p:nvPr/>
        </p:nvSpPr>
        <p:spPr>
          <a:xfrm>
            <a:off x="762000" y="863600"/>
            <a:ext cx="63500" cy="406400"/>
          </a:xfrm>
          <a:prstGeom prst="rect">
            <a:avLst/>
          </a:prstGeom>
          <a:solidFill>
            <a:srgbClr val="3B82F6"/>
          </a:solidFill>
          <a:ln/>
        </p:spPr>
      </p:sp>
      <p:sp>
        <p:nvSpPr>
          <p:cNvPr id="7" name="Text 5"/>
          <p:cNvSpPr/>
          <p:nvPr/>
        </p:nvSpPr>
        <p:spPr>
          <a:xfrm>
            <a:off x="990600" y="825500"/>
            <a:ext cx="10160000" cy="482600"/>
          </a:xfrm>
          <a:prstGeom prst="rect">
            <a:avLst/>
          </a:prstGeom>
          <a:noFill/>
          <a:ln/>
        </p:spPr>
        <p:txBody>
          <a:bodyPr wrap="none" lIns="0" tIns="0" rIns="0" bIns="0" rtlCol="0" anchor="ctr"/>
          <a:lstStyle/>
          <a:p>
            <a:pPr>
              <a:lnSpc>
                <a:spcPct val="130000"/>
              </a:lnSpc>
            </a:pPr>
            <a:r>
              <a:rPr lang="en-US" sz="2800" dirty="0">
                <a:solidFill>
                  <a:srgbClr val="1B3A5C"/>
                </a:solidFill>
                <a:latin typeface="Liter" pitchFamily="34" charset="0"/>
                <a:ea typeface="Liter" pitchFamily="34" charset="-122"/>
                <a:cs typeface="Liter" pitchFamily="34" charset="-120"/>
              </a:rPr>
              <a:t>2.2.1 Yêu cầu chức năng (1)</a:t>
            </a:r>
            <a:endParaRPr lang="en-US" sz="2800" dirty="0"/>
          </a:p>
        </p:txBody>
      </p:sp>
      <p:sp>
        <p:nvSpPr>
          <p:cNvPr id="8" name="Shape 6"/>
          <p:cNvSpPr/>
          <p:nvPr/>
        </p:nvSpPr>
        <p:spPr>
          <a:xfrm>
            <a:off x="762000" y="1524000"/>
            <a:ext cx="7112000" cy="6731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9" name="Shape 7"/>
          <p:cNvSpPr/>
          <p:nvPr/>
        </p:nvSpPr>
        <p:spPr>
          <a:xfrm>
            <a:off x="1079500" y="1778000"/>
            <a:ext cx="406400" cy="406400"/>
          </a:xfrm>
          <a:custGeom>
            <a:avLst/>
            <a:gdLst/>
            <a:ahLst/>
            <a:cxnLst/>
            <a:rect l="l" t="t" r="r" b="b"/>
            <a:pathLst>
              <a:path w="406400" h="406400">
                <a:moveTo>
                  <a:pt x="203200" y="406400"/>
                </a:moveTo>
                <a:cubicBezTo>
                  <a:pt x="315349" y="406400"/>
                  <a:pt x="406400" y="315349"/>
                  <a:pt x="406400" y="203200"/>
                </a:cubicBezTo>
                <a:cubicBezTo>
                  <a:pt x="406400" y="91051"/>
                  <a:pt x="315349" y="0"/>
                  <a:pt x="203200" y="0"/>
                </a:cubicBezTo>
                <a:cubicBezTo>
                  <a:pt x="91051" y="0"/>
                  <a:pt x="0" y="91051"/>
                  <a:pt x="0" y="203200"/>
                </a:cubicBezTo>
                <a:cubicBezTo>
                  <a:pt x="0" y="315349"/>
                  <a:pt x="91051" y="406400"/>
                  <a:pt x="203200" y="406400"/>
                </a:cubicBezTo>
                <a:close/>
                <a:moveTo>
                  <a:pt x="184150" y="273050"/>
                </a:moveTo>
                <a:lnTo>
                  <a:pt x="184150" y="222250"/>
                </a:lnTo>
                <a:lnTo>
                  <a:pt x="133350" y="222250"/>
                </a:lnTo>
                <a:cubicBezTo>
                  <a:pt x="122793" y="222250"/>
                  <a:pt x="114300" y="213757"/>
                  <a:pt x="114300" y="203200"/>
                </a:cubicBezTo>
                <a:cubicBezTo>
                  <a:pt x="114300" y="192643"/>
                  <a:pt x="122793" y="184150"/>
                  <a:pt x="133350" y="184150"/>
                </a:cubicBezTo>
                <a:lnTo>
                  <a:pt x="184150" y="184150"/>
                </a:lnTo>
                <a:lnTo>
                  <a:pt x="184150" y="133350"/>
                </a:lnTo>
                <a:cubicBezTo>
                  <a:pt x="184150" y="122793"/>
                  <a:pt x="192643" y="114300"/>
                  <a:pt x="203200" y="114300"/>
                </a:cubicBezTo>
                <a:cubicBezTo>
                  <a:pt x="213757" y="114300"/>
                  <a:pt x="222250" y="122793"/>
                  <a:pt x="222250" y="133350"/>
                </a:cubicBezTo>
                <a:lnTo>
                  <a:pt x="222250" y="184150"/>
                </a:lnTo>
                <a:lnTo>
                  <a:pt x="273050" y="184150"/>
                </a:lnTo>
                <a:cubicBezTo>
                  <a:pt x="283607" y="184150"/>
                  <a:pt x="292100" y="192643"/>
                  <a:pt x="292100" y="203200"/>
                </a:cubicBezTo>
                <a:cubicBezTo>
                  <a:pt x="292100" y="213757"/>
                  <a:pt x="283607" y="222250"/>
                  <a:pt x="273050" y="222250"/>
                </a:cubicBezTo>
                <a:lnTo>
                  <a:pt x="222250" y="222250"/>
                </a:lnTo>
                <a:lnTo>
                  <a:pt x="222250" y="273050"/>
                </a:lnTo>
                <a:cubicBezTo>
                  <a:pt x="222250" y="283607"/>
                  <a:pt x="213757" y="292100"/>
                  <a:pt x="203200" y="292100"/>
                </a:cubicBezTo>
                <a:cubicBezTo>
                  <a:pt x="192643" y="292100"/>
                  <a:pt x="184150" y="283607"/>
                  <a:pt x="184150" y="273050"/>
                </a:cubicBezTo>
                <a:close/>
              </a:path>
            </a:pathLst>
          </a:custGeom>
          <a:solidFill>
            <a:srgbClr val="3B82F6"/>
          </a:solidFill>
          <a:ln/>
        </p:spPr>
      </p:sp>
      <p:sp>
        <p:nvSpPr>
          <p:cNvPr id="10" name="Text 8"/>
          <p:cNvSpPr/>
          <p:nvPr/>
        </p:nvSpPr>
        <p:spPr>
          <a:xfrm>
            <a:off x="1651000" y="1752600"/>
            <a:ext cx="5905500" cy="457200"/>
          </a:xfrm>
          <a:prstGeom prst="rect">
            <a:avLst/>
          </a:prstGeom>
          <a:noFill/>
          <a:ln/>
        </p:spPr>
        <p:txBody>
          <a:bodyPr wrap="none" lIns="0" tIns="0" rIns="0" bIns="0" rtlCol="0" anchor="ctr"/>
          <a:lstStyle/>
          <a:p>
            <a:pPr>
              <a:lnSpc>
                <a:spcPct val="100000"/>
              </a:lnSpc>
            </a:pPr>
            <a:r>
              <a:rPr lang="en-US" sz="2000" b="1" dirty="0">
                <a:solidFill>
                  <a:srgbClr val="1B3A5C"/>
                </a:solidFill>
                <a:latin typeface="Liter" pitchFamily="34" charset="0"/>
                <a:ea typeface="Liter" pitchFamily="34" charset="-122"/>
                <a:cs typeface="Liter" pitchFamily="34" charset="-120"/>
              </a:rPr>
              <a:t>a) Tạo chiến dịch (createCampaign)</a:t>
            </a:r>
            <a:endParaRPr lang="en-US" sz="1600" dirty="0"/>
          </a:p>
        </p:txBody>
      </p:sp>
      <p:sp>
        <p:nvSpPr>
          <p:cNvPr id="11" name="Shape 9"/>
          <p:cNvSpPr/>
          <p:nvPr/>
        </p:nvSpPr>
        <p:spPr>
          <a:xfrm>
            <a:off x="1079500" y="2311400"/>
            <a:ext cx="6477000" cy="12700"/>
          </a:xfrm>
          <a:prstGeom prst="rect">
            <a:avLst/>
          </a:prstGeom>
          <a:solidFill>
            <a:srgbClr val="E2E8F0"/>
          </a:solidFill>
          <a:ln/>
        </p:spPr>
      </p:sp>
      <p:sp>
        <p:nvSpPr>
          <p:cNvPr id="12" name="Text 10"/>
          <p:cNvSpPr/>
          <p:nvPr/>
        </p:nvSpPr>
        <p:spPr>
          <a:xfrm>
            <a:off x="1079500" y="2476500"/>
            <a:ext cx="6477000" cy="5588000"/>
          </a:xfrm>
          <a:prstGeom prst="rect">
            <a:avLst/>
          </a:prstGeom>
          <a:noFill/>
          <a:ln/>
        </p:spPr>
        <p:txBody>
          <a:bodyPr wrap="square" lIns="0" tIns="0" rIns="0" bIns="0" rtlCol="0" anchor="t"/>
          <a:lstStyle/>
          <a:p>
            <a:pPr>
              <a:lnSpc>
                <a:spcPct val="170000"/>
              </a:lnSpc>
            </a:pPr>
            <a:r>
              <a:rPr lang="en-US" sz="1600" b="1" dirty="0">
                <a:solidFill>
                  <a:srgbClr val="1B3A5C"/>
                </a:solidFill>
                <a:latin typeface="QuattrocentoSans" pitchFamily="34" charset="0"/>
                <a:ea typeface="QuattrocentoSans" pitchFamily="34" charset="-122"/>
                <a:cs typeface="QuattrocentoSans" pitchFamily="34" charset="-120"/>
              </a:rPr>
              <a:t>Thông tin nhập:</a:t>
            </a:r>
            <a:endParaRPr lang="en-US" sz="1800" dirty="0"/>
          </a:p>
          <a:p>
            <a:pPr>
              <a:lnSpc>
                <a:spcPct val="170000"/>
              </a:lnSpc>
            </a:pPr>
            <a:r>
              <a:rPr lang="en-US" sz="1600" dirty="0">
                <a:solidFill>
                  <a:srgbClr val="1E293B"/>
                </a:solidFill>
                <a:latin typeface="QuattrocentoSans" pitchFamily="34" charset="0"/>
                <a:ea typeface="QuattrocentoSans" pitchFamily="34" charset="-122"/>
                <a:cs typeface="QuattrocentoSans" pitchFamily="34" charset="-120"/>
              </a:rPr>
              <a:t>• Tên chiến dịch (tối đa 32 ký tự)</a:t>
            </a:r>
            <a:endParaRPr lang="en-US" sz="1800" dirty="0"/>
          </a:p>
          <a:p>
            <a:pPr>
              <a:lnSpc>
                <a:spcPct val="170000"/>
              </a:lnSpc>
            </a:pPr>
            <a:r>
              <a:rPr lang="en-US" sz="1600" dirty="0">
                <a:solidFill>
                  <a:srgbClr val="1E293B"/>
                </a:solidFill>
                <a:latin typeface="QuattrocentoSans" pitchFamily="34" charset="0"/>
                <a:ea typeface="QuattrocentoSans" pitchFamily="34" charset="-122"/>
                <a:cs typeface="QuattrocentoSans" pitchFamily="34" charset="-120"/>
              </a:rPr>
              <a:t>• Mục tiêu tài chính (ETH)</a:t>
            </a:r>
            <a:endParaRPr lang="en-US" sz="1800" dirty="0"/>
          </a:p>
          <a:p>
            <a:pPr>
              <a:lnSpc>
                <a:spcPct val="170000"/>
              </a:lnSpc>
            </a:pPr>
            <a:r>
              <a:rPr lang="en-US" sz="1600" dirty="0">
                <a:solidFill>
                  <a:srgbClr val="1E293B"/>
                </a:solidFill>
                <a:latin typeface="QuattrocentoSans" pitchFamily="34" charset="0"/>
                <a:ea typeface="QuattrocentoSans" pitchFamily="34" charset="-122"/>
                <a:cs typeface="QuattrocentoSans" pitchFamily="34" charset="-120"/>
              </a:rPr>
              <a:t>• </a:t>
            </a:r>
            <a:r>
              <a:rPr lang="en-US" sz="1600" dirty="0" err="1">
                <a:solidFill>
                  <a:srgbClr val="1E293B"/>
                </a:solidFill>
                <a:latin typeface="QuattrocentoSans" pitchFamily="34" charset="0"/>
                <a:ea typeface="QuattrocentoSans" pitchFamily="34" charset="-122"/>
                <a:cs typeface="QuattrocentoSans" pitchFamily="34" charset="-120"/>
              </a:rPr>
              <a:t>Thời</a:t>
            </a:r>
            <a:r>
              <a:rPr lang="en-US" sz="1600" dirty="0">
                <a:solidFill>
                  <a:srgbClr val="1E293B"/>
                </a:solidFill>
                <a:latin typeface="QuattrocentoSans" pitchFamily="34" charset="0"/>
                <a:ea typeface="QuattrocentoSans" pitchFamily="34" charset="-122"/>
                <a:cs typeface="QuattrocentoSans" pitchFamily="34" charset="-120"/>
              </a:rPr>
              <a:t> gian kêu gọi (tính theo ngày)</a:t>
            </a:r>
            <a:endParaRPr lang="en-US" sz="1800" dirty="0"/>
          </a:p>
          <a:p>
            <a:pPr>
              <a:lnSpc>
                <a:spcPct val="170000"/>
              </a:lnSpc>
              <a:spcBef>
                <a:spcPts val="1600"/>
              </a:spcBef>
            </a:pPr>
            <a:r>
              <a:rPr lang="en-US" sz="1600" b="1" dirty="0">
                <a:solidFill>
                  <a:srgbClr val="1B3A5C"/>
                </a:solidFill>
                <a:latin typeface="QuattrocentoSans" pitchFamily="34" charset="0"/>
                <a:ea typeface="QuattrocentoSans" pitchFamily="34" charset="-122"/>
                <a:cs typeface="QuattrocentoSans" pitchFamily="34" charset="-120"/>
              </a:rPr>
              <a:t>Ràng buộc hệ thống:</a:t>
            </a:r>
            <a:endParaRPr lang="en-US" sz="1800" dirty="0"/>
          </a:p>
          <a:p>
            <a:pPr>
              <a:lnSpc>
                <a:spcPct val="170000"/>
              </a:lnSpc>
            </a:pPr>
            <a:r>
              <a:rPr lang="en-US" sz="1600" dirty="0">
                <a:solidFill>
                  <a:srgbClr val="1E293B"/>
                </a:solidFill>
                <a:latin typeface="QuattrocentoSans" pitchFamily="34" charset="0"/>
                <a:ea typeface="QuattrocentoSans" pitchFamily="34" charset="-122"/>
                <a:cs typeface="QuattrocentoSans" pitchFamily="34" charset="-120"/>
              </a:rPr>
              <a:t>• Mỗi ngườii chỉ được tạo tối đa </a:t>
            </a:r>
            <a:r>
              <a:rPr lang="en-US" sz="1600" b="1" dirty="0">
                <a:solidFill>
                  <a:srgbClr val="1E293B"/>
                </a:solidFill>
                <a:latin typeface="QuattrocentoSans" pitchFamily="34" charset="0"/>
                <a:ea typeface="QuattrocentoSans" pitchFamily="34" charset="-122"/>
                <a:cs typeface="QuattrocentoSans" pitchFamily="34" charset="-120"/>
              </a:rPr>
              <a:t>5 chiến dịch</a:t>
            </a:r>
            <a:r>
              <a:rPr lang="en-US" sz="1600" dirty="0">
                <a:solidFill>
                  <a:srgbClr val="1E293B"/>
                </a:solidFill>
                <a:latin typeface="QuattrocentoSans" pitchFamily="34" charset="0"/>
                <a:ea typeface="QuattrocentoSans" pitchFamily="34" charset="-122"/>
                <a:cs typeface="QuattrocentoSans" pitchFamily="34" charset="-120"/>
              </a:rPr>
              <a:t> đang hoạt động</a:t>
            </a:r>
            <a:endParaRPr lang="en-US" sz="1800" dirty="0"/>
          </a:p>
          <a:p>
            <a:pPr>
              <a:lnSpc>
                <a:spcPct val="170000"/>
              </a:lnSpc>
            </a:pPr>
            <a:r>
              <a:rPr lang="en-US" sz="1600" dirty="0">
                <a:solidFill>
                  <a:srgbClr val="1E293B"/>
                </a:solidFill>
                <a:latin typeface="QuattrocentoSans" pitchFamily="34" charset="0"/>
                <a:ea typeface="QuattrocentoSans" pitchFamily="34" charset="-122"/>
                <a:cs typeface="QuattrocentoSans" pitchFamily="34" charset="-120"/>
              </a:rPr>
              <a:t>• </a:t>
            </a:r>
            <a:r>
              <a:rPr lang="en-US" sz="1600" dirty="0" err="1">
                <a:solidFill>
                  <a:srgbClr val="1E293B"/>
                </a:solidFill>
                <a:latin typeface="QuattrocentoSans" pitchFamily="34" charset="0"/>
                <a:ea typeface="QuattrocentoSans" pitchFamily="34" charset="-122"/>
                <a:cs typeface="QuattrocentoSans" pitchFamily="34" charset="-120"/>
              </a:rPr>
              <a:t>Thời</a:t>
            </a:r>
            <a:r>
              <a:rPr lang="en-US" sz="1600" dirty="0">
                <a:solidFill>
                  <a:srgbClr val="1E293B"/>
                </a:solidFill>
                <a:latin typeface="QuattrocentoSans" pitchFamily="34" charset="0"/>
                <a:ea typeface="QuattrocentoSans" pitchFamily="34" charset="-122"/>
                <a:cs typeface="QuattrocentoSans" pitchFamily="34" charset="-120"/>
              </a:rPr>
              <a:t> gian kết thúc được tính tự động dựa </a:t>
            </a:r>
            <a:r>
              <a:rPr lang="en-US" sz="1600" dirty="0" err="1">
                <a:solidFill>
                  <a:srgbClr val="1E293B"/>
                </a:solidFill>
                <a:latin typeface="QuattrocentoSans" pitchFamily="34" charset="0"/>
                <a:ea typeface="QuattrocentoSans" pitchFamily="34" charset="-122"/>
                <a:cs typeface="QuattrocentoSans" pitchFamily="34" charset="-120"/>
              </a:rPr>
              <a:t>trên</a:t>
            </a:r>
            <a:r>
              <a:rPr lang="en-US" sz="1600" dirty="0">
                <a:solidFill>
                  <a:srgbClr val="1E293B"/>
                </a:solidFill>
                <a:latin typeface="QuattrocentoSans" pitchFamily="34" charset="0"/>
                <a:ea typeface="QuattrocentoSans" pitchFamily="34" charset="-122"/>
                <a:cs typeface="QuattrocentoSans" pitchFamily="34" charset="-120"/>
              </a:rPr>
              <a:t> </a:t>
            </a:r>
            <a:r>
              <a:rPr lang="en-US" sz="1600" dirty="0" err="1">
                <a:solidFill>
                  <a:srgbClr val="1E293B"/>
                </a:solidFill>
                <a:latin typeface="QuattrocentoSans" pitchFamily="34" charset="0"/>
                <a:ea typeface="QuattrocentoSans" pitchFamily="34" charset="-122"/>
                <a:cs typeface="QuattrocentoSans" pitchFamily="34" charset="-120"/>
              </a:rPr>
              <a:t>thời</a:t>
            </a:r>
            <a:r>
              <a:rPr lang="en-US" sz="1600" dirty="0">
                <a:solidFill>
                  <a:srgbClr val="1E293B"/>
                </a:solidFill>
                <a:latin typeface="QuattrocentoSans" pitchFamily="34" charset="0"/>
                <a:ea typeface="QuattrocentoSans" pitchFamily="34" charset="-122"/>
                <a:cs typeface="QuattrocentoSans" pitchFamily="34" charset="-120"/>
              </a:rPr>
              <a:t> điểm tạo</a:t>
            </a:r>
            <a:endParaRPr lang="en-US" sz="1800" dirty="0"/>
          </a:p>
        </p:txBody>
      </p:sp>
      <p:sp>
        <p:nvSpPr>
          <p:cNvPr id="13" name="Shape 11"/>
          <p:cNvSpPr/>
          <p:nvPr/>
        </p:nvSpPr>
        <p:spPr>
          <a:xfrm>
            <a:off x="8382000" y="1524000"/>
            <a:ext cx="7112000" cy="6731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14" name="Shape 12"/>
          <p:cNvSpPr/>
          <p:nvPr/>
        </p:nvSpPr>
        <p:spPr>
          <a:xfrm>
            <a:off x="8674100" y="1778000"/>
            <a:ext cx="457200" cy="406400"/>
          </a:xfrm>
          <a:custGeom>
            <a:avLst/>
            <a:gdLst/>
            <a:ahLst/>
            <a:cxnLst/>
            <a:rect l="l" t="t" r="r" b="b"/>
            <a:pathLst>
              <a:path w="457200" h="406400">
                <a:moveTo>
                  <a:pt x="228600" y="-12700"/>
                </a:moveTo>
                <a:cubicBezTo>
                  <a:pt x="218043" y="-12700"/>
                  <a:pt x="209550" y="-4207"/>
                  <a:pt x="209550" y="6350"/>
                </a:cubicBezTo>
                <a:lnTo>
                  <a:pt x="209550" y="15875"/>
                </a:lnTo>
                <a:lnTo>
                  <a:pt x="208121" y="15875"/>
                </a:lnTo>
                <a:cubicBezTo>
                  <a:pt x="179070" y="15875"/>
                  <a:pt x="155575" y="39449"/>
                  <a:pt x="155575" y="68421"/>
                </a:cubicBezTo>
                <a:cubicBezTo>
                  <a:pt x="155575" y="94932"/>
                  <a:pt x="175339" y="117316"/>
                  <a:pt x="201613" y="120571"/>
                </a:cubicBezTo>
                <a:lnTo>
                  <a:pt x="250031" y="126603"/>
                </a:lnTo>
                <a:cubicBezTo>
                  <a:pt x="254079" y="127079"/>
                  <a:pt x="257175" y="130572"/>
                  <a:pt x="257175" y="134699"/>
                </a:cubicBezTo>
                <a:cubicBezTo>
                  <a:pt x="257175" y="139224"/>
                  <a:pt x="253524" y="142796"/>
                  <a:pt x="249079" y="142796"/>
                </a:cubicBezTo>
                <a:lnTo>
                  <a:pt x="190500" y="142875"/>
                </a:lnTo>
                <a:cubicBezTo>
                  <a:pt x="178197" y="142875"/>
                  <a:pt x="168275" y="152797"/>
                  <a:pt x="168275" y="165100"/>
                </a:cubicBezTo>
                <a:cubicBezTo>
                  <a:pt x="168275" y="177403"/>
                  <a:pt x="178197" y="187325"/>
                  <a:pt x="190500" y="187325"/>
                </a:cubicBezTo>
                <a:lnTo>
                  <a:pt x="209550" y="187325"/>
                </a:lnTo>
                <a:lnTo>
                  <a:pt x="209550" y="196850"/>
                </a:lnTo>
                <a:cubicBezTo>
                  <a:pt x="209550" y="207407"/>
                  <a:pt x="218043" y="215900"/>
                  <a:pt x="228600" y="215900"/>
                </a:cubicBezTo>
                <a:cubicBezTo>
                  <a:pt x="239157" y="215900"/>
                  <a:pt x="247650" y="207407"/>
                  <a:pt x="247650" y="196850"/>
                </a:cubicBezTo>
                <a:lnTo>
                  <a:pt x="247650" y="187325"/>
                </a:lnTo>
                <a:lnTo>
                  <a:pt x="249079" y="187325"/>
                </a:lnTo>
                <a:cubicBezTo>
                  <a:pt x="278130" y="187325"/>
                  <a:pt x="301625" y="163751"/>
                  <a:pt x="301625" y="134779"/>
                </a:cubicBezTo>
                <a:cubicBezTo>
                  <a:pt x="301625" y="108268"/>
                  <a:pt x="281861" y="85884"/>
                  <a:pt x="255588" y="82629"/>
                </a:cubicBezTo>
                <a:lnTo>
                  <a:pt x="207169" y="76597"/>
                </a:lnTo>
                <a:cubicBezTo>
                  <a:pt x="203121" y="76121"/>
                  <a:pt x="200025" y="72628"/>
                  <a:pt x="200025" y="68501"/>
                </a:cubicBezTo>
                <a:cubicBezTo>
                  <a:pt x="200025" y="63976"/>
                  <a:pt x="203676" y="60404"/>
                  <a:pt x="208121" y="60404"/>
                </a:cubicBezTo>
                <a:lnTo>
                  <a:pt x="260350" y="60325"/>
                </a:lnTo>
                <a:cubicBezTo>
                  <a:pt x="272653" y="60325"/>
                  <a:pt x="282575" y="50403"/>
                  <a:pt x="282575" y="38100"/>
                </a:cubicBezTo>
                <a:cubicBezTo>
                  <a:pt x="282575" y="25797"/>
                  <a:pt x="272653" y="15875"/>
                  <a:pt x="260350" y="15875"/>
                </a:cubicBezTo>
                <a:lnTo>
                  <a:pt x="247650" y="15875"/>
                </a:lnTo>
                <a:lnTo>
                  <a:pt x="247650" y="6350"/>
                </a:lnTo>
                <a:cubicBezTo>
                  <a:pt x="247650" y="-4207"/>
                  <a:pt x="239157" y="-12700"/>
                  <a:pt x="228600" y="-12700"/>
                </a:cubicBezTo>
                <a:close/>
                <a:moveTo>
                  <a:pt x="86757" y="271066"/>
                </a:moveTo>
                <a:lnTo>
                  <a:pt x="52943" y="304800"/>
                </a:lnTo>
                <a:lnTo>
                  <a:pt x="25400" y="304800"/>
                </a:lnTo>
                <a:cubicBezTo>
                  <a:pt x="11351" y="304800"/>
                  <a:pt x="0" y="316151"/>
                  <a:pt x="0" y="330200"/>
                </a:cubicBezTo>
                <a:lnTo>
                  <a:pt x="0" y="381000"/>
                </a:lnTo>
                <a:cubicBezTo>
                  <a:pt x="0" y="395049"/>
                  <a:pt x="11351" y="406400"/>
                  <a:pt x="25400" y="406400"/>
                </a:cubicBezTo>
                <a:lnTo>
                  <a:pt x="279797" y="406400"/>
                </a:lnTo>
                <a:cubicBezTo>
                  <a:pt x="302816" y="406400"/>
                  <a:pt x="325279" y="399018"/>
                  <a:pt x="343853" y="385366"/>
                </a:cubicBezTo>
                <a:lnTo>
                  <a:pt x="444341" y="311309"/>
                </a:lnTo>
                <a:cubicBezTo>
                  <a:pt x="458470" y="300911"/>
                  <a:pt x="461486" y="281067"/>
                  <a:pt x="451088" y="266938"/>
                </a:cubicBezTo>
                <a:cubicBezTo>
                  <a:pt x="440690" y="252809"/>
                  <a:pt x="420846" y="249793"/>
                  <a:pt x="406718" y="260191"/>
                </a:cubicBezTo>
                <a:lnTo>
                  <a:pt x="311626" y="330200"/>
                </a:lnTo>
                <a:lnTo>
                  <a:pt x="222250" y="330200"/>
                </a:lnTo>
                <a:cubicBezTo>
                  <a:pt x="211693" y="330200"/>
                  <a:pt x="203200" y="321707"/>
                  <a:pt x="203200" y="311150"/>
                </a:cubicBezTo>
                <a:cubicBezTo>
                  <a:pt x="203200" y="300593"/>
                  <a:pt x="211693" y="292100"/>
                  <a:pt x="222250" y="292100"/>
                </a:cubicBezTo>
                <a:lnTo>
                  <a:pt x="279400" y="292100"/>
                </a:lnTo>
                <a:cubicBezTo>
                  <a:pt x="293449" y="292100"/>
                  <a:pt x="304800" y="280749"/>
                  <a:pt x="304800" y="266700"/>
                </a:cubicBezTo>
                <a:cubicBezTo>
                  <a:pt x="304800" y="252651"/>
                  <a:pt x="293449" y="241300"/>
                  <a:pt x="279400" y="241300"/>
                </a:cubicBezTo>
                <a:lnTo>
                  <a:pt x="158591" y="241300"/>
                </a:lnTo>
                <a:cubicBezTo>
                  <a:pt x="131683" y="241300"/>
                  <a:pt x="105807" y="252016"/>
                  <a:pt x="86757" y="271066"/>
                </a:cubicBezTo>
                <a:close/>
              </a:path>
            </a:pathLst>
          </a:custGeom>
          <a:solidFill>
            <a:srgbClr val="3B82F6"/>
          </a:solidFill>
          <a:ln/>
        </p:spPr>
      </p:sp>
      <p:sp>
        <p:nvSpPr>
          <p:cNvPr id="15" name="Text 13"/>
          <p:cNvSpPr/>
          <p:nvPr/>
        </p:nvSpPr>
        <p:spPr>
          <a:xfrm>
            <a:off x="9271000" y="1752600"/>
            <a:ext cx="5905500" cy="457200"/>
          </a:xfrm>
          <a:prstGeom prst="rect">
            <a:avLst/>
          </a:prstGeom>
          <a:noFill/>
          <a:ln/>
        </p:spPr>
        <p:txBody>
          <a:bodyPr wrap="none" lIns="0" tIns="0" rIns="0" bIns="0" rtlCol="0" anchor="ctr"/>
          <a:lstStyle/>
          <a:p>
            <a:pPr>
              <a:lnSpc>
                <a:spcPct val="100000"/>
              </a:lnSpc>
            </a:pPr>
            <a:r>
              <a:rPr lang="en-US" sz="2000" b="1" dirty="0">
                <a:solidFill>
                  <a:srgbClr val="1B3A5C"/>
                </a:solidFill>
                <a:latin typeface="Liter" pitchFamily="34" charset="0"/>
                <a:ea typeface="Liter" pitchFamily="34" charset="-122"/>
                <a:cs typeface="Liter" pitchFamily="34" charset="-120"/>
              </a:rPr>
              <a:t>b) Góp vốn (pledge)</a:t>
            </a:r>
            <a:endParaRPr lang="en-US" sz="1600" dirty="0"/>
          </a:p>
        </p:txBody>
      </p:sp>
      <p:sp>
        <p:nvSpPr>
          <p:cNvPr id="16" name="Shape 14"/>
          <p:cNvSpPr/>
          <p:nvPr/>
        </p:nvSpPr>
        <p:spPr>
          <a:xfrm>
            <a:off x="8699500" y="2311400"/>
            <a:ext cx="6477000" cy="12700"/>
          </a:xfrm>
          <a:prstGeom prst="rect">
            <a:avLst/>
          </a:prstGeom>
          <a:solidFill>
            <a:srgbClr val="E2E8F0"/>
          </a:solidFill>
          <a:ln/>
        </p:spPr>
      </p:sp>
      <p:sp>
        <p:nvSpPr>
          <p:cNvPr id="17" name="Text 15"/>
          <p:cNvSpPr/>
          <p:nvPr/>
        </p:nvSpPr>
        <p:spPr>
          <a:xfrm>
            <a:off x="8699500" y="2476500"/>
            <a:ext cx="6477000" cy="5588000"/>
          </a:xfrm>
          <a:prstGeom prst="rect">
            <a:avLst/>
          </a:prstGeom>
          <a:noFill/>
          <a:ln/>
        </p:spPr>
        <p:txBody>
          <a:bodyPr wrap="square" lIns="0" tIns="0" rIns="0" bIns="0" rtlCol="0" anchor="t"/>
          <a:lstStyle/>
          <a:p>
            <a:pPr>
              <a:lnSpc>
                <a:spcPct val="170000"/>
              </a:lnSpc>
            </a:pPr>
            <a:r>
              <a:rPr lang="en-US" sz="1600" b="1" dirty="0">
                <a:solidFill>
                  <a:srgbClr val="1B3A5C"/>
                </a:solidFill>
                <a:latin typeface="QuattrocentoSans" pitchFamily="34" charset="0"/>
                <a:ea typeface="QuattrocentoSans" pitchFamily="34" charset="-122"/>
                <a:cs typeface="QuattrocentoSans" pitchFamily="34" charset="-120"/>
              </a:rPr>
              <a:t>Điều kiện thực hiện:</a:t>
            </a:r>
            <a:endParaRPr lang="en-US" sz="1800" dirty="0"/>
          </a:p>
          <a:p>
            <a:pPr>
              <a:lnSpc>
                <a:spcPct val="170000"/>
              </a:lnSpc>
            </a:pPr>
            <a:r>
              <a:rPr lang="en-US" sz="1600" dirty="0">
                <a:solidFill>
                  <a:srgbClr val="1E293B"/>
                </a:solidFill>
                <a:latin typeface="QuattrocentoSans" pitchFamily="34" charset="0"/>
                <a:ea typeface="QuattrocentoSans" pitchFamily="34" charset="-122"/>
                <a:cs typeface="QuattrocentoSans" pitchFamily="34" charset="-120"/>
              </a:rPr>
              <a:t>• Chỉ thực hiện khi chiến dịch </a:t>
            </a:r>
            <a:r>
              <a:rPr lang="en-US" sz="1600" b="1" dirty="0">
                <a:solidFill>
                  <a:srgbClr val="1E293B"/>
                </a:solidFill>
                <a:latin typeface="QuattrocentoSans" pitchFamily="34" charset="0"/>
                <a:ea typeface="QuattrocentoSans" pitchFamily="34" charset="-122"/>
                <a:cs typeface="QuattrocentoSans" pitchFamily="34" charset="-120"/>
              </a:rPr>
              <a:t>chưa hết hạn</a:t>
            </a:r>
            <a:endParaRPr lang="en-US" sz="1800" dirty="0"/>
          </a:p>
          <a:p>
            <a:pPr>
              <a:lnSpc>
                <a:spcPct val="170000"/>
              </a:lnSpc>
              <a:spcBef>
                <a:spcPts val="1600"/>
              </a:spcBef>
            </a:pPr>
            <a:r>
              <a:rPr lang="en-US" sz="1600" b="1" dirty="0">
                <a:solidFill>
                  <a:srgbClr val="1B3A5C"/>
                </a:solidFill>
                <a:latin typeface="QuattrocentoSans" pitchFamily="34" charset="0"/>
                <a:ea typeface="QuattrocentoSans" pitchFamily="34" charset="-122"/>
                <a:cs typeface="QuattrocentoSans" pitchFamily="34" charset="-120"/>
              </a:rPr>
              <a:t>Quy trình xử lý:</a:t>
            </a:r>
            <a:endParaRPr lang="en-US" sz="1800" dirty="0"/>
          </a:p>
          <a:p>
            <a:pPr>
              <a:lnSpc>
                <a:spcPct val="170000"/>
              </a:lnSpc>
            </a:pPr>
            <a:r>
              <a:rPr lang="en-US" sz="1600" dirty="0">
                <a:solidFill>
                  <a:srgbClr val="1E293B"/>
                </a:solidFill>
                <a:latin typeface="QuattrocentoSans" pitchFamily="34" charset="0"/>
                <a:ea typeface="QuattrocentoSans" pitchFamily="34" charset="-122"/>
                <a:cs typeface="QuattrocentoSans" pitchFamily="34" charset="-120"/>
              </a:rPr>
              <a:t>• Số tiền đóng góp được lưu trên blockchain</a:t>
            </a:r>
            <a:endParaRPr lang="en-US" sz="1800" dirty="0"/>
          </a:p>
          <a:p>
            <a:pPr>
              <a:lnSpc>
                <a:spcPct val="170000"/>
              </a:lnSpc>
            </a:pPr>
            <a:r>
              <a:rPr lang="en-US" sz="1600" dirty="0">
                <a:solidFill>
                  <a:srgbClr val="1E293B"/>
                </a:solidFill>
                <a:latin typeface="QuattrocentoSans" pitchFamily="34" charset="0"/>
                <a:ea typeface="QuattrocentoSans" pitchFamily="34" charset="-122"/>
                <a:cs typeface="QuattrocentoSans" pitchFamily="34" charset="-120"/>
              </a:rPr>
              <a:t>• Hệ thống ghi nhận tổng số tiền đã huy động</a:t>
            </a:r>
            <a:endParaRPr lang="en-US" sz="1800" dirty="0"/>
          </a:p>
          <a:p>
            <a:pPr>
              <a:lnSpc>
                <a:spcPct val="170000"/>
              </a:lnSpc>
            </a:pPr>
            <a:r>
              <a:rPr lang="en-US" sz="1600" dirty="0">
                <a:solidFill>
                  <a:srgbClr val="1E293B"/>
                </a:solidFill>
                <a:latin typeface="QuattrocentoSans" pitchFamily="34" charset="0"/>
                <a:ea typeface="QuattrocentoSans" pitchFamily="34" charset="-122"/>
                <a:cs typeface="QuattrocentoSans" pitchFamily="34" charset="-120"/>
              </a:rPr>
              <a:t>• Ghi nhận số tiền </a:t>
            </a:r>
            <a:r>
              <a:rPr lang="en-US" sz="1600" dirty="0" err="1">
                <a:solidFill>
                  <a:srgbClr val="1E293B"/>
                </a:solidFill>
                <a:latin typeface="QuattrocentoSans" pitchFamily="34" charset="0"/>
                <a:ea typeface="QuattrocentoSans" pitchFamily="34" charset="-122"/>
                <a:cs typeface="QuattrocentoSans" pitchFamily="34" charset="-120"/>
              </a:rPr>
              <a:t>từng</a:t>
            </a:r>
            <a:r>
              <a:rPr lang="en-US" sz="1600" dirty="0">
                <a:solidFill>
                  <a:srgbClr val="1E293B"/>
                </a:solidFill>
                <a:latin typeface="QuattrocentoSans" pitchFamily="34" charset="0"/>
                <a:ea typeface="QuattrocentoSans" pitchFamily="34" charset="-122"/>
                <a:cs typeface="QuattrocentoSans" pitchFamily="34" charset="-120"/>
              </a:rPr>
              <a:t> </a:t>
            </a:r>
            <a:r>
              <a:rPr lang="en-US" sz="1600" dirty="0" err="1">
                <a:solidFill>
                  <a:srgbClr val="1E293B"/>
                </a:solidFill>
                <a:latin typeface="QuattrocentoSans" pitchFamily="34" charset="0"/>
                <a:ea typeface="QuattrocentoSans" pitchFamily="34" charset="-122"/>
                <a:cs typeface="QuattrocentoSans" pitchFamily="34" charset="-120"/>
              </a:rPr>
              <a:t>người</a:t>
            </a:r>
            <a:r>
              <a:rPr lang="en-US" sz="1600" dirty="0">
                <a:solidFill>
                  <a:srgbClr val="1E293B"/>
                </a:solidFill>
                <a:latin typeface="QuattrocentoSans" pitchFamily="34" charset="0"/>
                <a:ea typeface="QuattrocentoSans" pitchFamily="34" charset="-122"/>
                <a:cs typeface="QuattrocentoSans" pitchFamily="34" charset="-120"/>
              </a:rPr>
              <a:t> đóng góp</a:t>
            </a:r>
            <a:endParaRPr lang="en-US" sz="1800" dirty="0"/>
          </a:p>
          <a:p>
            <a:pPr>
              <a:lnSpc>
                <a:spcPct val="170000"/>
              </a:lnSpc>
              <a:spcBef>
                <a:spcPts val="1600"/>
              </a:spcBef>
            </a:pPr>
            <a:r>
              <a:rPr lang="en-US" sz="1600" b="1" dirty="0">
                <a:solidFill>
                  <a:srgbClr val="1B3A5C"/>
                </a:solidFill>
                <a:latin typeface="QuattrocentoSans" pitchFamily="34" charset="0"/>
                <a:ea typeface="QuattrocentoSans" pitchFamily="34" charset="-122"/>
                <a:cs typeface="QuattrocentoSans" pitchFamily="34" charset="-120"/>
              </a:rPr>
              <a:t>Lưu trữ:</a:t>
            </a:r>
            <a:endParaRPr lang="en-US" sz="1800" dirty="0"/>
          </a:p>
          <a:p>
            <a:pPr>
              <a:lnSpc>
                <a:spcPct val="170000"/>
              </a:lnSpc>
            </a:pPr>
            <a:r>
              <a:rPr lang="en-US" sz="1600" dirty="0">
                <a:solidFill>
                  <a:srgbClr val="1E293B"/>
                </a:solidFill>
                <a:latin typeface="QuattrocentoSans" pitchFamily="34" charset="0"/>
                <a:ea typeface="QuattrocentoSans" pitchFamily="34" charset="-122"/>
                <a:cs typeface="QuattrocentoSans" pitchFamily="34" charset="-120"/>
              </a:rPr>
              <a:t>• Mapping pledgedAmount[user][campaignId]</a:t>
            </a:r>
            <a:endParaRPr lang="en-US" sz="1800" dirty="0"/>
          </a:p>
        </p:txBody>
      </p:sp>
      <p:sp>
        <p:nvSpPr>
          <p:cNvPr id="18" name="Text 16"/>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400" dirty="0">
                <a:solidFill>
                  <a:srgbClr val="64748B"/>
                </a:solidFill>
                <a:latin typeface="QuattrocentoSans" pitchFamily="34" charset="0"/>
                <a:ea typeface="QuattrocentoSans" pitchFamily="34" charset="-122"/>
                <a:cs typeface="QuattrocentoSans" pitchFamily="34" charset="-120"/>
              </a:rPr>
              <a:t>05</a:t>
            </a:r>
            <a:endParaRPr lang="en-US" sz="14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B3A5C"/>
          </a:solidFill>
          <a:ln/>
        </p:spPr>
      </p:sp>
      <p:sp>
        <p:nvSpPr>
          <p:cNvPr id="3" name="Text 1"/>
          <p:cNvSpPr/>
          <p:nvPr/>
        </p:nvSpPr>
        <p:spPr>
          <a:xfrm>
            <a:off x="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FFFFFF"/>
                </a:solidFill>
                <a:latin typeface="Liter" pitchFamily="34" charset="0"/>
                <a:ea typeface="Liter" pitchFamily="34" charset="-122"/>
                <a:cs typeface="Liter" pitchFamily="34" charset="-120"/>
              </a:rPr>
              <a:t>PHÂN TÍCH VÀ THIẾT KẾ</a:t>
            </a:r>
            <a:endParaRPr lang="en-US" sz="1300" dirty="0"/>
          </a:p>
        </p:txBody>
      </p:sp>
      <p:sp>
        <p:nvSpPr>
          <p:cNvPr id="4" name="Text 2"/>
          <p:cNvSpPr/>
          <p:nvPr/>
        </p:nvSpPr>
        <p:spPr>
          <a:xfrm>
            <a:off x="812800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94A3B8"/>
                </a:solidFill>
                <a:latin typeface="Liter" pitchFamily="34" charset="0"/>
                <a:ea typeface="Liter" pitchFamily="34" charset="-122"/>
                <a:cs typeface="Liter" pitchFamily="34" charset="-120"/>
              </a:rPr>
              <a:t>XÂY DỰNG VÀ TRIỂN KHAI</a:t>
            </a:r>
            <a:endParaRPr lang="en-US" sz="1300" dirty="0"/>
          </a:p>
        </p:txBody>
      </p:sp>
      <p:sp>
        <p:nvSpPr>
          <p:cNvPr id="5" name="Shape 3"/>
          <p:cNvSpPr/>
          <p:nvPr/>
        </p:nvSpPr>
        <p:spPr>
          <a:xfrm>
            <a:off x="0" y="558800"/>
            <a:ext cx="8128000" cy="50800"/>
          </a:xfrm>
          <a:prstGeom prst="rect">
            <a:avLst/>
          </a:prstGeom>
          <a:solidFill>
            <a:srgbClr val="3B82F6"/>
          </a:solidFill>
          <a:ln/>
        </p:spPr>
      </p:sp>
      <p:sp>
        <p:nvSpPr>
          <p:cNvPr id="6" name="Shape 4"/>
          <p:cNvSpPr/>
          <p:nvPr/>
        </p:nvSpPr>
        <p:spPr>
          <a:xfrm>
            <a:off x="762000" y="863600"/>
            <a:ext cx="63500" cy="406400"/>
          </a:xfrm>
          <a:prstGeom prst="rect">
            <a:avLst/>
          </a:prstGeom>
          <a:solidFill>
            <a:srgbClr val="3B82F6"/>
          </a:solidFill>
          <a:ln/>
        </p:spPr>
      </p:sp>
      <p:sp>
        <p:nvSpPr>
          <p:cNvPr id="7" name="Text 5"/>
          <p:cNvSpPr/>
          <p:nvPr/>
        </p:nvSpPr>
        <p:spPr>
          <a:xfrm>
            <a:off x="990600" y="825500"/>
            <a:ext cx="10160000" cy="482600"/>
          </a:xfrm>
          <a:prstGeom prst="rect">
            <a:avLst/>
          </a:prstGeom>
          <a:noFill/>
          <a:ln/>
        </p:spPr>
        <p:txBody>
          <a:bodyPr wrap="none" lIns="0" tIns="0" rIns="0" bIns="0" rtlCol="0" anchor="ctr"/>
          <a:lstStyle/>
          <a:p>
            <a:pPr>
              <a:lnSpc>
                <a:spcPct val="130000"/>
              </a:lnSpc>
            </a:pPr>
            <a:r>
              <a:rPr lang="en-US" sz="2800" dirty="0">
                <a:solidFill>
                  <a:srgbClr val="1B3A5C"/>
                </a:solidFill>
                <a:latin typeface="Liter" pitchFamily="34" charset="0"/>
                <a:ea typeface="Liter" pitchFamily="34" charset="-122"/>
                <a:cs typeface="Liter" pitchFamily="34" charset="-120"/>
              </a:rPr>
              <a:t>2.2.1 Yêu cầu chức năng (2)</a:t>
            </a:r>
            <a:endParaRPr lang="en-US" sz="2800" dirty="0"/>
          </a:p>
        </p:txBody>
      </p:sp>
      <p:sp>
        <p:nvSpPr>
          <p:cNvPr id="8" name="Shape 6"/>
          <p:cNvSpPr/>
          <p:nvPr/>
        </p:nvSpPr>
        <p:spPr>
          <a:xfrm>
            <a:off x="762000" y="1524000"/>
            <a:ext cx="4699000" cy="3175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9" name="Shape 7"/>
          <p:cNvSpPr/>
          <p:nvPr/>
        </p:nvSpPr>
        <p:spPr>
          <a:xfrm>
            <a:off x="1016000" y="1714500"/>
            <a:ext cx="355600" cy="355600"/>
          </a:xfrm>
          <a:custGeom>
            <a:avLst/>
            <a:gdLst/>
            <a:ahLst/>
            <a:cxnLst/>
            <a:rect l="l" t="t" r="r" b="b"/>
            <a:pathLst>
              <a:path w="355600" h="355600">
                <a:moveTo>
                  <a:pt x="0" y="291425"/>
                </a:moveTo>
                <a:lnTo>
                  <a:pt x="0" y="76051"/>
                </a:lnTo>
                <a:cubicBezTo>
                  <a:pt x="0" y="59938"/>
                  <a:pt x="16738" y="49242"/>
                  <a:pt x="32157" y="53826"/>
                </a:cubicBezTo>
                <a:cubicBezTo>
                  <a:pt x="93067" y="72023"/>
                  <a:pt x="136128" y="57646"/>
                  <a:pt x="179467" y="43200"/>
                </a:cubicBezTo>
                <a:cubicBezTo>
                  <a:pt x="224264" y="28267"/>
                  <a:pt x="269339" y="13266"/>
                  <a:pt x="334556" y="34101"/>
                </a:cubicBezTo>
                <a:cubicBezTo>
                  <a:pt x="347405" y="38199"/>
                  <a:pt x="355600" y="50631"/>
                  <a:pt x="355600" y="64175"/>
                </a:cubicBezTo>
                <a:lnTo>
                  <a:pt x="355600" y="279549"/>
                </a:lnTo>
                <a:cubicBezTo>
                  <a:pt x="355600" y="295662"/>
                  <a:pt x="338862" y="306358"/>
                  <a:pt x="323513" y="301774"/>
                </a:cubicBezTo>
                <a:cubicBezTo>
                  <a:pt x="262602" y="283577"/>
                  <a:pt x="219472" y="297954"/>
                  <a:pt x="176203" y="312400"/>
                </a:cubicBezTo>
                <a:cubicBezTo>
                  <a:pt x="131405" y="327333"/>
                  <a:pt x="86330" y="342334"/>
                  <a:pt x="21114" y="321499"/>
                </a:cubicBezTo>
                <a:cubicBezTo>
                  <a:pt x="8265" y="317401"/>
                  <a:pt x="69" y="304969"/>
                  <a:pt x="69" y="291425"/>
                </a:cubicBezTo>
                <a:close/>
                <a:moveTo>
                  <a:pt x="233363" y="177800"/>
                </a:moveTo>
                <a:cubicBezTo>
                  <a:pt x="233363" y="140990"/>
                  <a:pt x="208498" y="111125"/>
                  <a:pt x="177800" y="111125"/>
                </a:cubicBezTo>
                <a:cubicBezTo>
                  <a:pt x="147102" y="111125"/>
                  <a:pt x="122238" y="140990"/>
                  <a:pt x="122238" y="177800"/>
                </a:cubicBezTo>
                <a:cubicBezTo>
                  <a:pt x="122238" y="214610"/>
                  <a:pt x="147102" y="244475"/>
                  <a:pt x="177800" y="244475"/>
                </a:cubicBezTo>
                <a:cubicBezTo>
                  <a:pt x="208498" y="244475"/>
                  <a:pt x="233363" y="214610"/>
                  <a:pt x="233363" y="177800"/>
                </a:cubicBezTo>
                <a:close/>
                <a:moveTo>
                  <a:pt x="83344" y="287258"/>
                </a:moveTo>
                <a:cubicBezTo>
                  <a:pt x="86400" y="287258"/>
                  <a:pt x="88831" y="284619"/>
                  <a:pt x="88344" y="281632"/>
                </a:cubicBezTo>
                <a:cubicBezTo>
                  <a:pt x="85150" y="262324"/>
                  <a:pt x="69592" y="247253"/>
                  <a:pt x="50006" y="244822"/>
                </a:cubicBezTo>
                <a:cubicBezTo>
                  <a:pt x="46950" y="244475"/>
                  <a:pt x="44450" y="246975"/>
                  <a:pt x="44450" y="250031"/>
                </a:cubicBezTo>
                <a:lnTo>
                  <a:pt x="44450" y="277743"/>
                </a:lnTo>
                <a:cubicBezTo>
                  <a:pt x="44450" y="280243"/>
                  <a:pt x="46117" y="282466"/>
                  <a:pt x="48617" y="283091"/>
                </a:cubicBezTo>
                <a:cubicBezTo>
                  <a:pt x="61049" y="286008"/>
                  <a:pt x="72440" y="287328"/>
                  <a:pt x="83344" y="287328"/>
                </a:cubicBezTo>
                <a:close/>
                <a:moveTo>
                  <a:pt x="304552" y="251768"/>
                </a:moveTo>
                <a:cubicBezTo>
                  <a:pt x="308025" y="252323"/>
                  <a:pt x="311150" y="249684"/>
                  <a:pt x="311150" y="246211"/>
                </a:cubicBezTo>
                <a:lnTo>
                  <a:pt x="311150" y="216624"/>
                </a:lnTo>
                <a:cubicBezTo>
                  <a:pt x="311150" y="213568"/>
                  <a:pt x="308650" y="210999"/>
                  <a:pt x="305594" y="211415"/>
                </a:cubicBezTo>
                <a:cubicBezTo>
                  <a:pt x="288092" y="213568"/>
                  <a:pt x="273715" y="225931"/>
                  <a:pt x="268645" y="242391"/>
                </a:cubicBezTo>
                <a:cubicBezTo>
                  <a:pt x="267672" y="245656"/>
                  <a:pt x="270242" y="248712"/>
                  <a:pt x="273645" y="248781"/>
                </a:cubicBezTo>
                <a:cubicBezTo>
                  <a:pt x="283508" y="249059"/>
                  <a:pt x="293787" y="249962"/>
                  <a:pt x="304483" y="251768"/>
                </a:cubicBezTo>
                <a:close/>
                <a:moveTo>
                  <a:pt x="311150" y="105569"/>
                </a:moveTo>
                <a:lnTo>
                  <a:pt x="311150" y="77857"/>
                </a:lnTo>
                <a:cubicBezTo>
                  <a:pt x="311150" y="75357"/>
                  <a:pt x="309414" y="73134"/>
                  <a:pt x="306983" y="72509"/>
                </a:cubicBezTo>
                <a:cubicBezTo>
                  <a:pt x="294551" y="69592"/>
                  <a:pt x="283160" y="68272"/>
                  <a:pt x="272256" y="68272"/>
                </a:cubicBezTo>
                <a:cubicBezTo>
                  <a:pt x="269200" y="68272"/>
                  <a:pt x="266769" y="70912"/>
                  <a:pt x="267256" y="73898"/>
                </a:cubicBezTo>
                <a:cubicBezTo>
                  <a:pt x="270450" y="93206"/>
                  <a:pt x="286008" y="108277"/>
                  <a:pt x="305594" y="110708"/>
                </a:cubicBezTo>
                <a:cubicBezTo>
                  <a:pt x="308650" y="111056"/>
                  <a:pt x="311150" y="108555"/>
                  <a:pt x="311150" y="105499"/>
                </a:cubicBezTo>
                <a:close/>
                <a:moveTo>
                  <a:pt x="86955" y="113139"/>
                </a:moveTo>
                <a:cubicBezTo>
                  <a:pt x="87928" y="109875"/>
                  <a:pt x="85358" y="106819"/>
                  <a:pt x="81955" y="106749"/>
                </a:cubicBezTo>
                <a:cubicBezTo>
                  <a:pt x="72092" y="106472"/>
                  <a:pt x="61813" y="105569"/>
                  <a:pt x="51117" y="103763"/>
                </a:cubicBezTo>
                <a:cubicBezTo>
                  <a:pt x="47645" y="103207"/>
                  <a:pt x="44519" y="105847"/>
                  <a:pt x="44519" y="109319"/>
                </a:cubicBezTo>
                <a:lnTo>
                  <a:pt x="44450" y="138906"/>
                </a:lnTo>
                <a:cubicBezTo>
                  <a:pt x="44450" y="141962"/>
                  <a:pt x="46950" y="144532"/>
                  <a:pt x="50006" y="144115"/>
                </a:cubicBezTo>
                <a:cubicBezTo>
                  <a:pt x="67508" y="141962"/>
                  <a:pt x="81885" y="129600"/>
                  <a:pt x="86955" y="113139"/>
                </a:cubicBezTo>
                <a:close/>
              </a:path>
            </a:pathLst>
          </a:custGeom>
          <a:solidFill>
            <a:srgbClr val="3B82F6"/>
          </a:solidFill>
          <a:ln/>
        </p:spPr>
      </p:sp>
      <p:sp>
        <p:nvSpPr>
          <p:cNvPr id="10" name="Text 8"/>
          <p:cNvSpPr/>
          <p:nvPr/>
        </p:nvSpPr>
        <p:spPr>
          <a:xfrm>
            <a:off x="1498600" y="1689100"/>
            <a:ext cx="3746500" cy="406400"/>
          </a:xfrm>
          <a:prstGeom prst="rect">
            <a:avLst/>
          </a:prstGeom>
          <a:noFill/>
          <a:ln/>
        </p:spPr>
        <p:txBody>
          <a:bodyPr wrap="none" lIns="0" tIns="0" rIns="0" bIns="0" rtlCol="0" anchor="ctr"/>
          <a:lstStyle/>
          <a:p>
            <a:pPr>
              <a:lnSpc>
                <a:spcPct val="100000"/>
              </a:lnSpc>
            </a:pPr>
            <a:r>
              <a:rPr lang="en-US" sz="1600" b="1" dirty="0">
                <a:solidFill>
                  <a:srgbClr val="1B3A5C"/>
                </a:solidFill>
                <a:latin typeface="Liter" pitchFamily="34" charset="0"/>
                <a:ea typeface="Liter" pitchFamily="34" charset="-122"/>
                <a:cs typeface="Liter" pitchFamily="34" charset="-120"/>
              </a:rPr>
              <a:t>c) Rút tiền (claim)</a:t>
            </a:r>
            <a:endParaRPr lang="en-US" sz="1600" dirty="0"/>
          </a:p>
        </p:txBody>
      </p:sp>
      <p:sp>
        <p:nvSpPr>
          <p:cNvPr id="11" name="Text 9"/>
          <p:cNvSpPr/>
          <p:nvPr/>
        </p:nvSpPr>
        <p:spPr>
          <a:xfrm>
            <a:off x="1016000" y="2184400"/>
            <a:ext cx="4191000" cy="2349500"/>
          </a:xfrm>
          <a:prstGeom prst="rect">
            <a:avLst/>
          </a:prstGeom>
          <a:noFill/>
          <a:ln/>
        </p:spPr>
        <p:txBody>
          <a:bodyPr wrap="square" lIns="0" tIns="0" rIns="0" bIns="0" rtlCol="0" anchor="t"/>
          <a:lstStyle/>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Đạt mục tiêu tài chính</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Chưa từng rút tiền trước đó</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Toàn bộ ETH chuyển về </a:t>
            </a:r>
            <a:r>
              <a:rPr lang="en-US" sz="1400" dirty="0" err="1">
                <a:solidFill>
                  <a:srgbClr val="1E293B"/>
                </a:solidFill>
                <a:latin typeface="Quattrocento Sans" pitchFamily="34" charset="0"/>
                <a:ea typeface="Quattrocento Sans" pitchFamily="34" charset="-122"/>
                <a:cs typeface="Quattrocento Sans" pitchFamily="34" charset="-120"/>
              </a:rPr>
              <a:t>ví</a:t>
            </a:r>
            <a:r>
              <a:rPr lang="en-US" sz="1400" dirty="0">
                <a:solidFill>
                  <a:srgbClr val="1E293B"/>
                </a:solidFill>
                <a:latin typeface="Quattrocento Sans" pitchFamily="34" charset="0"/>
                <a:ea typeface="Quattrocento Sans" pitchFamily="34" charset="-122"/>
                <a:cs typeface="Quattrocento Sans" pitchFamily="34" charset="-120"/>
              </a:rPr>
              <a:t> </a:t>
            </a:r>
            <a:r>
              <a:rPr lang="en-US" sz="1400" dirty="0" err="1">
                <a:solidFill>
                  <a:srgbClr val="1E293B"/>
                </a:solidFill>
                <a:latin typeface="Quattrocento Sans" pitchFamily="34" charset="0"/>
                <a:ea typeface="Quattrocento Sans" pitchFamily="34" charset="-122"/>
                <a:cs typeface="Quattrocento Sans" pitchFamily="34" charset="-120"/>
              </a:rPr>
              <a:t>người</a:t>
            </a:r>
            <a:r>
              <a:rPr lang="en-US" sz="1400" dirty="0">
                <a:solidFill>
                  <a:srgbClr val="1E293B"/>
                </a:solidFill>
                <a:latin typeface="Quattrocento Sans" pitchFamily="34" charset="0"/>
                <a:ea typeface="Quattrocento Sans" pitchFamily="34" charset="-122"/>
                <a:cs typeface="Quattrocento Sans" pitchFamily="34" charset="-120"/>
              </a:rPr>
              <a:t> tạo</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Trạng thái: "đã hoàn thành"</a:t>
            </a:r>
            <a:endParaRPr lang="en-US" sz="1600" dirty="0"/>
          </a:p>
        </p:txBody>
      </p:sp>
      <p:sp>
        <p:nvSpPr>
          <p:cNvPr id="12" name="Shape 10"/>
          <p:cNvSpPr/>
          <p:nvPr/>
        </p:nvSpPr>
        <p:spPr>
          <a:xfrm>
            <a:off x="5778500" y="1524000"/>
            <a:ext cx="4699000" cy="3175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13" name="Shape 11"/>
          <p:cNvSpPr/>
          <p:nvPr/>
        </p:nvSpPr>
        <p:spPr>
          <a:xfrm>
            <a:off x="6032500" y="1714500"/>
            <a:ext cx="355600" cy="355600"/>
          </a:xfrm>
          <a:custGeom>
            <a:avLst/>
            <a:gdLst/>
            <a:ahLst/>
            <a:cxnLst/>
            <a:rect l="l" t="t" r="r" b="b"/>
            <a:pathLst>
              <a:path w="355600" h="355600">
                <a:moveTo>
                  <a:pt x="177800" y="44450"/>
                </a:moveTo>
                <a:cubicBezTo>
                  <a:pt x="138351" y="44450"/>
                  <a:pt x="102860" y="61605"/>
                  <a:pt x="78413" y="88900"/>
                </a:cubicBezTo>
                <a:lnTo>
                  <a:pt x="111125" y="88900"/>
                </a:lnTo>
                <a:cubicBezTo>
                  <a:pt x="123418" y="88900"/>
                  <a:pt x="133350" y="98832"/>
                  <a:pt x="133350" y="111125"/>
                </a:cubicBezTo>
                <a:cubicBezTo>
                  <a:pt x="133350" y="123418"/>
                  <a:pt x="123418" y="133350"/>
                  <a:pt x="111125" y="133350"/>
                </a:cubicBezTo>
                <a:lnTo>
                  <a:pt x="22225" y="133350"/>
                </a:lnTo>
                <a:cubicBezTo>
                  <a:pt x="9932" y="133350"/>
                  <a:pt x="0" y="123418"/>
                  <a:pt x="0" y="111125"/>
                </a:cubicBezTo>
                <a:lnTo>
                  <a:pt x="0" y="22225"/>
                </a:lnTo>
                <a:cubicBezTo>
                  <a:pt x="0" y="9932"/>
                  <a:pt x="9932" y="0"/>
                  <a:pt x="22225" y="0"/>
                </a:cubicBezTo>
                <a:cubicBezTo>
                  <a:pt x="34518" y="0"/>
                  <a:pt x="44450" y="9932"/>
                  <a:pt x="44450" y="22225"/>
                </a:cubicBezTo>
                <a:lnTo>
                  <a:pt x="44450" y="60216"/>
                </a:lnTo>
                <a:cubicBezTo>
                  <a:pt x="77024" y="23336"/>
                  <a:pt x="124668" y="0"/>
                  <a:pt x="177800" y="0"/>
                </a:cubicBezTo>
                <a:cubicBezTo>
                  <a:pt x="276007" y="0"/>
                  <a:pt x="355600" y="79593"/>
                  <a:pt x="355600" y="177800"/>
                </a:cubicBezTo>
                <a:cubicBezTo>
                  <a:pt x="355600" y="276007"/>
                  <a:pt x="276007" y="355600"/>
                  <a:pt x="177800" y="355600"/>
                </a:cubicBezTo>
                <a:cubicBezTo>
                  <a:pt x="117376" y="355600"/>
                  <a:pt x="63966" y="325457"/>
                  <a:pt x="31879" y="279410"/>
                </a:cubicBezTo>
                <a:cubicBezTo>
                  <a:pt x="24864" y="269339"/>
                  <a:pt x="27295" y="255518"/>
                  <a:pt x="37366" y="248434"/>
                </a:cubicBezTo>
                <a:cubicBezTo>
                  <a:pt x="47436" y="241350"/>
                  <a:pt x="61258" y="243850"/>
                  <a:pt x="68342" y="253921"/>
                </a:cubicBezTo>
                <a:cubicBezTo>
                  <a:pt x="92512" y="288508"/>
                  <a:pt x="132517" y="311081"/>
                  <a:pt x="177800" y="311081"/>
                </a:cubicBezTo>
                <a:cubicBezTo>
                  <a:pt x="251420" y="311081"/>
                  <a:pt x="311150" y="251351"/>
                  <a:pt x="311150" y="177731"/>
                </a:cubicBezTo>
                <a:cubicBezTo>
                  <a:pt x="311150" y="104110"/>
                  <a:pt x="251420" y="44450"/>
                  <a:pt x="177800" y="44450"/>
                </a:cubicBezTo>
                <a:close/>
              </a:path>
            </a:pathLst>
          </a:custGeom>
          <a:solidFill>
            <a:srgbClr val="3B82F6"/>
          </a:solidFill>
          <a:ln/>
        </p:spPr>
      </p:sp>
      <p:sp>
        <p:nvSpPr>
          <p:cNvPr id="14" name="Text 12"/>
          <p:cNvSpPr/>
          <p:nvPr/>
        </p:nvSpPr>
        <p:spPr>
          <a:xfrm>
            <a:off x="6515100" y="1689100"/>
            <a:ext cx="3746500" cy="406400"/>
          </a:xfrm>
          <a:prstGeom prst="rect">
            <a:avLst/>
          </a:prstGeom>
          <a:noFill/>
          <a:ln/>
        </p:spPr>
        <p:txBody>
          <a:bodyPr wrap="none" lIns="0" tIns="0" rIns="0" bIns="0" rtlCol="0" anchor="ctr"/>
          <a:lstStyle/>
          <a:p>
            <a:pPr>
              <a:lnSpc>
                <a:spcPct val="100000"/>
              </a:lnSpc>
            </a:pPr>
            <a:r>
              <a:rPr lang="en-US" sz="1600" b="1" dirty="0">
                <a:solidFill>
                  <a:srgbClr val="1B3A5C"/>
                </a:solidFill>
                <a:latin typeface="Liter" pitchFamily="34" charset="0"/>
                <a:ea typeface="Liter" pitchFamily="34" charset="-122"/>
                <a:cs typeface="Liter" pitchFamily="34" charset="-120"/>
              </a:rPr>
              <a:t>d) Hoàn tiền (refund)</a:t>
            </a:r>
            <a:endParaRPr lang="en-US" sz="1600" dirty="0"/>
          </a:p>
        </p:txBody>
      </p:sp>
      <p:sp>
        <p:nvSpPr>
          <p:cNvPr id="15" name="Text 13"/>
          <p:cNvSpPr/>
          <p:nvPr/>
        </p:nvSpPr>
        <p:spPr>
          <a:xfrm>
            <a:off x="6032500" y="2184400"/>
            <a:ext cx="4191000" cy="2349500"/>
          </a:xfrm>
          <a:prstGeom prst="rect">
            <a:avLst/>
          </a:prstGeom>
          <a:noFill/>
          <a:ln/>
        </p:spPr>
        <p:txBody>
          <a:bodyPr wrap="square" lIns="0" tIns="0" rIns="0" bIns="0" rtlCol="0" anchor="t"/>
          <a:lstStyle/>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Chiến dịch đã kết thúc</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Không đạt mục tiêu tài chính</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Nhận lại đúng số ETH đã góp</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Mỗi ngườii chỉ hoàn 1 lần</a:t>
            </a:r>
            <a:endParaRPr lang="en-US" sz="1600" dirty="0"/>
          </a:p>
        </p:txBody>
      </p:sp>
      <p:sp>
        <p:nvSpPr>
          <p:cNvPr id="16" name="Shape 14"/>
          <p:cNvSpPr/>
          <p:nvPr/>
        </p:nvSpPr>
        <p:spPr>
          <a:xfrm>
            <a:off x="10795000" y="1524000"/>
            <a:ext cx="4699000" cy="3175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17" name="Shape 15"/>
          <p:cNvSpPr/>
          <p:nvPr/>
        </p:nvSpPr>
        <p:spPr>
          <a:xfrm>
            <a:off x="11049000" y="1714500"/>
            <a:ext cx="355600" cy="355600"/>
          </a:xfrm>
          <a:custGeom>
            <a:avLst/>
            <a:gdLst/>
            <a:ahLst/>
            <a:cxnLst/>
            <a:rect l="l" t="t" r="r" b="b"/>
            <a:pathLst>
              <a:path w="355600" h="355600">
                <a:moveTo>
                  <a:pt x="44450" y="22225"/>
                </a:moveTo>
                <a:cubicBezTo>
                  <a:pt x="19933" y="22225"/>
                  <a:pt x="0" y="42158"/>
                  <a:pt x="0" y="66675"/>
                </a:cubicBezTo>
                <a:lnTo>
                  <a:pt x="0" y="266700"/>
                </a:lnTo>
                <a:cubicBezTo>
                  <a:pt x="0" y="291217"/>
                  <a:pt x="19933" y="311150"/>
                  <a:pt x="44450" y="311150"/>
                </a:cubicBezTo>
                <a:lnTo>
                  <a:pt x="311150" y="311150"/>
                </a:lnTo>
                <a:cubicBezTo>
                  <a:pt x="335667" y="311150"/>
                  <a:pt x="355600" y="291217"/>
                  <a:pt x="355600" y="266700"/>
                </a:cubicBezTo>
                <a:lnTo>
                  <a:pt x="355600" y="133350"/>
                </a:lnTo>
                <a:cubicBezTo>
                  <a:pt x="355600" y="108833"/>
                  <a:pt x="335667" y="88900"/>
                  <a:pt x="311150" y="88900"/>
                </a:cubicBezTo>
                <a:lnTo>
                  <a:pt x="50006" y="88900"/>
                </a:lnTo>
                <a:cubicBezTo>
                  <a:pt x="40769" y="88900"/>
                  <a:pt x="33337" y="81469"/>
                  <a:pt x="33337" y="72231"/>
                </a:cubicBezTo>
                <a:cubicBezTo>
                  <a:pt x="33337" y="62994"/>
                  <a:pt x="40769" y="55563"/>
                  <a:pt x="50006" y="55563"/>
                </a:cubicBezTo>
                <a:lnTo>
                  <a:pt x="316706" y="55563"/>
                </a:lnTo>
                <a:cubicBezTo>
                  <a:pt x="325944" y="55563"/>
                  <a:pt x="333375" y="48131"/>
                  <a:pt x="333375" y="38894"/>
                </a:cubicBezTo>
                <a:cubicBezTo>
                  <a:pt x="333375" y="29656"/>
                  <a:pt x="325944" y="22225"/>
                  <a:pt x="316706" y="22225"/>
                </a:cubicBezTo>
                <a:lnTo>
                  <a:pt x="44450" y="22225"/>
                </a:lnTo>
                <a:close/>
                <a:moveTo>
                  <a:pt x="288925" y="177800"/>
                </a:moveTo>
                <a:cubicBezTo>
                  <a:pt x="301191" y="177800"/>
                  <a:pt x="311150" y="187759"/>
                  <a:pt x="311150" y="200025"/>
                </a:cubicBezTo>
                <a:cubicBezTo>
                  <a:pt x="311150" y="212291"/>
                  <a:pt x="301191" y="222250"/>
                  <a:pt x="288925" y="222250"/>
                </a:cubicBezTo>
                <a:cubicBezTo>
                  <a:pt x="276659" y="222250"/>
                  <a:pt x="266700" y="212291"/>
                  <a:pt x="266700" y="200025"/>
                </a:cubicBezTo>
                <a:cubicBezTo>
                  <a:pt x="266700" y="187759"/>
                  <a:pt x="276659" y="177800"/>
                  <a:pt x="288925" y="177800"/>
                </a:cubicBezTo>
                <a:close/>
              </a:path>
            </a:pathLst>
          </a:custGeom>
          <a:solidFill>
            <a:srgbClr val="3B82F6"/>
          </a:solidFill>
          <a:ln/>
        </p:spPr>
      </p:sp>
      <p:sp>
        <p:nvSpPr>
          <p:cNvPr id="18" name="Text 16"/>
          <p:cNvSpPr/>
          <p:nvPr/>
        </p:nvSpPr>
        <p:spPr>
          <a:xfrm>
            <a:off x="11531600" y="1689100"/>
            <a:ext cx="3746500" cy="406400"/>
          </a:xfrm>
          <a:prstGeom prst="rect">
            <a:avLst/>
          </a:prstGeom>
          <a:noFill/>
          <a:ln/>
        </p:spPr>
        <p:txBody>
          <a:bodyPr wrap="none" lIns="0" tIns="0" rIns="0" bIns="0" rtlCol="0" anchor="ctr"/>
          <a:lstStyle/>
          <a:p>
            <a:pPr>
              <a:lnSpc>
                <a:spcPct val="100000"/>
              </a:lnSpc>
            </a:pPr>
            <a:r>
              <a:rPr lang="en-US" sz="1600" b="1" dirty="0">
                <a:solidFill>
                  <a:srgbClr val="1B3A5C"/>
                </a:solidFill>
                <a:latin typeface="Liter" pitchFamily="34" charset="0"/>
                <a:ea typeface="Liter" pitchFamily="34" charset="-122"/>
                <a:cs typeface="Liter" pitchFamily="34" charset="-120"/>
              </a:rPr>
              <a:t>e) Kết nối ví (MetaMask)</a:t>
            </a:r>
            <a:endParaRPr lang="en-US" sz="1600" dirty="0"/>
          </a:p>
        </p:txBody>
      </p:sp>
      <p:sp>
        <p:nvSpPr>
          <p:cNvPr id="19" name="Text 17"/>
          <p:cNvSpPr/>
          <p:nvPr/>
        </p:nvSpPr>
        <p:spPr>
          <a:xfrm>
            <a:off x="11049000" y="2184400"/>
            <a:ext cx="4191000" cy="2349500"/>
          </a:xfrm>
          <a:prstGeom prst="rect">
            <a:avLst/>
          </a:prstGeom>
          <a:noFill/>
          <a:ln/>
        </p:spPr>
        <p:txBody>
          <a:bodyPr wrap="square" lIns="0" tIns="0" rIns="0" bIns="0" rtlCol="0" anchor="t"/>
          <a:lstStyle/>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Xác </a:t>
            </a:r>
            <a:r>
              <a:rPr lang="en-US" sz="1400" dirty="0" err="1">
                <a:solidFill>
                  <a:srgbClr val="1E293B"/>
                </a:solidFill>
                <a:latin typeface="Quattrocento Sans" pitchFamily="34" charset="0"/>
                <a:ea typeface="Quattrocento Sans" pitchFamily="34" charset="-122"/>
                <a:cs typeface="Quattrocento Sans" pitchFamily="34" charset="-120"/>
              </a:rPr>
              <a:t>thực</a:t>
            </a:r>
            <a:r>
              <a:rPr lang="en-US" sz="1400" dirty="0">
                <a:solidFill>
                  <a:srgbClr val="1E293B"/>
                </a:solidFill>
                <a:latin typeface="Quattrocento Sans" pitchFamily="34" charset="0"/>
                <a:ea typeface="Quattrocento Sans" pitchFamily="34" charset="-122"/>
                <a:cs typeface="Quattrocento Sans" pitchFamily="34" charset="-120"/>
              </a:rPr>
              <a:t> </a:t>
            </a:r>
            <a:r>
              <a:rPr lang="en-US" sz="1400" dirty="0" err="1">
                <a:solidFill>
                  <a:srgbClr val="1E293B"/>
                </a:solidFill>
                <a:latin typeface="Quattrocento Sans" pitchFamily="34" charset="0"/>
                <a:ea typeface="Quattrocento Sans" pitchFamily="34" charset="-122"/>
                <a:cs typeface="Quattrocento Sans" pitchFamily="34" charset="-120"/>
              </a:rPr>
              <a:t>người</a:t>
            </a:r>
            <a:r>
              <a:rPr lang="en-US" sz="1400" dirty="0">
                <a:solidFill>
                  <a:srgbClr val="1E293B"/>
                </a:solidFill>
                <a:latin typeface="Quattrocento Sans" pitchFamily="34" charset="0"/>
                <a:ea typeface="Quattrocento Sans" pitchFamily="34" charset="-122"/>
                <a:cs typeface="Quattrocento Sans" pitchFamily="34" charset="-120"/>
              </a:rPr>
              <a:t> dùng</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Thực hiện giao dịch</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Đọc dữ liệu qua RPC (Infura)</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Không cần ví để xem dữ liệu</a:t>
            </a:r>
            <a:endParaRPr lang="en-US" sz="1600" dirty="0"/>
          </a:p>
        </p:txBody>
      </p:sp>
      <p:sp>
        <p:nvSpPr>
          <p:cNvPr id="20" name="Shape 18"/>
          <p:cNvSpPr/>
          <p:nvPr/>
        </p:nvSpPr>
        <p:spPr>
          <a:xfrm>
            <a:off x="762000" y="5016500"/>
            <a:ext cx="7175500" cy="3175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21" name="Shape 19"/>
          <p:cNvSpPr/>
          <p:nvPr/>
        </p:nvSpPr>
        <p:spPr>
          <a:xfrm>
            <a:off x="1016000" y="5207000"/>
            <a:ext cx="355600" cy="355600"/>
          </a:xfrm>
          <a:custGeom>
            <a:avLst/>
            <a:gdLst/>
            <a:ahLst/>
            <a:cxnLst/>
            <a:rect l="l" t="t" r="r" b="b"/>
            <a:pathLst>
              <a:path w="355600" h="355600">
                <a:moveTo>
                  <a:pt x="27781" y="33337"/>
                </a:moveTo>
                <a:cubicBezTo>
                  <a:pt x="18544" y="33337"/>
                  <a:pt x="11112" y="40769"/>
                  <a:pt x="11112" y="50006"/>
                </a:cubicBezTo>
                <a:lnTo>
                  <a:pt x="11112" y="83344"/>
                </a:lnTo>
                <a:cubicBezTo>
                  <a:pt x="11112" y="92581"/>
                  <a:pt x="18544" y="100013"/>
                  <a:pt x="27781" y="100013"/>
                </a:cubicBezTo>
                <a:lnTo>
                  <a:pt x="61119" y="100013"/>
                </a:lnTo>
                <a:cubicBezTo>
                  <a:pt x="70356" y="100013"/>
                  <a:pt x="77788" y="92581"/>
                  <a:pt x="77788" y="83344"/>
                </a:cubicBezTo>
                <a:lnTo>
                  <a:pt x="77788" y="50006"/>
                </a:lnTo>
                <a:cubicBezTo>
                  <a:pt x="77788" y="40769"/>
                  <a:pt x="70356" y="33337"/>
                  <a:pt x="61119" y="33337"/>
                </a:cubicBezTo>
                <a:lnTo>
                  <a:pt x="27781" y="33337"/>
                </a:lnTo>
                <a:close/>
                <a:moveTo>
                  <a:pt x="133350" y="44450"/>
                </a:moveTo>
                <a:cubicBezTo>
                  <a:pt x="121057" y="44450"/>
                  <a:pt x="111125" y="54382"/>
                  <a:pt x="111125" y="66675"/>
                </a:cubicBezTo>
                <a:cubicBezTo>
                  <a:pt x="111125" y="78968"/>
                  <a:pt x="121057" y="88900"/>
                  <a:pt x="133350" y="88900"/>
                </a:cubicBezTo>
                <a:lnTo>
                  <a:pt x="333375" y="88900"/>
                </a:lnTo>
                <a:cubicBezTo>
                  <a:pt x="345668" y="88900"/>
                  <a:pt x="355600" y="78968"/>
                  <a:pt x="355600" y="66675"/>
                </a:cubicBezTo>
                <a:cubicBezTo>
                  <a:pt x="355600" y="54382"/>
                  <a:pt x="345668" y="44450"/>
                  <a:pt x="333375" y="44450"/>
                </a:cubicBezTo>
                <a:lnTo>
                  <a:pt x="133350" y="44450"/>
                </a:lnTo>
                <a:close/>
                <a:moveTo>
                  <a:pt x="133350" y="155575"/>
                </a:moveTo>
                <a:cubicBezTo>
                  <a:pt x="121057" y="155575"/>
                  <a:pt x="111125" y="165507"/>
                  <a:pt x="111125" y="177800"/>
                </a:cubicBezTo>
                <a:cubicBezTo>
                  <a:pt x="111125" y="190093"/>
                  <a:pt x="121057" y="200025"/>
                  <a:pt x="133350" y="200025"/>
                </a:cubicBezTo>
                <a:lnTo>
                  <a:pt x="333375" y="200025"/>
                </a:lnTo>
                <a:cubicBezTo>
                  <a:pt x="345668" y="200025"/>
                  <a:pt x="355600" y="190093"/>
                  <a:pt x="355600" y="177800"/>
                </a:cubicBezTo>
                <a:cubicBezTo>
                  <a:pt x="355600" y="165507"/>
                  <a:pt x="345668" y="155575"/>
                  <a:pt x="333375" y="155575"/>
                </a:cubicBezTo>
                <a:lnTo>
                  <a:pt x="133350" y="155575"/>
                </a:lnTo>
                <a:close/>
                <a:moveTo>
                  <a:pt x="133350" y="266700"/>
                </a:moveTo>
                <a:cubicBezTo>
                  <a:pt x="121057" y="266700"/>
                  <a:pt x="111125" y="276632"/>
                  <a:pt x="111125" y="288925"/>
                </a:cubicBezTo>
                <a:cubicBezTo>
                  <a:pt x="111125" y="301218"/>
                  <a:pt x="121057" y="311150"/>
                  <a:pt x="133350" y="311150"/>
                </a:cubicBezTo>
                <a:lnTo>
                  <a:pt x="333375" y="311150"/>
                </a:lnTo>
                <a:cubicBezTo>
                  <a:pt x="345668" y="311150"/>
                  <a:pt x="355600" y="301218"/>
                  <a:pt x="355600" y="288925"/>
                </a:cubicBezTo>
                <a:cubicBezTo>
                  <a:pt x="355600" y="276632"/>
                  <a:pt x="345668" y="266700"/>
                  <a:pt x="333375" y="266700"/>
                </a:cubicBezTo>
                <a:lnTo>
                  <a:pt x="133350" y="266700"/>
                </a:lnTo>
                <a:close/>
                <a:moveTo>
                  <a:pt x="11112" y="161131"/>
                </a:moveTo>
                <a:lnTo>
                  <a:pt x="11112" y="194469"/>
                </a:lnTo>
                <a:cubicBezTo>
                  <a:pt x="11112" y="203706"/>
                  <a:pt x="18544" y="211138"/>
                  <a:pt x="27781" y="211138"/>
                </a:cubicBezTo>
                <a:lnTo>
                  <a:pt x="61119" y="211138"/>
                </a:lnTo>
                <a:cubicBezTo>
                  <a:pt x="70356" y="211138"/>
                  <a:pt x="77788" y="203706"/>
                  <a:pt x="77788" y="194469"/>
                </a:cubicBezTo>
                <a:lnTo>
                  <a:pt x="77788" y="161131"/>
                </a:lnTo>
                <a:cubicBezTo>
                  <a:pt x="77788" y="151894"/>
                  <a:pt x="70356" y="144463"/>
                  <a:pt x="61119" y="144463"/>
                </a:cubicBezTo>
                <a:lnTo>
                  <a:pt x="27781" y="144463"/>
                </a:lnTo>
                <a:cubicBezTo>
                  <a:pt x="18544" y="144463"/>
                  <a:pt x="11112" y="151894"/>
                  <a:pt x="11112" y="161131"/>
                </a:cubicBezTo>
                <a:close/>
                <a:moveTo>
                  <a:pt x="27781" y="255587"/>
                </a:moveTo>
                <a:cubicBezTo>
                  <a:pt x="18544" y="255587"/>
                  <a:pt x="11112" y="263019"/>
                  <a:pt x="11112" y="272256"/>
                </a:cubicBezTo>
                <a:lnTo>
                  <a:pt x="11112" y="305594"/>
                </a:lnTo>
                <a:cubicBezTo>
                  <a:pt x="11112" y="314831"/>
                  <a:pt x="18544" y="322263"/>
                  <a:pt x="27781" y="322263"/>
                </a:cubicBezTo>
                <a:lnTo>
                  <a:pt x="61119" y="322263"/>
                </a:lnTo>
                <a:cubicBezTo>
                  <a:pt x="70356" y="322263"/>
                  <a:pt x="77788" y="314831"/>
                  <a:pt x="77788" y="305594"/>
                </a:cubicBezTo>
                <a:lnTo>
                  <a:pt x="77788" y="272256"/>
                </a:lnTo>
                <a:cubicBezTo>
                  <a:pt x="77788" y="263019"/>
                  <a:pt x="70356" y="255587"/>
                  <a:pt x="61119" y="255587"/>
                </a:cubicBezTo>
                <a:lnTo>
                  <a:pt x="27781" y="255587"/>
                </a:lnTo>
                <a:close/>
              </a:path>
            </a:pathLst>
          </a:custGeom>
          <a:solidFill>
            <a:srgbClr val="3B82F6"/>
          </a:solidFill>
          <a:ln/>
        </p:spPr>
      </p:sp>
      <p:sp>
        <p:nvSpPr>
          <p:cNvPr id="22" name="Text 20"/>
          <p:cNvSpPr/>
          <p:nvPr/>
        </p:nvSpPr>
        <p:spPr>
          <a:xfrm>
            <a:off x="1498600" y="5181600"/>
            <a:ext cx="6184900" cy="406400"/>
          </a:xfrm>
          <a:prstGeom prst="rect">
            <a:avLst/>
          </a:prstGeom>
          <a:noFill/>
          <a:ln/>
        </p:spPr>
        <p:txBody>
          <a:bodyPr wrap="none" lIns="0" tIns="0" rIns="0" bIns="0" rtlCol="0" anchor="ctr"/>
          <a:lstStyle/>
          <a:p>
            <a:pPr>
              <a:lnSpc>
                <a:spcPct val="100000"/>
              </a:lnSpc>
            </a:pPr>
            <a:r>
              <a:rPr lang="en-US" sz="1600" b="1" dirty="0">
                <a:solidFill>
                  <a:srgbClr val="1B3A5C"/>
                </a:solidFill>
                <a:latin typeface="Liter" pitchFamily="34" charset="0"/>
                <a:ea typeface="Liter" pitchFamily="34" charset="-122"/>
                <a:cs typeface="Liter" pitchFamily="34" charset="-120"/>
              </a:rPr>
              <a:t>f) Hiển thị danh sách chiến dịch</a:t>
            </a:r>
            <a:endParaRPr lang="en-US" sz="1600" dirty="0"/>
          </a:p>
        </p:txBody>
      </p:sp>
      <p:sp>
        <p:nvSpPr>
          <p:cNvPr id="23" name="Text 21"/>
          <p:cNvSpPr/>
          <p:nvPr/>
        </p:nvSpPr>
        <p:spPr>
          <a:xfrm>
            <a:off x="1016000" y="5676900"/>
            <a:ext cx="6667500" cy="2349500"/>
          </a:xfrm>
          <a:prstGeom prst="rect">
            <a:avLst/>
          </a:prstGeom>
          <a:noFill/>
          <a:ln/>
        </p:spPr>
        <p:txBody>
          <a:bodyPr wrap="square" lIns="0" tIns="0" rIns="0" bIns="0" rtlCol="0" anchor="t"/>
          <a:lstStyle/>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Xem toàn bộ chiến dịch đã tạo</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Hiển thị: tên, </a:t>
            </a:r>
            <a:r>
              <a:rPr lang="en-US" sz="1400" dirty="0" err="1">
                <a:solidFill>
                  <a:srgbClr val="1E293B"/>
                </a:solidFill>
                <a:latin typeface="Quattrocento Sans" pitchFamily="34" charset="0"/>
                <a:ea typeface="Quattrocento Sans" pitchFamily="34" charset="-122"/>
                <a:cs typeface="Quattrocento Sans" pitchFamily="34" charset="-120"/>
              </a:rPr>
              <a:t>người</a:t>
            </a:r>
            <a:r>
              <a:rPr lang="en-US" sz="1400" dirty="0">
                <a:solidFill>
                  <a:srgbClr val="1E293B"/>
                </a:solidFill>
                <a:latin typeface="Quattrocento Sans" pitchFamily="34" charset="0"/>
                <a:ea typeface="Quattrocento Sans" pitchFamily="34" charset="-122"/>
                <a:cs typeface="Quattrocento Sans" pitchFamily="34" charset="-120"/>
              </a:rPr>
              <a:t> tạo, mục tiêu,</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số tiền đã góp, </a:t>
            </a:r>
            <a:r>
              <a:rPr lang="en-US" sz="1400" dirty="0" err="1">
                <a:solidFill>
                  <a:srgbClr val="1E293B"/>
                </a:solidFill>
                <a:latin typeface="Quattrocento Sans" pitchFamily="34" charset="0"/>
                <a:ea typeface="Quattrocento Sans" pitchFamily="34" charset="-122"/>
                <a:cs typeface="Quattrocento Sans" pitchFamily="34" charset="-120"/>
              </a:rPr>
              <a:t>thời</a:t>
            </a:r>
            <a:r>
              <a:rPr lang="en-US" sz="1400" dirty="0">
                <a:solidFill>
                  <a:srgbClr val="1E293B"/>
                </a:solidFill>
                <a:latin typeface="Quattrocento Sans" pitchFamily="34" charset="0"/>
                <a:ea typeface="Quattrocento Sans" pitchFamily="34" charset="-122"/>
                <a:cs typeface="Quattrocento Sans" pitchFamily="34" charset="-120"/>
              </a:rPr>
              <a:t> gian còn lại, trạng thái</a:t>
            </a:r>
            <a:endParaRPr lang="en-US" sz="1600" dirty="0"/>
          </a:p>
        </p:txBody>
      </p:sp>
      <p:sp>
        <p:nvSpPr>
          <p:cNvPr id="24" name="Shape 22"/>
          <p:cNvSpPr/>
          <p:nvPr/>
        </p:nvSpPr>
        <p:spPr>
          <a:xfrm>
            <a:off x="8318500" y="5016500"/>
            <a:ext cx="7175500" cy="3175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25" name="Shape 23"/>
          <p:cNvSpPr/>
          <p:nvPr/>
        </p:nvSpPr>
        <p:spPr>
          <a:xfrm>
            <a:off x="8550275" y="5207000"/>
            <a:ext cx="400050" cy="355600"/>
          </a:xfrm>
          <a:custGeom>
            <a:avLst/>
            <a:gdLst/>
            <a:ahLst/>
            <a:cxnLst/>
            <a:rect l="l" t="t" r="r" b="b"/>
            <a:pathLst>
              <a:path w="400050" h="355600">
                <a:moveTo>
                  <a:pt x="200025" y="22225"/>
                </a:moveTo>
                <a:cubicBezTo>
                  <a:pt x="143907" y="22225"/>
                  <a:pt x="98971" y="47784"/>
                  <a:pt x="66258" y="78204"/>
                </a:cubicBezTo>
                <a:cubicBezTo>
                  <a:pt x="33754" y="108416"/>
                  <a:pt x="12015" y="144463"/>
                  <a:pt x="1667" y="169257"/>
                </a:cubicBezTo>
                <a:cubicBezTo>
                  <a:pt x="-625" y="174744"/>
                  <a:pt x="-625" y="180856"/>
                  <a:pt x="1667" y="186343"/>
                </a:cubicBezTo>
                <a:cubicBezTo>
                  <a:pt x="12015" y="211138"/>
                  <a:pt x="33754" y="247253"/>
                  <a:pt x="66258" y="277396"/>
                </a:cubicBezTo>
                <a:cubicBezTo>
                  <a:pt x="98971" y="307747"/>
                  <a:pt x="143907" y="333375"/>
                  <a:pt x="200025" y="333375"/>
                </a:cubicBezTo>
                <a:cubicBezTo>
                  <a:pt x="256143" y="333375"/>
                  <a:pt x="301079" y="307816"/>
                  <a:pt x="333792" y="277396"/>
                </a:cubicBezTo>
                <a:cubicBezTo>
                  <a:pt x="366296" y="247184"/>
                  <a:pt x="388035" y="211138"/>
                  <a:pt x="398383" y="186343"/>
                </a:cubicBezTo>
                <a:cubicBezTo>
                  <a:pt x="400675" y="180856"/>
                  <a:pt x="400675" y="174744"/>
                  <a:pt x="398383" y="169257"/>
                </a:cubicBezTo>
                <a:cubicBezTo>
                  <a:pt x="388035" y="144462"/>
                  <a:pt x="366296" y="108347"/>
                  <a:pt x="333792" y="78204"/>
                </a:cubicBezTo>
                <a:cubicBezTo>
                  <a:pt x="301079" y="47853"/>
                  <a:pt x="256143" y="22225"/>
                  <a:pt x="200025" y="22225"/>
                </a:cubicBezTo>
                <a:close/>
                <a:moveTo>
                  <a:pt x="100013" y="177800"/>
                </a:moveTo>
                <a:cubicBezTo>
                  <a:pt x="100013" y="122602"/>
                  <a:pt x="144827" y="77788"/>
                  <a:pt x="200025" y="77788"/>
                </a:cubicBezTo>
                <a:cubicBezTo>
                  <a:pt x="255223" y="77788"/>
                  <a:pt x="300038" y="122602"/>
                  <a:pt x="300038" y="177800"/>
                </a:cubicBezTo>
                <a:cubicBezTo>
                  <a:pt x="300038" y="232998"/>
                  <a:pt x="255223" y="277813"/>
                  <a:pt x="200025" y="277813"/>
                </a:cubicBezTo>
                <a:cubicBezTo>
                  <a:pt x="144827" y="277813"/>
                  <a:pt x="100013" y="232998"/>
                  <a:pt x="100013" y="177800"/>
                </a:cubicBezTo>
                <a:close/>
                <a:moveTo>
                  <a:pt x="200025" y="133350"/>
                </a:moveTo>
                <a:cubicBezTo>
                  <a:pt x="200025" y="157867"/>
                  <a:pt x="180092" y="177800"/>
                  <a:pt x="155575" y="177800"/>
                </a:cubicBezTo>
                <a:cubicBezTo>
                  <a:pt x="147588" y="177800"/>
                  <a:pt x="140087" y="175716"/>
                  <a:pt x="133558" y="171966"/>
                </a:cubicBezTo>
                <a:cubicBezTo>
                  <a:pt x="132864" y="179536"/>
                  <a:pt x="133489" y="187315"/>
                  <a:pt x="135573" y="195024"/>
                </a:cubicBezTo>
                <a:cubicBezTo>
                  <a:pt x="145088" y="230584"/>
                  <a:pt x="181689" y="251698"/>
                  <a:pt x="217249" y="242183"/>
                </a:cubicBezTo>
                <a:cubicBezTo>
                  <a:pt x="252809" y="232668"/>
                  <a:pt x="273923" y="196066"/>
                  <a:pt x="264408" y="160506"/>
                </a:cubicBezTo>
                <a:cubicBezTo>
                  <a:pt x="255935" y="128766"/>
                  <a:pt x="225862" y="108555"/>
                  <a:pt x="194191" y="111333"/>
                </a:cubicBezTo>
                <a:cubicBezTo>
                  <a:pt x="197872" y="117793"/>
                  <a:pt x="200025" y="125293"/>
                  <a:pt x="200025" y="133350"/>
                </a:cubicBezTo>
                <a:close/>
              </a:path>
            </a:pathLst>
          </a:custGeom>
          <a:solidFill>
            <a:srgbClr val="3B82F6"/>
          </a:solidFill>
          <a:ln/>
        </p:spPr>
      </p:sp>
      <p:sp>
        <p:nvSpPr>
          <p:cNvPr id="26" name="Text 24"/>
          <p:cNvSpPr/>
          <p:nvPr/>
        </p:nvSpPr>
        <p:spPr>
          <a:xfrm>
            <a:off x="9055100" y="5181600"/>
            <a:ext cx="6184900" cy="406400"/>
          </a:xfrm>
          <a:prstGeom prst="rect">
            <a:avLst/>
          </a:prstGeom>
          <a:noFill/>
          <a:ln/>
        </p:spPr>
        <p:txBody>
          <a:bodyPr wrap="none" lIns="0" tIns="0" rIns="0" bIns="0" rtlCol="0" anchor="ctr"/>
          <a:lstStyle/>
          <a:p>
            <a:pPr>
              <a:lnSpc>
                <a:spcPct val="100000"/>
              </a:lnSpc>
            </a:pPr>
            <a:r>
              <a:rPr lang="en-US" sz="1600" b="1" dirty="0">
                <a:solidFill>
                  <a:srgbClr val="1B3A5C"/>
                </a:solidFill>
                <a:latin typeface="Liter" pitchFamily="34" charset="0"/>
                <a:ea typeface="Liter" pitchFamily="34" charset="-122"/>
                <a:cs typeface="Liter" pitchFamily="34" charset="-120"/>
              </a:rPr>
              <a:t>g) Xem chi tiết chiến dịch</a:t>
            </a:r>
            <a:endParaRPr lang="en-US" sz="1600" dirty="0"/>
          </a:p>
        </p:txBody>
      </p:sp>
      <p:sp>
        <p:nvSpPr>
          <p:cNvPr id="27" name="Text 25"/>
          <p:cNvSpPr/>
          <p:nvPr/>
        </p:nvSpPr>
        <p:spPr>
          <a:xfrm>
            <a:off x="8572500" y="5676900"/>
            <a:ext cx="6667500" cy="2349500"/>
          </a:xfrm>
          <a:prstGeom prst="rect">
            <a:avLst/>
          </a:prstGeom>
          <a:noFill/>
          <a:ln/>
        </p:spPr>
        <p:txBody>
          <a:bodyPr wrap="square" lIns="0" tIns="0" rIns="0" bIns="0" rtlCol="0" anchor="t"/>
          <a:lstStyle/>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Thông tin đầy đủ chiến dịch</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Lịch sử đóng góp (event Pledged)</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Lịch sử rút tiền (event Claimed)</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Lịch sử hoàn tiền (event Refunded)</a:t>
            </a:r>
            <a:endParaRPr lang="en-US" sz="1600" dirty="0"/>
          </a:p>
        </p:txBody>
      </p:sp>
      <p:sp>
        <p:nvSpPr>
          <p:cNvPr id="28" name="Text 26"/>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400" dirty="0">
                <a:solidFill>
                  <a:srgbClr val="64748B"/>
                </a:solidFill>
                <a:latin typeface="QuattrocentoSans" pitchFamily="34" charset="0"/>
                <a:ea typeface="QuattrocentoSans" pitchFamily="34" charset="-122"/>
                <a:cs typeface="QuattrocentoSans" pitchFamily="34" charset="-120"/>
              </a:rPr>
              <a:t>06</a:t>
            </a:r>
            <a:endParaRPr lang="en-US" sz="14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B3A5C"/>
          </a:solidFill>
          <a:ln/>
        </p:spPr>
      </p:sp>
      <p:sp>
        <p:nvSpPr>
          <p:cNvPr id="3" name="Text 1"/>
          <p:cNvSpPr/>
          <p:nvPr/>
        </p:nvSpPr>
        <p:spPr>
          <a:xfrm>
            <a:off x="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FFFFFF"/>
                </a:solidFill>
                <a:latin typeface="Liter" pitchFamily="34" charset="0"/>
                <a:ea typeface="Liter" pitchFamily="34" charset="-122"/>
                <a:cs typeface="Liter" pitchFamily="34" charset="-120"/>
              </a:rPr>
              <a:t>PHÂN TÍCH VÀ THIẾT KẾ</a:t>
            </a:r>
            <a:endParaRPr lang="en-US" sz="1300" dirty="0"/>
          </a:p>
        </p:txBody>
      </p:sp>
      <p:sp>
        <p:nvSpPr>
          <p:cNvPr id="4" name="Text 2"/>
          <p:cNvSpPr/>
          <p:nvPr/>
        </p:nvSpPr>
        <p:spPr>
          <a:xfrm>
            <a:off x="812800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94A3B8"/>
                </a:solidFill>
                <a:latin typeface="Liter" pitchFamily="34" charset="0"/>
                <a:ea typeface="Liter" pitchFamily="34" charset="-122"/>
                <a:cs typeface="Liter" pitchFamily="34" charset="-120"/>
              </a:rPr>
              <a:t>XÂY DỰNG VÀ TRIỂN KHAI</a:t>
            </a:r>
            <a:endParaRPr lang="en-US" sz="1300" dirty="0"/>
          </a:p>
        </p:txBody>
      </p:sp>
      <p:sp>
        <p:nvSpPr>
          <p:cNvPr id="5" name="Shape 3"/>
          <p:cNvSpPr/>
          <p:nvPr/>
        </p:nvSpPr>
        <p:spPr>
          <a:xfrm>
            <a:off x="0" y="558800"/>
            <a:ext cx="8128000" cy="50800"/>
          </a:xfrm>
          <a:prstGeom prst="rect">
            <a:avLst/>
          </a:prstGeom>
          <a:solidFill>
            <a:srgbClr val="3B82F6"/>
          </a:solidFill>
          <a:ln/>
        </p:spPr>
      </p:sp>
      <p:sp>
        <p:nvSpPr>
          <p:cNvPr id="6" name="Shape 4"/>
          <p:cNvSpPr/>
          <p:nvPr/>
        </p:nvSpPr>
        <p:spPr>
          <a:xfrm>
            <a:off x="762000" y="863600"/>
            <a:ext cx="63500" cy="406400"/>
          </a:xfrm>
          <a:prstGeom prst="rect">
            <a:avLst/>
          </a:prstGeom>
          <a:solidFill>
            <a:srgbClr val="3B82F6"/>
          </a:solidFill>
          <a:ln/>
        </p:spPr>
      </p:sp>
      <p:sp>
        <p:nvSpPr>
          <p:cNvPr id="7" name="Text 5"/>
          <p:cNvSpPr/>
          <p:nvPr/>
        </p:nvSpPr>
        <p:spPr>
          <a:xfrm>
            <a:off x="990600" y="825500"/>
            <a:ext cx="10160000" cy="482600"/>
          </a:xfrm>
          <a:prstGeom prst="rect">
            <a:avLst/>
          </a:prstGeom>
          <a:noFill/>
          <a:ln/>
        </p:spPr>
        <p:txBody>
          <a:bodyPr wrap="none" lIns="0" tIns="0" rIns="0" bIns="0" rtlCol="0" anchor="ctr"/>
          <a:lstStyle/>
          <a:p>
            <a:pPr>
              <a:lnSpc>
                <a:spcPct val="130000"/>
              </a:lnSpc>
            </a:pPr>
            <a:r>
              <a:rPr lang="en-US" sz="2800" dirty="0">
                <a:solidFill>
                  <a:srgbClr val="1B3A5C"/>
                </a:solidFill>
                <a:latin typeface="Liter" pitchFamily="34" charset="0"/>
                <a:ea typeface="Liter" pitchFamily="34" charset="-122"/>
                <a:cs typeface="Liter" pitchFamily="34" charset="-120"/>
              </a:rPr>
              <a:t>2.2.2 Yêu cầu phi chức năng</a:t>
            </a:r>
            <a:endParaRPr lang="en-US" sz="2800" dirty="0"/>
          </a:p>
        </p:txBody>
      </p:sp>
      <p:sp>
        <p:nvSpPr>
          <p:cNvPr id="8" name="Shape 6"/>
          <p:cNvSpPr/>
          <p:nvPr/>
        </p:nvSpPr>
        <p:spPr>
          <a:xfrm>
            <a:off x="762000" y="1587500"/>
            <a:ext cx="4699000" cy="3048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9" name="Shape 7"/>
          <p:cNvSpPr/>
          <p:nvPr/>
        </p:nvSpPr>
        <p:spPr>
          <a:xfrm>
            <a:off x="990600" y="1803400"/>
            <a:ext cx="457200" cy="406400"/>
          </a:xfrm>
          <a:custGeom>
            <a:avLst/>
            <a:gdLst/>
            <a:ahLst/>
            <a:cxnLst/>
            <a:rect l="l" t="t" r="r" b="b"/>
            <a:pathLst>
              <a:path w="457200" h="406400">
                <a:moveTo>
                  <a:pt x="228600" y="25400"/>
                </a:moveTo>
                <a:cubicBezTo>
                  <a:pt x="164465" y="25400"/>
                  <a:pt x="113109" y="54610"/>
                  <a:pt x="75724" y="89376"/>
                </a:cubicBezTo>
                <a:cubicBezTo>
                  <a:pt x="38576" y="123904"/>
                  <a:pt x="13732" y="165100"/>
                  <a:pt x="1905" y="193437"/>
                </a:cubicBezTo>
                <a:cubicBezTo>
                  <a:pt x="-714" y="199708"/>
                  <a:pt x="-714" y="206692"/>
                  <a:pt x="1905" y="212963"/>
                </a:cubicBezTo>
                <a:cubicBezTo>
                  <a:pt x="13732" y="241300"/>
                  <a:pt x="38576" y="282575"/>
                  <a:pt x="75724" y="317024"/>
                </a:cubicBezTo>
                <a:cubicBezTo>
                  <a:pt x="113109" y="351711"/>
                  <a:pt x="164465" y="381000"/>
                  <a:pt x="228600" y="381000"/>
                </a:cubicBezTo>
                <a:cubicBezTo>
                  <a:pt x="292735" y="381000"/>
                  <a:pt x="344091" y="351790"/>
                  <a:pt x="381476" y="317024"/>
                </a:cubicBezTo>
                <a:cubicBezTo>
                  <a:pt x="418624" y="282496"/>
                  <a:pt x="443468" y="241300"/>
                  <a:pt x="455295" y="212963"/>
                </a:cubicBezTo>
                <a:cubicBezTo>
                  <a:pt x="457914" y="206692"/>
                  <a:pt x="457914" y="199707"/>
                  <a:pt x="455295" y="193437"/>
                </a:cubicBezTo>
                <a:cubicBezTo>
                  <a:pt x="443468" y="165100"/>
                  <a:pt x="418624" y="123825"/>
                  <a:pt x="381476" y="89376"/>
                </a:cubicBezTo>
                <a:cubicBezTo>
                  <a:pt x="344091" y="54689"/>
                  <a:pt x="292735" y="25400"/>
                  <a:pt x="228600" y="25400"/>
                </a:cubicBezTo>
                <a:close/>
                <a:moveTo>
                  <a:pt x="114300" y="203200"/>
                </a:moveTo>
                <a:cubicBezTo>
                  <a:pt x="114300" y="140116"/>
                  <a:pt x="165516" y="88900"/>
                  <a:pt x="228600" y="88900"/>
                </a:cubicBezTo>
                <a:cubicBezTo>
                  <a:pt x="291684" y="88900"/>
                  <a:pt x="342900" y="140116"/>
                  <a:pt x="342900" y="203200"/>
                </a:cubicBezTo>
                <a:cubicBezTo>
                  <a:pt x="342900" y="266284"/>
                  <a:pt x="291684" y="317500"/>
                  <a:pt x="228600" y="317500"/>
                </a:cubicBezTo>
                <a:cubicBezTo>
                  <a:pt x="165516" y="317500"/>
                  <a:pt x="114300" y="266284"/>
                  <a:pt x="114300" y="203200"/>
                </a:cubicBezTo>
                <a:close/>
                <a:moveTo>
                  <a:pt x="228600" y="152400"/>
                </a:moveTo>
                <a:cubicBezTo>
                  <a:pt x="228600" y="180419"/>
                  <a:pt x="205819" y="203200"/>
                  <a:pt x="177800" y="203200"/>
                </a:cubicBezTo>
                <a:cubicBezTo>
                  <a:pt x="168672" y="203200"/>
                  <a:pt x="160099" y="200819"/>
                  <a:pt x="152638" y="196533"/>
                </a:cubicBezTo>
                <a:cubicBezTo>
                  <a:pt x="151844" y="205184"/>
                  <a:pt x="152559" y="214074"/>
                  <a:pt x="154940" y="222885"/>
                </a:cubicBezTo>
                <a:cubicBezTo>
                  <a:pt x="165814" y="263525"/>
                  <a:pt x="207645" y="287655"/>
                  <a:pt x="248285" y="276781"/>
                </a:cubicBezTo>
                <a:cubicBezTo>
                  <a:pt x="288925" y="265906"/>
                  <a:pt x="313055" y="224076"/>
                  <a:pt x="302181" y="183436"/>
                </a:cubicBezTo>
                <a:cubicBezTo>
                  <a:pt x="292497" y="147161"/>
                  <a:pt x="258128" y="124063"/>
                  <a:pt x="221933" y="127238"/>
                </a:cubicBezTo>
                <a:cubicBezTo>
                  <a:pt x="226139" y="134620"/>
                  <a:pt x="228600" y="143193"/>
                  <a:pt x="228600" y="152400"/>
                </a:cubicBezTo>
                <a:close/>
              </a:path>
            </a:pathLst>
          </a:custGeom>
          <a:solidFill>
            <a:srgbClr val="3B82F6"/>
          </a:solidFill>
          <a:ln/>
        </p:spPr>
      </p:sp>
      <p:sp>
        <p:nvSpPr>
          <p:cNvPr id="10" name="Text 8"/>
          <p:cNvSpPr/>
          <p:nvPr/>
        </p:nvSpPr>
        <p:spPr>
          <a:xfrm>
            <a:off x="1587500" y="1778000"/>
            <a:ext cx="3619500" cy="457200"/>
          </a:xfrm>
          <a:prstGeom prst="rect">
            <a:avLst/>
          </a:prstGeom>
          <a:noFill/>
          <a:ln/>
        </p:spPr>
        <p:txBody>
          <a:bodyPr wrap="none" lIns="0" tIns="0" rIns="0" bIns="0" rtlCol="0" anchor="ctr"/>
          <a:lstStyle/>
          <a:p>
            <a:pPr>
              <a:lnSpc>
                <a:spcPct val="100000"/>
              </a:lnSpc>
            </a:pPr>
            <a:r>
              <a:rPr lang="en-US" sz="1800" b="1" dirty="0">
                <a:solidFill>
                  <a:srgbClr val="1B3A5C"/>
                </a:solidFill>
                <a:latin typeface="Liter" pitchFamily="34" charset="0"/>
                <a:ea typeface="Liter" pitchFamily="34" charset="-122"/>
                <a:cs typeface="Liter" pitchFamily="34" charset="-120"/>
              </a:rPr>
              <a:t>Tính minh bạch</a:t>
            </a:r>
            <a:endParaRPr lang="en-US" sz="1600" dirty="0"/>
          </a:p>
        </p:txBody>
      </p:sp>
      <p:sp>
        <p:nvSpPr>
          <p:cNvPr id="11" name="Text 9"/>
          <p:cNvSpPr/>
          <p:nvPr/>
        </p:nvSpPr>
        <p:spPr>
          <a:xfrm>
            <a:off x="1016000" y="2349500"/>
            <a:ext cx="4191000" cy="2032000"/>
          </a:xfrm>
          <a:prstGeom prst="rect">
            <a:avLst/>
          </a:prstGeom>
          <a:noFill/>
          <a:ln/>
        </p:spPr>
        <p:txBody>
          <a:bodyPr wrap="square" lIns="0" tIns="0" rIns="0" bIns="0" rtlCol="0" anchor="t"/>
          <a:lstStyle/>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Mọi giao dịch đều được ghi nhận trên Blockchain và có thể kiểm tra công khai.</a:t>
            </a:r>
            <a:endParaRPr lang="en-US" sz="1600" dirty="0"/>
          </a:p>
        </p:txBody>
      </p:sp>
      <p:sp>
        <p:nvSpPr>
          <p:cNvPr id="12" name="Shape 10"/>
          <p:cNvSpPr/>
          <p:nvPr/>
        </p:nvSpPr>
        <p:spPr>
          <a:xfrm>
            <a:off x="5778500" y="1587500"/>
            <a:ext cx="4699000" cy="3048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13" name="Shape 11"/>
          <p:cNvSpPr/>
          <p:nvPr/>
        </p:nvSpPr>
        <p:spPr>
          <a:xfrm>
            <a:off x="6032500" y="1803400"/>
            <a:ext cx="406400" cy="406400"/>
          </a:xfrm>
          <a:custGeom>
            <a:avLst/>
            <a:gdLst/>
            <a:ahLst/>
            <a:cxnLst/>
            <a:rect l="l" t="t" r="r" b="b"/>
            <a:pathLst>
              <a:path w="406400" h="406400">
                <a:moveTo>
                  <a:pt x="203200" y="0"/>
                </a:moveTo>
                <a:cubicBezTo>
                  <a:pt x="206851" y="0"/>
                  <a:pt x="210503" y="794"/>
                  <a:pt x="213836" y="2302"/>
                </a:cubicBezTo>
                <a:lnTo>
                  <a:pt x="363379" y="65723"/>
                </a:lnTo>
                <a:cubicBezTo>
                  <a:pt x="380841" y="73104"/>
                  <a:pt x="393859" y="90329"/>
                  <a:pt x="393779" y="111125"/>
                </a:cubicBezTo>
                <a:cubicBezTo>
                  <a:pt x="393383" y="189865"/>
                  <a:pt x="360998" y="333931"/>
                  <a:pt x="224234" y="399415"/>
                </a:cubicBezTo>
                <a:cubicBezTo>
                  <a:pt x="210979" y="405765"/>
                  <a:pt x="195580" y="405765"/>
                  <a:pt x="182324" y="399415"/>
                </a:cubicBezTo>
                <a:cubicBezTo>
                  <a:pt x="45482" y="333931"/>
                  <a:pt x="13176" y="189865"/>
                  <a:pt x="12779" y="111125"/>
                </a:cubicBezTo>
                <a:cubicBezTo>
                  <a:pt x="12700" y="90329"/>
                  <a:pt x="25717" y="73104"/>
                  <a:pt x="43180" y="65723"/>
                </a:cubicBezTo>
                <a:lnTo>
                  <a:pt x="192643" y="2302"/>
                </a:lnTo>
                <a:cubicBezTo>
                  <a:pt x="195977" y="794"/>
                  <a:pt x="199549" y="0"/>
                  <a:pt x="203200" y="0"/>
                </a:cubicBezTo>
                <a:close/>
                <a:moveTo>
                  <a:pt x="203200" y="53022"/>
                </a:moveTo>
                <a:lnTo>
                  <a:pt x="203200" y="353139"/>
                </a:lnTo>
                <a:cubicBezTo>
                  <a:pt x="312738" y="300117"/>
                  <a:pt x="342186" y="182642"/>
                  <a:pt x="342900" y="112316"/>
                </a:cubicBezTo>
                <a:lnTo>
                  <a:pt x="203200" y="53102"/>
                </a:lnTo>
                <a:lnTo>
                  <a:pt x="203200" y="53102"/>
                </a:lnTo>
                <a:close/>
              </a:path>
            </a:pathLst>
          </a:custGeom>
          <a:solidFill>
            <a:srgbClr val="3B82F6"/>
          </a:solidFill>
          <a:ln/>
        </p:spPr>
      </p:sp>
      <p:sp>
        <p:nvSpPr>
          <p:cNvPr id="14" name="Text 12"/>
          <p:cNvSpPr/>
          <p:nvPr/>
        </p:nvSpPr>
        <p:spPr>
          <a:xfrm>
            <a:off x="6604000" y="1778000"/>
            <a:ext cx="3619500" cy="457200"/>
          </a:xfrm>
          <a:prstGeom prst="rect">
            <a:avLst/>
          </a:prstGeom>
          <a:noFill/>
          <a:ln/>
        </p:spPr>
        <p:txBody>
          <a:bodyPr wrap="none" lIns="0" tIns="0" rIns="0" bIns="0" rtlCol="0" anchor="ctr"/>
          <a:lstStyle/>
          <a:p>
            <a:pPr>
              <a:lnSpc>
                <a:spcPct val="100000"/>
              </a:lnSpc>
            </a:pPr>
            <a:r>
              <a:rPr lang="en-US" sz="1800" b="1" dirty="0">
                <a:solidFill>
                  <a:srgbClr val="1B3A5C"/>
                </a:solidFill>
                <a:latin typeface="Liter" pitchFamily="34" charset="0"/>
                <a:ea typeface="Liter" pitchFamily="34" charset="-122"/>
                <a:cs typeface="Liter" pitchFamily="34" charset="-120"/>
              </a:rPr>
              <a:t>Tính bảo mật</a:t>
            </a:r>
            <a:endParaRPr lang="en-US" sz="1600" dirty="0"/>
          </a:p>
        </p:txBody>
      </p:sp>
      <p:sp>
        <p:nvSpPr>
          <p:cNvPr id="15" name="Text 13"/>
          <p:cNvSpPr/>
          <p:nvPr/>
        </p:nvSpPr>
        <p:spPr>
          <a:xfrm>
            <a:off x="6032500" y="2349500"/>
            <a:ext cx="4191000" cy="2032000"/>
          </a:xfrm>
          <a:prstGeom prst="rect">
            <a:avLst/>
          </a:prstGeom>
          <a:noFill/>
          <a:ln/>
        </p:spPr>
        <p:txBody>
          <a:bodyPr wrap="square" lIns="0" tIns="0" rIns="0" bIns="0" rtlCol="0" anchor="t"/>
          <a:lstStyle/>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Dữ liệu không thể bị chỉnh sửa hoặc giả mạo sau khi được xác nhận trên Blockchain.</a:t>
            </a:r>
            <a:endParaRPr lang="en-US" sz="1600" dirty="0"/>
          </a:p>
        </p:txBody>
      </p:sp>
      <p:sp>
        <p:nvSpPr>
          <p:cNvPr id="16" name="Shape 14"/>
          <p:cNvSpPr/>
          <p:nvPr/>
        </p:nvSpPr>
        <p:spPr>
          <a:xfrm>
            <a:off x="10795000" y="1587500"/>
            <a:ext cx="4699000" cy="3048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17" name="Shape 15"/>
          <p:cNvSpPr/>
          <p:nvPr/>
        </p:nvSpPr>
        <p:spPr>
          <a:xfrm>
            <a:off x="10998200" y="1803400"/>
            <a:ext cx="508000" cy="406400"/>
          </a:xfrm>
          <a:custGeom>
            <a:avLst/>
            <a:gdLst/>
            <a:ahLst/>
            <a:cxnLst/>
            <a:rect l="l" t="t" r="r" b="b"/>
            <a:pathLst>
              <a:path w="508000" h="406400">
                <a:moveTo>
                  <a:pt x="330121" y="167084"/>
                </a:moveTo>
                <a:cubicBezTo>
                  <a:pt x="339804" y="164465"/>
                  <a:pt x="349964" y="169069"/>
                  <a:pt x="354330" y="178038"/>
                </a:cubicBezTo>
                <a:lnTo>
                  <a:pt x="369094" y="207883"/>
                </a:lnTo>
                <a:cubicBezTo>
                  <a:pt x="377269" y="208994"/>
                  <a:pt x="385286" y="211217"/>
                  <a:pt x="392827" y="214313"/>
                </a:cubicBezTo>
                <a:lnTo>
                  <a:pt x="420608" y="195818"/>
                </a:lnTo>
                <a:cubicBezTo>
                  <a:pt x="428943" y="190262"/>
                  <a:pt x="439976" y="191373"/>
                  <a:pt x="447040" y="198438"/>
                </a:cubicBezTo>
                <a:lnTo>
                  <a:pt x="462280" y="213678"/>
                </a:lnTo>
                <a:cubicBezTo>
                  <a:pt x="469344" y="220742"/>
                  <a:pt x="470456" y="231854"/>
                  <a:pt x="464899" y="240109"/>
                </a:cubicBezTo>
                <a:lnTo>
                  <a:pt x="446405" y="267811"/>
                </a:lnTo>
                <a:cubicBezTo>
                  <a:pt x="447913" y="271542"/>
                  <a:pt x="449263" y="275431"/>
                  <a:pt x="450374" y="279479"/>
                </a:cubicBezTo>
                <a:cubicBezTo>
                  <a:pt x="451485" y="283528"/>
                  <a:pt x="452199" y="287496"/>
                  <a:pt x="452755" y="291544"/>
                </a:cubicBezTo>
                <a:lnTo>
                  <a:pt x="482679" y="306308"/>
                </a:lnTo>
                <a:cubicBezTo>
                  <a:pt x="491649" y="310753"/>
                  <a:pt x="496253" y="320913"/>
                  <a:pt x="493633" y="330518"/>
                </a:cubicBezTo>
                <a:lnTo>
                  <a:pt x="488077" y="351314"/>
                </a:lnTo>
                <a:cubicBezTo>
                  <a:pt x="485458" y="360918"/>
                  <a:pt x="476488" y="367427"/>
                  <a:pt x="466487" y="366792"/>
                </a:cubicBezTo>
                <a:lnTo>
                  <a:pt x="433149" y="364649"/>
                </a:lnTo>
                <a:cubicBezTo>
                  <a:pt x="428149" y="371078"/>
                  <a:pt x="422354" y="377031"/>
                  <a:pt x="415766" y="382111"/>
                </a:cubicBezTo>
                <a:lnTo>
                  <a:pt x="417909" y="415369"/>
                </a:lnTo>
                <a:cubicBezTo>
                  <a:pt x="418544" y="425371"/>
                  <a:pt x="412036" y="434419"/>
                  <a:pt x="402431" y="436959"/>
                </a:cubicBezTo>
                <a:lnTo>
                  <a:pt x="381635" y="442516"/>
                </a:lnTo>
                <a:cubicBezTo>
                  <a:pt x="371951" y="445135"/>
                  <a:pt x="361871" y="440531"/>
                  <a:pt x="357426" y="431562"/>
                </a:cubicBezTo>
                <a:lnTo>
                  <a:pt x="342662" y="401717"/>
                </a:lnTo>
                <a:cubicBezTo>
                  <a:pt x="334486" y="400606"/>
                  <a:pt x="326469" y="398383"/>
                  <a:pt x="318929" y="395288"/>
                </a:cubicBezTo>
                <a:lnTo>
                  <a:pt x="291148" y="413782"/>
                </a:lnTo>
                <a:cubicBezTo>
                  <a:pt x="282813" y="419338"/>
                  <a:pt x="271780" y="418227"/>
                  <a:pt x="264716" y="411163"/>
                </a:cubicBezTo>
                <a:lnTo>
                  <a:pt x="249476" y="395923"/>
                </a:lnTo>
                <a:cubicBezTo>
                  <a:pt x="242411" y="388858"/>
                  <a:pt x="241300" y="377825"/>
                  <a:pt x="246856" y="369491"/>
                </a:cubicBezTo>
                <a:lnTo>
                  <a:pt x="265351" y="341709"/>
                </a:lnTo>
                <a:cubicBezTo>
                  <a:pt x="263843" y="337979"/>
                  <a:pt x="262493" y="334089"/>
                  <a:pt x="261382" y="330041"/>
                </a:cubicBezTo>
                <a:cubicBezTo>
                  <a:pt x="260271" y="325993"/>
                  <a:pt x="259556" y="321945"/>
                  <a:pt x="259001" y="317976"/>
                </a:cubicBezTo>
                <a:lnTo>
                  <a:pt x="229076" y="303213"/>
                </a:lnTo>
                <a:cubicBezTo>
                  <a:pt x="220107" y="298768"/>
                  <a:pt x="215583" y="288608"/>
                  <a:pt x="218123" y="279003"/>
                </a:cubicBezTo>
                <a:lnTo>
                  <a:pt x="223679" y="258207"/>
                </a:lnTo>
                <a:cubicBezTo>
                  <a:pt x="226298" y="248602"/>
                  <a:pt x="235268" y="242094"/>
                  <a:pt x="245269" y="242729"/>
                </a:cubicBezTo>
                <a:lnTo>
                  <a:pt x="278527" y="244872"/>
                </a:lnTo>
                <a:cubicBezTo>
                  <a:pt x="283528" y="238442"/>
                  <a:pt x="289322" y="232489"/>
                  <a:pt x="295910" y="227409"/>
                </a:cubicBezTo>
                <a:lnTo>
                  <a:pt x="293767" y="194231"/>
                </a:lnTo>
                <a:cubicBezTo>
                  <a:pt x="293132" y="184229"/>
                  <a:pt x="299641" y="175181"/>
                  <a:pt x="309245" y="172641"/>
                </a:cubicBezTo>
                <a:lnTo>
                  <a:pt x="330041" y="167084"/>
                </a:lnTo>
                <a:close/>
                <a:moveTo>
                  <a:pt x="355918" y="269875"/>
                </a:moveTo>
                <a:cubicBezTo>
                  <a:pt x="336642" y="269897"/>
                  <a:pt x="321010" y="285564"/>
                  <a:pt x="321032" y="304840"/>
                </a:cubicBezTo>
                <a:cubicBezTo>
                  <a:pt x="321054" y="324115"/>
                  <a:pt x="336721" y="339747"/>
                  <a:pt x="355997" y="339725"/>
                </a:cubicBezTo>
                <a:cubicBezTo>
                  <a:pt x="375273" y="339703"/>
                  <a:pt x="390904" y="324036"/>
                  <a:pt x="390882" y="304760"/>
                </a:cubicBezTo>
                <a:cubicBezTo>
                  <a:pt x="390860" y="285485"/>
                  <a:pt x="375193" y="269853"/>
                  <a:pt x="355918" y="269875"/>
                </a:cubicBezTo>
                <a:close/>
                <a:moveTo>
                  <a:pt x="178514" y="-36116"/>
                </a:moveTo>
                <a:lnTo>
                  <a:pt x="199311" y="-30559"/>
                </a:lnTo>
                <a:cubicBezTo>
                  <a:pt x="208915" y="-27940"/>
                  <a:pt x="215424" y="-18891"/>
                  <a:pt x="214789" y="-8969"/>
                </a:cubicBezTo>
                <a:lnTo>
                  <a:pt x="212646" y="24209"/>
                </a:lnTo>
                <a:cubicBezTo>
                  <a:pt x="219234" y="29289"/>
                  <a:pt x="225028" y="35163"/>
                  <a:pt x="230029" y="41672"/>
                </a:cubicBezTo>
                <a:lnTo>
                  <a:pt x="263366" y="39529"/>
                </a:lnTo>
                <a:cubicBezTo>
                  <a:pt x="273288" y="38894"/>
                  <a:pt x="282337" y="45403"/>
                  <a:pt x="284956" y="55007"/>
                </a:cubicBezTo>
                <a:lnTo>
                  <a:pt x="290513" y="75803"/>
                </a:lnTo>
                <a:cubicBezTo>
                  <a:pt x="293053" y="85408"/>
                  <a:pt x="288528" y="95568"/>
                  <a:pt x="279559" y="100013"/>
                </a:cubicBezTo>
                <a:lnTo>
                  <a:pt x="249634" y="114776"/>
                </a:lnTo>
                <a:cubicBezTo>
                  <a:pt x="249079" y="118824"/>
                  <a:pt x="248285" y="122873"/>
                  <a:pt x="247253" y="126841"/>
                </a:cubicBezTo>
                <a:cubicBezTo>
                  <a:pt x="246221" y="130810"/>
                  <a:pt x="244793" y="134779"/>
                  <a:pt x="243284" y="138509"/>
                </a:cubicBezTo>
                <a:lnTo>
                  <a:pt x="261779" y="166291"/>
                </a:lnTo>
                <a:cubicBezTo>
                  <a:pt x="267335" y="174625"/>
                  <a:pt x="266224" y="185658"/>
                  <a:pt x="259159" y="192722"/>
                </a:cubicBezTo>
                <a:lnTo>
                  <a:pt x="243919" y="207963"/>
                </a:lnTo>
                <a:cubicBezTo>
                  <a:pt x="236855" y="215027"/>
                  <a:pt x="225822" y="216138"/>
                  <a:pt x="217488" y="210582"/>
                </a:cubicBezTo>
                <a:lnTo>
                  <a:pt x="189706" y="192088"/>
                </a:lnTo>
                <a:cubicBezTo>
                  <a:pt x="182166" y="195183"/>
                  <a:pt x="174149" y="197406"/>
                  <a:pt x="165973" y="198517"/>
                </a:cubicBezTo>
                <a:lnTo>
                  <a:pt x="151209" y="228362"/>
                </a:lnTo>
                <a:cubicBezTo>
                  <a:pt x="146764" y="237331"/>
                  <a:pt x="136604" y="241856"/>
                  <a:pt x="127000" y="239316"/>
                </a:cubicBezTo>
                <a:lnTo>
                  <a:pt x="106204" y="233759"/>
                </a:lnTo>
                <a:cubicBezTo>
                  <a:pt x="96520" y="231140"/>
                  <a:pt x="90091" y="222091"/>
                  <a:pt x="90726" y="212169"/>
                </a:cubicBezTo>
                <a:lnTo>
                  <a:pt x="92869" y="178911"/>
                </a:lnTo>
                <a:cubicBezTo>
                  <a:pt x="86281" y="173831"/>
                  <a:pt x="80486" y="167958"/>
                  <a:pt x="75486" y="161449"/>
                </a:cubicBezTo>
                <a:lnTo>
                  <a:pt x="42148" y="163592"/>
                </a:lnTo>
                <a:cubicBezTo>
                  <a:pt x="32226" y="164227"/>
                  <a:pt x="23178" y="157718"/>
                  <a:pt x="20558" y="148114"/>
                </a:cubicBezTo>
                <a:lnTo>
                  <a:pt x="15002" y="127318"/>
                </a:lnTo>
                <a:cubicBezTo>
                  <a:pt x="12462" y="117713"/>
                  <a:pt x="16986" y="107553"/>
                  <a:pt x="25956" y="103108"/>
                </a:cubicBezTo>
                <a:lnTo>
                  <a:pt x="55880" y="88344"/>
                </a:lnTo>
                <a:cubicBezTo>
                  <a:pt x="56436" y="84296"/>
                  <a:pt x="57229" y="80328"/>
                  <a:pt x="58261" y="76279"/>
                </a:cubicBezTo>
                <a:cubicBezTo>
                  <a:pt x="59373" y="72231"/>
                  <a:pt x="60643" y="68342"/>
                  <a:pt x="62230" y="64611"/>
                </a:cubicBezTo>
                <a:lnTo>
                  <a:pt x="43736" y="36909"/>
                </a:lnTo>
                <a:cubicBezTo>
                  <a:pt x="38179" y="28575"/>
                  <a:pt x="39291" y="17542"/>
                  <a:pt x="46355" y="10478"/>
                </a:cubicBezTo>
                <a:lnTo>
                  <a:pt x="61595" y="-4762"/>
                </a:lnTo>
                <a:cubicBezTo>
                  <a:pt x="68659" y="-11827"/>
                  <a:pt x="79693" y="-12938"/>
                  <a:pt x="88027" y="-7382"/>
                </a:cubicBezTo>
                <a:lnTo>
                  <a:pt x="115808" y="11113"/>
                </a:lnTo>
                <a:cubicBezTo>
                  <a:pt x="123349" y="8017"/>
                  <a:pt x="131366" y="5794"/>
                  <a:pt x="139541" y="4683"/>
                </a:cubicBezTo>
                <a:lnTo>
                  <a:pt x="154305" y="-25162"/>
                </a:lnTo>
                <a:cubicBezTo>
                  <a:pt x="158750" y="-34131"/>
                  <a:pt x="168831" y="-38656"/>
                  <a:pt x="178514" y="-36116"/>
                </a:cubicBezTo>
                <a:close/>
                <a:moveTo>
                  <a:pt x="152718" y="66675"/>
                </a:moveTo>
                <a:cubicBezTo>
                  <a:pt x="133442" y="66675"/>
                  <a:pt x="117793" y="82324"/>
                  <a:pt x="117793" y="101600"/>
                </a:cubicBezTo>
                <a:cubicBezTo>
                  <a:pt x="117793" y="120876"/>
                  <a:pt x="133442" y="136525"/>
                  <a:pt x="152718" y="136525"/>
                </a:cubicBezTo>
                <a:cubicBezTo>
                  <a:pt x="171993" y="136525"/>
                  <a:pt x="187643" y="120876"/>
                  <a:pt x="187643" y="101600"/>
                </a:cubicBezTo>
                <a:cubicBezTo>
                  <a:pt x="187643" y="82324"/>
                  <a:pt x="171993" y="66675"/>
                  <a:pt x="152718" y="66675"/>
                </a:cubicBezTo>
                <a:close/>
              </a:path>
            </a:pathLst>
          </a:custGeom>
          <a:solidFill>
            <a:srgbClr val="3B82F6"/>
          </a:solidFill>
          <a:ln/>
        </p:spPr>
      </p:sp>
      <p:sp>
        <p:nvSpPr>
          <p:cNvPr id="18" name="Text 16"/>
          <p:cNvSpPr/>
          <p:nvPr/>
        </p:nvSpPr>
        <p:spPr>
          <a:xfrm>
            <a:off x="11620500" y="1778000"/>
            <a:ext cx="3619500" cy="457200"/>
          </a:xfrm>
          <a:prstGeom prst="rect">
            <a:avLst/>
          </a:prstGeom>
          <a:noFill/>
          <a:ln/>
        </p:spPr>
        <p:txBody>
          <a:bodyPr wrap="none" lIns="0" tIns="0" rIns="0" bIns="0" rtlCol="0" anchor="ctr"/>
          <a:lstStyle/>
          <a:p>
            <a:pPr>
              <a:lnSpc>
                <a:spcPct val="100000"/>
              </a:lnSpc>
            </a:pPr>
            <a:r>
              <a:rPr lang="en-US" sz="1800" b="1" dirty="0">
                <a:solidFill>
                  <a:srgbClr val="1B3A5C"/>
                </a:solidFill>
                <a:latin typeface="Liter" pitchFamily="34" charset="0"/>
                <a:ea typeface="Liter" pitchFamily="34" charset="-122"/>
                <a:cs typeface="Liter" pitchFamily="34" charset="-120"/>
              </a:rPr>
              <a:t>Tính tin cậy</a:t>
            </a:r>
            <a:endParaRPr lang="en-US" sz="1600" dirty="0"/>
          </a:p>
        </p:txBody>
      </p:sp>
      <p:sp>
        <p:nvSpPr>
          <p:cNvPr id="19" name="Text 17"/>
          <p:cNvSpPr/>
          <p:nvPr/>
        </p:nvSpPr>
        <p:spPr>
          <a:xfrm>
            <a:off x="11049000" y="2349500"/>
            <a:ext cx="4191000" cy="2032000"/>
          </a:xfrm>
          <a:prstGeom prst="rect">
            <a:avLst/>
          </a:prstGeom>
          <a:noFill/>
          <a:ln/>
        </p:spPr>
        <p:txBody>
          <a:bodyPr wrap="square" lIns="0" tIns="0" rIns="0" bIns="0" rtlCol="0" anchor="t"/>
          <a:lstStyle/>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Các quy trình được tự động hóa bằng Smart Contract, hạn chế tối đa sự can thiệp của con </a:t>
            </a:r>
            <a:r>
              <a:rPr lang="en-US" sz="1500" dirty="0" err="1">
                <a:solidFill>
                  <a:srgbClr val="1E293B"/>
                </a:solidFill>
                <a:latin typeface="Quattrocento Sans" pitchFamily="34" charset="0"/>
                <a:ea typeface="Quattrocento Sans" pitchFamily="34" charset="-122"/>
                <a:cs typeface="Quattrocento Sans" pitchFamily="34" charset="-120"/>
              </a:rPr>
              <a:t>người</a:t>
            </a:r>
            <a:r>
              <a:rPr lang="en-US" sz="1500" dirty="0">
                <a:solidFill>
                  <a:srgbClr val="1E293B"/>
                </a:solidFill>
                <a:latin typeface="Quattrocento Sans" pitchFamily="34" charset="0"/>
                <a:ea typeface="Quattrocento Sans" pitchFamily="34" charset="-122"/>
                <a:cs typeface="Quattrocento Sans" pitchFamily="34" charset="-120"/>
              </a:rPr>
              <a:t>.</a:t>
            </a:r>
            <a:endParaRPr lang="en-US" sz="1600" dirty="0"/>
          </a:p>
        </p:txBody>
      </p:sp>
      <p:sp>
        <p:nvSpPr>
          <p:cNvPr id="20" name="Shape 18"/>
          <p:cNvSpPr/>
          <p:nvPr/>
        </p:nvSpPr>
        <p:spPr>
          <a:xfrm>
            <a:off x="3276600" y="5016500"/>
            <a:ext cx="4699000" cy="3048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21" name="Shape 19"/>
          <p:cNvSpPr/>
          <p:nvPr/>
        </p:nvSpPr>
        <p:spPr>
          <a:xfrm>
            <a:off x="3530600" y="5232400"/>
            <a:ext cx="406400" cy="406400"/>
          </a:xfrm>
          <a:custGeom>
            <a:avLst/>
            <a:gdLst/>
            <a:ahLst/>
            <a:cxnLst/>
            <a:rect l="l" t="t" r="r" b="b"/>
            <a:pathLst>
              <a:path w="406400" h="406400">
                <a:moveTo>
                  <a:pt x="50800" y="25400"/>
                </a:moveTo>
                <a:cubicBezTo>
                  <a:pt x="22781" y="25400"/>
                  <a:pt x="0" y="48181"/>
                  <a:pt x="0" y="76200"/>
                </a:cubicBezTo>
                <a:lnTo>
                  <a:pt x="0" y="279400"/>
                </a:lnTo>
                <a:cubicBezTo>
                  <a:pt x="0" y="307419"/>
                  <a:pt x="22781" y="330200"/>
                  <a:pt x="50800" y="330200"/>
                </a:cubicBezTo>
                <a:lnTo>
                  <a:pt x="165100" y="330200"/>
                </a:lnTo>
                <a:lnTo>
                  <a:pt x="152400" y="368300"/>
                </a:lnTo>
                <a:lnTo>
                  <a:pt x="95250" y="368300"/>
                </a:lnTo>
                <a:cubicBezTo>
                  <a:pt x="84693" y="368300"/>
                  <a:pt x="76200" y="376793"/>
                  <a:pt x="76200" y="387350"/>
                </a:cubicBezTo>
                <a:cubicBezTo>
                  <a:pt x="76200" y="397907"/>
                  <a:pt x="84693" y="406400"/>
                  <a:pt x="95250" y="406400"/>
                </a:cubicBezTo>
                <a:lnTo>
                  <a:pt x="311150" y="406400"/>
                </a:lnTo>
                <a:cubicBezTo>
                  <a:pt x="321707" y="406400"/>
                  <a:pt x="330200" y="397907"/>
                  <a:pt x="330200" y="387350"/>
                </a:cubicBezTo>
                <a:cubicBezTo>
                  <a:pt x="330200" y="376793"/>
                  <a:pt x="321707" y="368300"/>
                  <a:pt x="311150" y="368300"/>
                </a:cubicBezTo>
                <a:lnTo>
                  <a:pt x="254000" y="368300"/>
                </a:lnTo>
                <a:lnTo>
                  <a:pt x="241300" y="330200"/>
                </a:lnTo>
                <a:lnTo>
                  <a:pt x="355600" y="330200"/>
                </a:lnTo>
                <a:cubicBezTo>
                  <a:pt x="383619" y="330200"/>
                  <a:pt x="406400" y="307419"/>
                  <a:pt x="406400" y="279400"/>
                </a:cubicBezTo>
                <a:lnTo>
                  <a:pt x="406400" y="76200"/>
                </a:lnTo>
                <a:cubicBezTo>
                  <a:pt x="406400" y="48181"/>
                  <a:pt x="383619" y="25400"/>
                  <a:pt x="355600" y="25400"/>
                </a:cubicBezTo>
                <a:lnTo>
                  <a:pt x="50800" y="25400"/>
                </a:lnTo>
                <a:close/>
                <a:moveTo>
                  <a:pt x="76200" y="76200"/>
                </a:moveTo>
                <a:lnTo>
                  <a:pt x="330200" y="76200"/>
                </a:lnTo>
                <a:cubicBezTo>
                  <a:pt x="344249" y="76200"/>
                  <a:pt x="355600" y="87551"/>
                  <a:pt x="355600" y="101600"/>
                </a:cubicBezTo>
                <a:lnTo>
                  <a:pt x="355600" y="228600"/>
                </a:lnTo>
                <a:cubicBezTo>
                  <a:pt x="355600" y="242649"/>
                  <a:pt x="344249" y="254000"/>
                  <a:pt x="330200" y="254000"/>
                </a:cubicBezTo>
                <a:lnTo>
                  <a:pt x="76200" y="254000"/>
                </a:lnTo>
                <a:cubicBezTo>
                  <a:pt x="62151" y="254000"/>
                  <a:pt x="50800" y="242649"/>
                  <a:pt x="50800" y="228600"/>
                </a:cubicBezTo>
                <a:lnTo>
                  <a:pt x="50800" y="101600"/>
                </a:lnTo>
                <a:cubicBezTo>
                  <a:pt x="50800" y="87551"/>
                  <a:pt x="62151" y="76200"/>
                  <a:pt x="76200" y="76200"/>
                </a:cubicBezTo>
                <a:close/>
              </a:path>
            </a:pathLst>
          </a:custGeom>
          <a:solidFill>
            <a:srgbClr val="3B82F6"/>
          </a:solidFill>
          <a:ln/>
        </p:spPr>
      </p:sp>
      <p:sp>
        <p:nvSpPr>
          <p:cNvPr id="22" name="Text 20"/>
          <p:cNvSpPr/>
          <p:nvPr/>
        </p:nvSpPr>
        <p:spPr>
          <a:xfrm>
            <a:off x="4102100" y="5207000"/>
            <a:ext cx="3619500" cy="457200"/>
          </a:xfrm>
          <a:prstGeom prst="rect">
            <a:avLst/>
          </a:prstGeom>
          <a:noFill/>
          <a:ln/>
        </p:spPr>
        <p:txBody>
          <a:bodyPr wrap="none" lIns="0" tIns="0" rIns="0" bIns="0" rtlCol="0" anchor="ctr"/>
          <a:lstStyle/>
          <a:p>
            <a:pPr>
              <a:lnSpc>
                <a:spcPct val="100000"/>
              </a:lnSpc>
            </a:pPr>
            <a:r>
              <a:rPr lang="en-US" sz="1800" b="1" dirty="0">
                <a:solidFill>
                  <a:srgbClr val="1B3A5C"/>
                </a:solidFill>
                <a:latin typeface="Liter" pitchFamily="34" charset="0"/>
                <a:ea typeface="Liter" pitchFamily="34" charset="-122"/>
                <a:cs typeface="Liter" pitchFamily="34" charset="-120"/>
              </a:rPr>
              <a:t>Tính dễ sử dụng</a:t>
            </a:r>
            <a:endParaRPr lang="en-US" sz="1600" dirty="0"/>
          </a:p>
        </p:txBody>
      </p:sp>
      <p:sp>
        <p:nvSpPr>
          <p:cNvPr id="23" name="Text 21"/>
          <p:cNvSpPr/>
          <p:nvPr/>
        </p:nvSpPr>
        <p:spPr>
          <a:xfrm>
            <a:off x="3530600" y="5778500"/>
            <a:ext cx="4191000" cy="2032000"/>
          </a:xfrm>
          <a:prstGeom prst="rect">
            <a:avLst/>
          </a:prstGeom>
          <a:noFill/>
          <a:ln/>
        </p:spPr>
        <p:txBody>
          <a:bodyPr wrap="square" lIns="0" tIns="0" rIns="0" bIns="0" rtlCol="0" anchor="t"/>
          <a:lstStyle/>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Giao diện trực quan, thân thiện </a:t>
            </a:r>
            <a:r>
              <a:rPr lang="en-US" sz="1500" dirty="0" err="1">
                <a:solidFill>
                  <a:srgbClr val="1E293B"/>
                </a:solidFill>
                <a:latin typeface="Quattrocento Sans" pitchFamily="34" charset="0"/>
                <a:ea typeface="Quattrocento Sans" pitchFamily="34" charset="-122"/>
                <a:cs typeface="Quattrocento Sans" pitchFamily="34" charset="-120"/>
              </a:rPr>
              <a:t>với</a:t>
            </a:r>
            <a:r>
              <a:rPr lang="en-US" sz="1500" dirty="0">
                <a:solidFill>
                  <a:srgbClr val="1E293B"/>
                </a:solidFill>
                <a:latin typeface="Quattrocento Sans" pitchFamily="34" charset="0"/>
                <a:ea typeface="Quattrocento Sans" pitchFamily="34" charset="-122"/>
                <a:cs typeface="Quattrocento Sans" pitchFamily="34" charset="-120"/>
              </a:rPr>
              <a:t> </a:t>
            </a:r>
            <a:r>
              <a:rPr lang="en-US" sz="1500" dirty="0" err="1">
                <a:solidFill>
                  <a:srgbClr val="1E293B"/>
                </a:solidFill>
                <a:latin typeface="Quattrocento Sans" pitchFamily="34" charset="0"/>
                <a:ea typeface="Quattrocento Sans" pitchFamily="34" charset="-122"/>
                <a:cs typeface="Quattrocento Sans" pitchFamily="34" charset="-120"/>
              </a:rPr>
              <a:t>người</a:t>
            </a:r>
            <a:r>
              <a:rPr lang="en-US" sz="1500" dirty="0">
                <a:solidFill>
                  <a:srgbClr val="1E293B"/>
                </a:solidFill>
                <a:latin typeface="Quattrocento Sans" pitchFamily="34" charset="0"/>
                <a:ea typeface="Quattrocento Sans" pitchFamily="34" charset="-122"/>
                <a:cs typeface="Quattrocento Sans" pitchFamily="34" charset="-120"/>
              </a:rPr>
              <a:t> dùng, dễ dàng thao tác ngay cả khi không có kiến thức sâu về Blockchain.</a:t>
            </a:r>
            <a:endParaRPr lang="en-US" sz="1600" dirty="0"/>
          </a:p>
        </p:txBody>
      </p:sp>
      <p:sp>
        <p:nvSpPr>
          <p:cNvPr id="24" name="Shape 22"/>
          <p:cNvSpPr/>
          <p:nvPr/>
        </p:nvSpPr>
        <p:spPr>
          <a:xfrm>
            <a:off x="8293100" y="5016500"/>
            <a:ext cx="4699000" cy="3048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25" name="Shape 23"/>
          <p:cNvSpPr/>
          <p:nvPr/>
        </p:nvSpPr>
        <p:spPr>
          <a:xfrm>
            <a:off x="8547100" y="5232400"/>
            <a:ext cx="406400" cy="406400"/>
          </a:xfrm>
          <a:custGeom>
            <a:avLst/>
            <a:gdLst/>
            <a:ahLst/>
            <a:cxnLst/>
            <a:rect l="l" t="t" r="r" b="b"/>
            <a:pathLst>
              <a:path w="406400" h="406400">
                <a:moveTo>
                  <a:pt x="0" y="203200"/>
                </a:moveTo>
                <a:cubicBezTo>
                  <a:pt x="0" y="91051"/>
                  <a:pt x="91051" y="0"/>
                  <a:pt x="203200" y="0"/>
                </a:cubicBezTo>
                <a:cubicBezTo>
                  <a:pt x="315349" y="0"/>
                  <a:pt x="406400" y="91051"/>
                  <a:pt x="406400" y="203200"/>
                </a:cubicBezTo>
                <a:cubicBezTo>
                  <a:pt x="406400" y="315349"/>
                  <a:pt x="315349" y="406400"/>
                  <a:pt x="203200" y="406400"/>
                </a:cubicBezTo>
                <a:cubicBezTo>
                  <a:pt x="91051" y="406400"/>
                  <a:pt x="0" y="315349"/>
                  <a:pt x="0" y="203200"/>
                </a:cubicBezTo>
                <a:close/>
                <a:moveTo>
                  <a:pt x="228600" y="76200"/>
                </a:moveTo>
                <a:cubicBezTo>
                  <a:pt x="228600" y="62181"/>
                  <a:pt x="217219" y="50800"/>
                  <a:pt x="203200" y="50800"/>
                </a:cubicBezTo>
                <a:cubicBezTo>
                  <a:pt x="189181" y="50800"/>
                  <a:pt x="177800" y="62181"/>
                  <a:pt x="177800" y="76200"/>
                </a:cubicBezTo>
                <a:cubicBezTo>
                  <a:pt x="177800" y="90219"/>
                  <a:pt x="189181" y="101600"/>
                  <a:pt x="203200" y="101600"/>
                </a:cubicBezTo>
                <a:cubicBezTo>
                  <a:pt x="217219" y="101600"/>
                  <a:pt x="228600" y="90219"/>
                  <a:pt x="228600" y="76200"/>
                </a:cubicBezTo>
                <a:close/>
                <a:moveTo>
                  <a:pt x="203200" y="330200"/>
                </a:moveTo>
                <a:cubicBezTo>
                  <a:pt x="231219" y="330200"/>
                  <a:pt x="254000" y="307419"/>
                  <a:pt x="254000" y="279400"/>
                </a:cubicBezTo>
                <a:cubicBezTo>
                  <a:pt x="254000" y="266541"/>
                  <a:pt x="249237" y="254714"/>
                  <a:pt x="241300" y="245824"/>
                </a:cubicBezTo>
                <a:lnTo>
                  <a:pt x="296466" y="135572"/>
                </a:lnTo>
                <a:cubicBezTo>
                  <a:pt x="301149" y="126127"/>
                  <a:pt x="297339" y="114697"/>
                  <a:pt x="287973" y="110014"/>
                </a:cubicBezTo>
                <a:cubicBezTo>
                  <a:pt x="278606" y="105331"/>
                  <a:pt x="267097" y="109141"/>
                  <a:pt x="262414" y="118507"/>
                </a:cubicBezTo>
                <a:lnTo>
                  <a:pt x="207248" y="228759"/>
                </a:lnTo>
                <a:cubicBezTo>
                  <a:pt x="205899" y="228679"/>
                  <a:pt x="204549" y="228600"/>
                  <a:pt x="203200" y="228600"/>
                </a:cubicBezTo>
                <a:cubicBezTo>
                  <a:pt x="175181" y="228600"/>
                  <a:pt x="152400" y="251381"/>
                  <a:pt x="152400" y="279400"/>
                </a:cubicBezTo>
                <a:cubicBezTo>
                  <a:pt x="152400" y="307419"/>
                  <a:pt x="175181" y="330200"/>
                  <a:pt x="203200" y="330200"/>
                </a:cubicBezTo>
                <a:close/>
                <a:moveTo>
                  <a:pt x="139700" y="114300"/>
                </a:moveTo>
                <a:cubicBezTo>
                  <a:pt x="139700" y="100281"/>
                  <a:pt x="128319" y="88900"/>
                  <a:pt x="114300" y="88900"/>
                </a:cubicBezTo>
                <a:cubicBezTo>
                  <a:pt x="100281" y="88900"/>
                  <a:pt x="88900" y="100281"/>
                  <a:pt x="88900" y="114300"/>
                </a:cubicBezTo>
                <a:cubicBezTo>
                  <a:pt x="88900" y="128319"/>
                  <a:pt x="100281" y="139700"/>
                  <a:pt x="114300" y="139700"/>
                </a:cubicBezTo>
                <a:cubicBezTo>
                  <a:pt x="128319" y="139700"/>
                  <a:pt x="139700" y="128319"/>
                  <a:pt x="139700" y="114300"/>
                </a:cubicBezTo>
                <a:close/>
                <a:moveTo>
                  <a:pt x="76200" y="228600"/>
                </a:moveTo>
                <a:cubicBezTo>
                  <a:pt x="90219" y="228600"/>
                  <a:pt x="101600" y="217219"/>
                  <a:pt x="101600" y="203200"/>
                </a:cubicBezTo>
                <a:cubicBezTo>
                  <a:pt x="101600" y="189181"/>
                  <a:pt x="90219" y="177800"/>
                  <a:pt x="76200" y="177800"/>
                </a:cubicBezTo>
                <a:cubicBezTo>
                  <a:pt x="62181" y="177800"/>
                  <a:pt x="50800" y="189181"/>
                  <a:pt x="50800" y="203200"/>
                </a:cubicBezTo>
                <a:cubicBezTo>
                  <a:pt x="50800" y="217219"/>
                  <a:pt x="62181" y="228600"/>
                  <a:pt x="76200" y="228600"/>
                </a:cubicBezTo>
                <a:close/>
                <a:moveTo>
                  <a:pt x="355600" y="203200"/>
                </a:moveTo>
                <a:cubicBezTo>
                  <a:pt x="355600" y="189181"/>
                  <a:pt x="344219" y="177800"/>
                  <a:pt x="330200" y="177800"/>
                </a:cubicBezTo>
                <a:cubicBezTo>
                  <a:pt x="316181" y="177800"/>
                  <a:pt x="304800" y="189181"/>
                  <a:pt x="304800" y="203200"/>
                </a:cubicBezTo>
                <a:cubicBezTo>
                  <a:pt x="304800" y="217219"/>
                  <a:pt x="316181" y="228600"/>
                  <a:pt x="330200" y="228600"/>
                </a:cubicBezTo>
                <a:cubicBezTo>
                  <a:pt x="344219" y="228600"/>
                  <a:pt x="355600" y="217219"/>
                  <a:pt x="355600" y="203200"/>
                </a:cubicBezTo>
                <a:close/>
              </a:path>
            </a:pathLst>
          </a:custGeom>
          <a:solidFill>
            <a:srgbClr val="3B82F6"/>
          </a:solidFill>
          <a:ln/>
        </p:spPr>
      </p:sp>
      <p:sp>
        <p:nvSpPr>
          <p:cNvPr id="26" name="Text 24"/>
          <p:cNvSpPr/>
          <p:nvPr/>
        </p:nvSpPr>
        <p:spPr>
          <a:xfrm>
            <a:off x="9118600" y="5207000"/>
            <a:ext cx="3619500" cy="457200"/>
          </a:xfrm>
          <a:prstGeom prst="rect">
            <a:avLst/>
          </a:prstGeom>
          <a:noFill/>
          <a:ln/>
        </p:spPr>
        <p:txBody>
          <a:bodyPr wrap="none" lIns="0" tIns="0" rIns="0" bIns="0" rtlCol="0" anchor="ctr"/>
          <a:lstStyle/>
          <a:p>
            <a:pPr>
              <a:lnSpc>
                <a:spcPct val="100000"/>
              </a:lnSpc>
            </a:pPr>
            <a:r>
              <a:rPr lang="en-US" sz="1800" b="1" dirty="0">
                <a:solidFill>
                  <a:srgbClr val="1B3A5C"/>
                </a:solidFill>
                <a:latin typeface="Liter" pitchFamily="34" charset="0"/>
                <a:ea typeface="Liter" pitchFamily="34" charset="-122"/>
                <a:cs typeface="Liter" pitchFamily="34" charset="-120"/>
              </a:rPr>
              <a:t>Hiệu suất</a:t>
            </a:r>
            <a:endParaRPr lang="en-US" sz="1600" dirty="0"/>
          </a:p>
        </p:txBody>
      </p:sp>
      <p:sp>
        <p:nvSpPr>
          <p:cNvPr id="27" name="Text 25"/>
          <p:cNvSpPr/>
          <p:nvPr/>
        </p:nvSpPr>
        <p:spPr>
          <a:xfrm>
            <a:off x="8547100" y="5778500"/>
            <a:ext cx="4191000" cy="2032000"/>
          </a:xfrm>
          <a:prstGeom prst="rect">
            <a:avLst/>
          </a:prstGeom>
          <a:noFill/>
          <a:ln/>
        </p:spPr>
        <p:txBody>
          <a:bodyPr wrap="square" lIns="0" tIns="0" rIns="0" bIns="0" rtlCol="0" anchor="t"/>
          <a:lstStyle/>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Hệ thống hoạt động ổn định, đảm bảo tốc độ xử lý giao dịch nhanh chóng và liên tục.</a:t>
            </a:r>
            <a:endParaRPr lang="en-US" sz="1600" dirty="0"/>
          </a:p>
        </p:txBody>
      </p:sp>
      <p:sp>
        <p:nvSpPr>
          <p:cNvPr id="28" name="Text 26"/>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400" dirty="0">
                <a:solidFill>
                  <a:srgbClr val="64748B"/>
                </a:solidFill>
                <a:latin typeface="QuattrocentoSans" pitchFamily="34" charset="0"/>
                <a:ea typeface="QuattrocentoSans" pitchFamily="34" charset="-122"/>
                <a:cs typeface="QuattrocentoSans" pitchFamily="34" charset="-120"/>
              </a:rPr>
              <a:t>07</a:t>
            </a:r>
            <a:endParaRPr lang="en-US" sz="14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B3A5C"/>
          </a:solidFill>
          <a:ln/>
        </p:spPr>
      </p:sp>
      <p:sp>
        <p:nvSpPr>
          <p:cNvPr id="3" name="Text 1"/>
          <p:cNvSpPr/>
          <p:nvPr/>
        </p:nvSpPr>
        <p:spPr>
          <a:xfrm>
            <a:off x="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FFFFFF"/>
                </a:solidFill>
                <a:latin typeface="Liter" pitchFamily="34" charset="0"/>
                <a:ea typeface="Liter" pitchFamily="34" charset="-122"/>
                <a:cs typeface="Liter" pitchFamily="34" charset="-120"/>
              </a:rPr>
              <a:t>PHÂN TÍCH VÀ THIẾT KẾ</a:t>
            </a:r>
            <a:endParaRPr lang="en-US" sz="1300" dirty="0"/>
          </a:p>
        </p:txBody>
      </p:sp>
      <p:sp>
        <p:nvSpPr>
          <p:cNvPr id="4" name="Text 2"/>
          <p:cNvSpPr/>
          <p:nvPr/>
        </p:nvSpPr>
        <p:spPr>
          <a:xfrm>
            <a:off x="812800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94A3B8"/>
                </a:solidFill>
                <a:latin typeface="Liter" pitchFamily="34" charset="0"/>
                <a:ea typeface="Liter" pitchFamily="34" charset="-122"/>
                <a:cs typeface="Liter" pitchFamily="34" charset="-120"/>
              </a:rPr>
              <a:t>XÂY DỰNG VÀ TRIỂN KHAI</a:t>
            </a:r>
            <a:endParaRPr lang="en-US" sz="1300" dirty="0"/>
          </a:p>
        </p:txBody>
      </p:sp>
      <p:sp>
        <p:nvSpPr>
          <p:cNvPr id="5" name="Shape 3"/>
          <p:cNvSpPr/>
          <p:nvPr/>
        </p:nvSpPr>
        <p:spPr>
          <a:xfrm>
            <a:off x="0" y="558800"/>
            <a:ext cx="8128000" cy="50800"/>
          </a:xfrm>
          <a:prstGeom prst="rect">
            <a:avLst/>
          </a:prstGeom>
          <a:solidFill>
            <a:srgbClr val="3B82F6"/>
          </a:solidFill>
          <a:ln/>
        </p:spPr>
      </p:sp>
      <p:sp>
        <p:nvSpPr>
          <p:cNvPr id="6" name="Shape 4"/>
          <p:cNvSpPr/>
          <p:nvPr/>
        </p:nvSpPr>
        <p:spPr>
          <a:xfrm>
            <a:off x="762000" y="863600"/>
            <a:ext cx="63500" cy="406400"/>
          </a:xfrm>
          <a:prstGeom prst="rect">
            <a:avLst/>
          </a:prstGeom>
          <a:solidFill>
            <a:srgbClr val="3B82F6"/>
          </a:solidFill>
          <a:ln/>
        </p:spPr>
      </p:sp>
      <p:sp>
        <p:nvSpPr>
          <p:cNvPr id="7" name="Text 5"/>
          <p:cNvSpPr/>
          <p:nvPr/>
        </p:nvSpPr>
        <p:spPr>
          <a:xfrm>
            <a:off x="990600" y="825500"/>
            <a:ext cx="10160000" cy="482600"/>
          </a:xfrm>
          <a:prstGeom prst="rect">
            <a:avLst/>
          </a:prstGeom>
          <a:noFill/>
          <a:ln/>
        </p:spPr>
        <p:txBody>
          <a:bodyPr wrap="none" lIns="0" tIns="0" rIns="0" bIns="0" rtlCol="0" anchor="ctr"/>
          <a:lstStyle/>
          <a:p>
            <a:pPr>
              <a:lnSpc>
                <a:spcPct val="130000"/>
              </a:lnSpc>
            </a:pPr>
            <a:r>
              <a:rPr lang="en-US" sz="2800" dirty="0">
                <a:solidFill>
                  <a:srgbClr val="1B3A5C"/>
                </a:solidFill>
                <a:latin typeface="Liter" pitchFamily="34" charset="0"/>
                <a:ea typeface="Liter" pitchFamily="34" charset="-122"/>
                <a:cs typeface="Liter" pitchFamily="34" charset="-120"/>
              </a:rPr>
              <a:t>2.3 Sơ đồ Use Case</a:t>
            </a:r>
            <a:endParaRPr lang="en-US" sz="2800" dirty="0"/>
          </a:p>
        </p:txBody>
      </p:sp>
      <p:sp>
        <p:nvSpPr>
          <p:cNvPr id="8" name="Shape 6"/>
          <p:cNvSpPr/>
          <p:nvPr/>
        </p:nvSpPr>
        <p:spPr>
          <a:xfrm>
            <a:off x="1524000" y="3048000"/>
            <a:ext cx="2794000" cy="3556000"/>
          </a:xfrm>
          <a:prstGeom prst="roundRect">
            <a:avLst>
              <a:gd name="adj" fmla="val 6000"/>
            </a:avLst>
          </a:prstGeom>
          <a:solidFill>
            <a:srgbClr val="1B3A5C"/>
          </a:solidFill>
          <a:ln/>
          <a:effectLst>
            <a:outerShdw blurRad="152400" dist="50800" dir="5400000" algn="bl" rotWithShape="0">
              <a:srgbClr val="000000">
                <a:alpha val="12549"/>
              </a:srgbClr>
            </a:outerShdw>
          </a:effectLst>
        </p:spPr>
      </p:sp>
      <p:sp>
        <p:nvSpPr>
          <p:cNvPr id="9" name="Shape 7"/>
          <p:cNvSpPr/>
          <p:nvPr/>
        </p:nvSpPr>
        <p:spPr>
          <a:xfrm>
            <a:off x="2527300" y="3429000"/>
            <a:ext cx="533400" cy="609600"/>
          </a:xfrm>
          <a:custGeom>
            <a:avLst/>
            <a:gdLst/>
            <a:ahLst/>
            <a:cxnLst/>
            <a:rect l="l" t="t" r="r" b="b"/>
            <a:pathLst>
              <a:path w="533400" h="609600">
                <a:moveTo>
                  <a:pt x="266700" y="295275"/>
                </a:moveTo>
                <a:cubicBezTo>
                  <a:pt x="345555" y="295275"/>
                  <a:pt x="409575" y="231255"/>
                  <a:pt x="409575" y="152400"/>
                </a:cubicBezTo>
                <a:cubicBezTo>
                  <a:pt x="409575" y="73545"/>
                  <a:pt x="345555" y="9525"/>
                  <a:pt x="266700" y="9525"/>
                </a:cubicBezTo>
                <a:cubicBezTo>
                  <a:pt x="187845" y="9525"/>
                  <a:pt x="123825" y="73545"/>
                  <a:pt x="123825" y="152400"/>
                </a:cubicBezTo>
                <a:cubicBezTo>
                  <a:pt x="123825" y="231255"/>
                  <a:pt x="187845" y="295275"/>
                  <a:pt x="266700" y="295275"/>
                </a:cubicBezTo>
                <a:close/>
                <a:moveTo>
                  <a:pt x="231338" y="361950"/>
                </a:moveTo>
                <a:cubicBezTo>
                  <a:pt x="114062" y="361950"/>
                  <a:pt x="19050" y="456962"/>
                  <a:pt x="19050" y="574238"/>
                </a:cubicBezTo>
                <a:cubicBezTo>
                  <a:pt x="19050" y="593765"/>
                  <a:pt x="34885" y="609600"/>
                  <a:pt x="54412" y="609600"/>
                </a:cubicBezTo>
                <a:lnTo>
                  <a:pt x="478988" y="609600"/>
                </a:lnTo>
                <a:cubicBezTo>
                  <a:pt x="498515" y="609600"/>
                  <a:pt x="514350" y="593765"/>
                  <a:pt x="514350" y="574238"/>
                </a:cubicBezTo>
                <a:cubicBezTo>
                  <a:pt x="514350" y="456962"/>
                  <a:pt x="419338" y="361950"/>
                  <a:pt x="302062" y="361950"/>
                </a:cubicBezTo>
                <a:lnTo>
                  <a:pt x="231338" y="361950"/>
                </a:lnTo>
                <a:close/>
              </a:path>
            </a:pathLst>
          </a:custGeom>
          <a:solidFill>
            <a:srgbClr val="FFFFFF"/>
          </a:solidFill>
          <a:ln/>
        </p:spPr>
      </p:sp>
      <p:sp>
        <p:nvSpPr>
          <p:cNvPr id="10" name="Text 8"/>
          <p:cNvSpPr/>
          <p:nvPr/>
        </p:nvSpPr>
        <p:spPr>
          <a:xfrm>
            <a:off x="1651000" y="4254500"/>
            <a:ext cx="2540000" cy="3810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Liter" pitchFamily="34" charset="0"/>
                <a:ea typeface="Liter" pitchFamily="34" charset="-122"/>
                <a:cs typeface="Liter" pitchFamily="34" charset="-120"/>
              </a:rPr>
              <a:t>Ngườii dùng</a:t>
            </a:r>
            <a:endParaRPr lang="en-US" sz="1600" dirty="0"/>
          </a:p>
        </p:txBody>
      </p:sp>
      <p:sp>
        <p:nvSpPr>
          <p:cNvPr id="11" name="Text 9"/>
          <p:cNvSpPr/>
          <p:nvPr/>
        </p:nvSpPr>
        <p:spPr>
          <a:xfrm>
            <a:off x="1714500" y="4699000"/>
            <a:ext cx="2413000" cy="1651000"/>
          </a:xfrm>
          <a:prstGeom prst="rect">
            <a:avLst/>
          </a:prstGeom>
          <a:noFill/>
          <a:ln/>
        </p:spPr>
        <p:txBody>
          <a:bodyPr wrap="square" lIns="0" tIns="0" rIns="0" bIns="0" rtlCol="0" anchor="t"/>
          <a:lstStyle/>
          <a:p>
            <a:pPr algn="ctr">
              <a:lnSpc>
                <a:spcPct val="160000"/>
              </a:lnSpc>
            </a:pPr>
            <a:r>
              <a:rPr lang="en-US" sz="1300" dirty="0">
                <a:solidFill>
                  <a:srgbClr val="FFFFFF">
                    <a:alpha val="80000"/>
                  </a:srgbClr>
                </a:solidFill>
                <a:latin typeface="Quattrocento Sans" pitchFamily="34" charset="0"/>
                <a:ea typeface="Quattrocento Sans" pitchFamily="34" charset="-122"/>
                <a:cs typeface="Quattrocento Sans" pitchFamily="34" charset="-120"/>
              </a:rPr>
              <a:t>Đóng vai trò trung tâm, thực hiện mọi chức năng chính của hệ thống</a:t>
            </a:r>
            <a:endParaRPr lang="en-US" sz="1600" dirty="0"/>
          </a:p>
        </p:txBody>
      </p:sp>
      <p:sp>
        <p:nvSpPr>
          <p:cNvPr id="12" name="Shape 10"/>
          <p:cNvSpPr/>
          <p:nvPr/>
        </p:nvSpPr>
        <p:spPr>
          <a:xfrm>
            <a:off x="6096000" y="1778000"/>
            <a:ext cx="3556000" cy="1270000"/>
          </a:xfrm>
          <a:prstGeom prst="roundRect">
            <a:avLst>
              <a:gd name="adj" fmla="val 6000"/>
            </a:avLst>
          </a:prstGeom>
          <a:solidFill>
            <a:srgbClr val="FFFFFF"/>
          </a:solidFill>
          <a:ln/>
          <a:effectLst>
            <a:outerShdw blurRad="101600" dist="25400" dir="5400000" algn="bl" rotWithShape="0">
              <a:srgbClr val="000000">
                <a:alpha val="6275"/>
              </a:srgbClr>
            </a:outerShdw>
          </a:effectLst>
        </p:spPr>
      </p:sp>
      <p:sp>
        <p:nvSpPr>
          <p:cNvPr id="13" name="Text 11"/>
          <p:cNvSpPr/>
          <p:nvPr/>
        </p:nvSpPr>
        <p:spPr>
          <a:xfrm>
            <a:off x="6286500" y="1968500"/>
            <a:ext cx="3175000" cy="889000"/>
          </a:xfrm>
          <a:prstGeom prst="rect">
            <a:avLst/>
          </a:prstGeom>
          <a:noFill/>
          <a:ln/>
        </p:spPr>
        <p:txBody>
          <a:bodyPr wrap="square" lIns="0" tIns="0" rIns="0" bIns="0" rtlCol="0" anchor="ctr"/>
          <a:lstStyle/>
          <a:p>
            <a:pPr algn="ctr">
              <a:lnSpc>
                <a:spcPct val="100000"/>
              </a:lnSpc>
            </a:pPr>
            <a:r>
              <a:rPr lang="en-US" sz="1600" b="1" dirty="0">
                <a:solidFill>
                  <a:srgbClr val="1E293B"/>
                </a:solidFill>
                <a:latin typeface="Quattrocento Sans" pitchFamily="34" charset="0"/>
                <a:ea typeface="Quattrocento Sans" pitchFamily="34" charset="-122"/>
                <a:cs typeface="Quattrocento Sans" pitchFamily="34" charset="-120"/>
              </a:rPr>
              <a:t>Tạo chiến dịch</a:t>
            </a:r>
            <a:endParaRPr lang="en-US" sz="1600" dirty="0"/>
          </a:p>
          <a:p>
            <a:pPr algn="ctr">
              <a:lnSpc>
                <a:spcPct val="100000"/>
              </a:lnSpc>
            </a:pPr>
            <a:r>
              <a:rPr lang="en-US" sz="1300" dirty="0">
                <a:solidFill>
                  <a:srgbClr val="64748B"/>
                </a:solidFill>
                <a:latin typeface="Quattrocento Sans" pitchFamily="34" charset="0"/>
                <a:ea typeface="Quattrocento Sans" pitchFamily="34" charset="-122"/>
                <a:cs typeface="Quattrocento Sans" pitchFamily="34" charset="-120"/>
              </a:rPr>
              <a:t>createCampaign</a:t>
            </a:r>
            <a:endParaRPr lang="en-US" sz="1600" dirty="0"/>
          </a:p>
        </p:txBody>
      </p:sp>
      <p:sp>
        <p:nvSpPr>
          <p:cNvPr id="14" name="Shape 12"/>
          <p:cNvSpPr/>
          <p:nvPr/>
        </p:nvSpPr>
        <p:spPr>
          <a:xfrm flipV="1">
            <a:off x="4318000" y="2540000"/>
            <a:ext cx="1778000" cy="1270000"/>
          </a:xfrm>
          <a:prstGeom prst="straightConnector1">
            <a:avLst/>
          </a:prstGeom>
          <a:noFill/>
          <a:ln w="25400">
            <a:solidFill>
              <a:srgbClr val="3B82F6"/>
            </a:solidFill>
            <a:prstDash val="solid"/>
            <a:headEnd type="none"/>
            <a:tailEnd type="arrow"/>
          </a:ln>
        </p:spPr>
      </p:sp>
      <p:sp>
        <p:nvSpPr>
          <p:cNvPr id="15" name="Shape 13"/>
          <p:cNvSpPr/>
          <p:nvPr/>
        </p:nvSpPr>
        <p:spPr>
          <a:xfrm>
            <a:off x="6096000" y="3492500"/>
            <a:ext cx="3556000" cy="1270000"/>
          </a:xfrm>
          <a:prstGeom prst="roundRect">
            <a:avLst>
              <a:gd name="adj" fmla="val 6000"/>
            </a:avLst>
          </a:prstGeom>
          <a:solidFill>
            <a:srgbClr val="FFFFFF"/>
          </a:solidFill>
          <a:ln/>
          <a:effectLst>
            <a:outerShdw blurRad="101600" dist="25400" dir="5400000" algn="bl" rotWithShape="0">
              <a:srgbClr val="000000">
                <a:alpha val="6275"/>
              </a:srgbClr>
            </a:outerShdw>
          </a:effectLst>
        </p:spPr>
      </p:sp>
      <p:sp>
        <p:nvSpPr>
          <p:cNvPr id="16" name="Text 14"/>
          <p:cNvSpPr/>
          <p:nvPr/>
        </p:nvSpPr>
        <p:spPr>
          <a:xfrm>
            <a:off x="6286500" y="3683000"/>
            <a:ext cx="3175000" cy="889000"/>
          </a:xfrm>
          <a:prstGeom prst="rect">
            <a:avLst/>
          </a:prstGeom>
          <a:noFill/>
          <a:ln/>
        </p:spPr>
        <p:txBody>
          <a:bodyPr wrap="square" lIns="0" tIns="0" rIns="0" bIns="0" rtlCol="0" anchor="ctr"/>
          <a:lstStyle/>
          <a:p>
            <a:pPr algn="ctr">
              <a:lnSpc>
                <a:spcPct val="100000"/>
              </a:lnSpc>
            </a:pPr>
            <a:r>
              <a:rPr lang="en-US" sz="1600" b="1" dirty="0">
                <a:solidFill>
                  <a:srgbClr val="1E293B"/>
                </a:solidFill>
                <a:latin typeface="Quattrocento Sans" pitchFamily="34" charset="0"/>
                <a:ea typeface="Quattrocento Sans" pitchFamily="34" charset="-122"/>
                <a:cs typeface="Quattrocento Sans" pitchFamily="34" charset="-120"/>
              </a:rPr>
              <a:t>Góp vốn</a:t>
            </a:r>
            <a:endParaRPr lang="en-US" sz="1600" dirty="0"/>
          </a:p>
          <a:p>
            <a:pPr algn="ctr">
              <a:lnSpc>
                <a:spcPct val="100000"/>
              </a:lnSpc>
            </a:pPr>
            <a:r>
              <a:rPr lang="en-US" sz="1300" dirty="0">
                <a:solidFill>
                  <a:srgbClr val="64748B"/>
                </a:solidFill>
                <a:latin typeface="Quattrocento Sans" pitchFamily="34" charset="0"/>
                <a:ea typeface="Quattrocento Sans" pitchFamily="34" charset="-122"/>
                <a:cs typeface="Quattrocento Sans" pitchFamily="34" charset="-120"/>
              </a:rPr>
              <a:t>pledge</a:t>
            </a:r>
            <a:endParaRPr lang="en-US" sz="1600" dirty="0"/>
          </a:p>
        </p:txBody>
      </p:sp>
      <p:sp>
        <p:nvSpPr>
          <p:cNvPr id="17" name="Shape 15"/>
          <p:cNvSpPr/>
          <p:nvPr/>
        </p:nvSpPr>
        <p:spPr>
          <a:xfrm flipV="1">
            <a:off x="4318000" y="4038600"/>
            <a:ext cx="1778000" cy="787400"/>
          </a:xfrm>
          <a:prstGeom prst="straightConnector1">
            <a:avLst/>
          </a:prstGeom>
          <a:noFill/>
          <a:ln w="25400">
            <a:solidFill>
              <a:srgbClr val="3B82F6"/>
            </a:solidFill>
            <a:prstDash val="solid"/>
            <a:headEnd type="none"/>
            <a:tailEnd type="arrow"/>
          </a:ln>
        </p:spPr>
      </p:sp>
      <p:sp>
        <p:nvSpPr>
          <p:cNvPr id="18" name="Shape 16"/>
          <p:cNvSpPr/>
          <p:nvPr/>
        </p:nvSpPr>
        <p:spPr>
          <a:xfrm>
            <a:off x="6096000" y="5207000"/>
            <a:ext cx="3556000" cy="1270000"/>
          </a:xfrm>
          <a:prstGeom prst="roundRect">
            <a:avLst>
              <a:gd name="adj" fmla="val 6000"/>
            </a:avLst>
          </a:prstGeom>
          <a:solidFill>
            <a:srgbClr val="FFFFFF"/>
          </a:solidFill>
          <a:ln/>
          <a:effectLst>
            <a:outerShdw blurRad="101600" dist="25400" dir="5400000" algn="bl" rotWithShape="0">
              <a:srgbClr val="000000">
                <a:alpha val="6275"/>
              </a:srgbClr>
            </a:outerShdw>
          </a:effectLst>
        </p:spPr>
      </p:sp>
      <p:sp>
        <p:nvSpPr>
          <p:cNvPr id="19" name="Text 17"/>
          <p:cNvSpPr/>
          <p:nvPr/>
        </p:nvSpPr>
        <p:spPr>
          <a:xfrm>
            <a:off x="6286500" y="5397500"/>
            <a:ext cx="3175000" cy="889000"/>
          </a:xfrm>
          <a:prstGeom prst="rect">
            <a:avLst/>
          </a:prstGeom>
          <a:noFill/>
          <a:ln/>
        </p:spPr>
        <p:txBody>
          <a:bodyPr wrap="square" lIns="0" tIns="0" rIns="0" bIns="0" rtlCol="0" anchor="ctr"/>
          <a:lstStyle/>
          <a:p>
            <a:pPr algn="ctr">
              <a:lnSpc>
                <a:spcPct val="100000"/>
              </a:lnSpc>
            </a:pPr>
            <a:r>
              <a:rPr lang="en-US" sz="1600" b="1" dirty="0">
                <a:solidFill>
                  <a:srgbClr val="1E293B"/>
                </a:solidFill>
                <a:latin typeface="Quattrocento Sans" pitchFamily="34" charset="0"/>
                <a:ea typeface="Quattrocento Sans" pitchFamily="34" charset="-122"/>
                <a:cs typeface="Quattrocento Sans" pitchFamily="34" charset="-120"/>
              </a:rPr>
              <a:t>Rút tiền</a:t>
            </a:r>
            <a:endParaRPr lang="en-US" sz="1600" dirty="0"/>
          </a:p>
          <a:p>
            <a:pPr algn="ctr">
              <a:lnSpc>
                <a:spcPct val="100000"/>
              </a:lnSpc>
            </a:pPr>
            <a:r>
              <a:rPr lang="en-US" sz="1300" dirty="0">
                <a:solidFill>
                  <a:srgbClr val="64748B"/>
                </a:solidFill>
                <a:latin typeface="Quattrocento Sans" pitchFamily="34" charset="0"/>
                <a:ea typeface="Quattrocento Sans" pitchFamily="34" charset="-122"/>
                <a:cs typeface="Quattrocento Sans" pitchFamily="34" charset="-120"/>
              </a:rPr>
              <a:t>claim</a:t>
            </a:r>
            <a:endParaRPr lang="en-US" sz="1600" dirty="0"/>
          </a:p>
        </p:txBody>
      </p:sp>
      <p:sp>
        <p:nvSpPr>
          <p:cNvPr id="20" name="Shape 18"/>
          <p:cNvSpPr/>
          <p:nvPr/>
        </p:nvSpPr>
        <p:spPr>
          <a:xfrm>
            <a:off x="4318000" y="5397500"/>
            <a:ext cx="1778000" cy="444500"/>
          </a:xfrm>
          <a:prstGeom prst="straightConnector1">
            <a:avLst/>
          </a:prstGeom>
          <a:noFill/>
          <a:ln w="25400">
            <a:solidFill>
              <a:srgbClr val="3B82F6"/>
            </a:solidFill>
            <a:prstDash val="solid"/>
            <a:headEnd type="none"/>
            <a:tailEnd type="arrow"/>
          </a:ln>
        </p:spPr>
      </p:sp>
      <p:sp>
        <p:nvSpPr>
          <p:cNvPr id="21" name="Shape 19"/>
          <p:cNvSpPr/>
          <p:nvPr/>
        </p:nvSpPr>
        <p:spPr>
          <a:xfrm>
            <a:off x="6096000" y="6921500"/>
            <a:ext cx="3556000" cy="1270000"/>
          </a:xfrm>
          <a:prstGeom prst="roundRect">
            <a:avLst>
              <a:gd name="adj" fmla="val 6000"/>
            </a:avLst>
          </a:prstGeom>
          <a:solidFill>
            <a:srgbClr val="FFFFFF"/>
          </a:solidFill>
          <a:ln/>
          <a:effectLst>
            <a:outerShdw blurRad="101600" dist="25400" dir="5400000" algn="bl" rotWithShape="0">
              <a:srgbClr val="000000">
                <a:alpha val="6275"/>
              </a:srgbClr>
            </a:outerShdw>
          </a:effectLst>
        </p:spPr>
      </p:sp>
      <p:sp>
        <p:nvSpPr>
          <p:cNvPr id="22" name="Text 20"/>
          <p:cNvSpPr/>
          <p:nvPr/>
        </p:nvSpPr>
        <p:spPr>
          <a:xfrm>
            <a:off x="6286500" y="7112000"/>
            <a:ext cx="3175000" cy="889000"/>
          </a:xfrm>
          <a:prstGeom prst="rect">
            <a:avLst/>
          </a:prstGeom>
          <a:noFill/>
          <a:ln/>
        </p:spPr>
        <p:txBody>
          <a:bodyPr wrap="square" lIns="0" tIns="0" rIns="0" bIns="0" rtlCol="0" anchor="ctr"/>
          <a:lstStyle/>
          <a:p>
            <a:pPr algn="ctr">
              <a:lnSpc>
                <a:spcPct val="100000"/>
              </a:lnSpc>
            </a:pPr>
            <a:r>
              <a:rPr lang="en-US" sz="1600" b="1" dirty="0">
                <a:solidFill>
                  <a:srgbClr val="1E293B"/>
                </a:solidFill>
                <a:latin typeface="Quattrocento Sans" pitchFamily="34" charset="0"/>
                <a:ea typeface="Quattrocento Sans" pitchFamily="34" charset="-122"/>
                <a:cs typeface="Quattrocento Sans" pitchFamily="34" charset="-120"/>
              </a:rPr>
              <a:t>Hoàn tiền</a:t>
            </a:r>
            <a:endParaRPr lang="en-US" sz="1600" dirty="0"/>
          </a:p>
          <a:p>
            <a:pPr algn="ctr">
              <a:lnSpc>
                <a:spcPct val="100000"/>
              </a:lnSpc>
            </a:pPr>
            <a:r>
              <a:rPr lang="en-US" sz="1300" dirty="0">
                <a:solidFill>
                  <a:srgbClr val="64748B"/>
                </a:solidFill>
                <a:latin typeface="Quattrocento Sans" pitchFamily="34" charset="0"/>
                <a:ea typeface="Quattrocento Sans" pitchFamily="34" charset="-122"/>
                <a:cs typeface="Quattrocento Sans" pitchFamily="34" charset="-120"/>
              </a:rPr>
              <a:t>refund</a:t>
            </a:r>
            <a:endParaRPr lang="en-US" sz="1600" dirty="0"/>
          </a:p>
        </p:txBody>
      </p:sp>
      <p:sp>
        <p:nvSpPr>
          <p:cNvPr id="23" name="Shape 21"/>
          <p:cNvSpPr/>
          <p:nvPr/>
        </p:nvSpPr>
        <p:spPr>
          <a:xfrm>
            <a:off x="4318000" y="6223000"/>
            <a:ext cx="1778000" cy="1143000"/>
          </a:xfrm>
          <a:prstGeom prst="straightConnector1">
            <a:avLst/>
          </a:prstGeom>
          <a:noFill/>
          <a:ln w="25400">
            <a:solidFill>
              <a:srgbClr val="3B82F6"/>
            </a:solidFill>
            <a:prstDash val="solid"/>
            <a:headEnd type="none"/>
            <a:tailEnd type="arrow"/>
          </a:ln>
        </p:spPr>
      </p:sp>
      <p:sp>
        <p:nvSpPr>
          <p:cNvPr id="24" name="Shape 22"/>
          <p:cNvSpPr/>
          <p:nvPr/>
        </p:nvSpPr>
        <p:spPr>
          <a:xfrm>
            <a:off x="10668000" y="1778000"/>
            <a:ext cx="4826000" cy="64135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25" name="Text 23"/>
          <p:cNvSpPr/>
          <p:nvPr/>
        </p:nvSpPr>
        <p:spPr>
          <a:xfrm>
            <a:off x="10985500" y="2032000"/>
            <a:ext cx="4191000" cy="381000"/>
          </a:xfrm>
          <a:prstGeom prst="rect">
            <a:avLst/>
          </a:prstGeom>
          <a:noFill/>
          <a:ln/>
        </p:spPr>
        <p:txBody>
          <a:bodyPr wrap="none" lIns="0" tIns="0" rIns="0" bIns="0" rtlCol="0" anchor="ctr"/>
          <a:lstStyle/>
          <a:p>
            <a:pPr>
              <a:lnSpc>
                <a:spcPct val="100000"/>
              </a:lnSpc>
            </a:pPr>
            <a:r>
              <a:rPr lang="en-US" sz="1800" b="1" dirty="0">
                <a:solidFill>
                  <a:srgbClr val="1B3A5C"/>
                </a:solidFill>
                <a:latin typeface="Liter" pitchFamily="34" charset="0"/>
                <a:ea typeface="Liter" pitchFamily="34" charset="-122"/>
                <a:cs typeface="Liter" pitchFamily="34" charset="-120"/>
              </a:rPr>
              <a:t>Mô tả hệ thống</a:t>
            </a:r>
            <a:endParaRPr lang="en-US" sz="1600" dirty="0"/>
          </a:p>
        </p:txBody>
      </p:sp>
      <p:sp>
        <p:nvSpPr>
          <p:cNvPr id="26" name="Shape 24"/>
          <p:cNvSpPr/>
          <p:nvPr/>
        </p:nvSpPr>
        <p:spPr>
          <a:xfrm>
            <a:off x="10985500" y="2514600"/>
            <a:ext cx="4191000" cy="12700"/>
          </a:xfrm>
          <a:prstGeom prst="rect">
            <a:avLst/>
          </a:prstGeom>
          <a:solidFill>
            <a:srgbClr val="E2E8F0"/>
          </a:solidFill>
          <a:ln/>
        </p:spPr>
      </p:sp>
      <p:sp>
        <p:nvSpPr>
          <p:cNvPr id="27" name="Text 25"/>
          <p:cNvSpPr/>
          <p:nvPr/>
        </p:nvSpPr>
        <p:spPr>
          <a:xfrm>
            <a:off x="10985500" y="2692400"/>
            <a:ext cx="4191000" cy="5270500"/>
          </a:xfrm>
          <a:prstGeom prst="rect">
            <a:avLst/>
          </a:prstGeom>
          <a:noFill/>
          <a:ln/>
        </p:spPr>
        <p:txBody>
          <a:bodyPr wrap="square" lIns="0" tIns="0" rIns="0" bIns="0" rtlCol="0" anchor="t"/>
          <a:lstStyle/>
          <a:p>
            <a:pPr>
              <a:lnSpc>
                <a:spcPct val="180000"/>
              </a:lnSpc>
            </a:pPr>
            <a:r>
              <a:rPr lang="en-US" sz="1500" dirty="0">
                <a:solidFill>
                  <a:srgbClr val="1E293B"/>
                </a:solidFill>
                <a:latin typeface="Quattrocento Sans" pitchFamily="34" charset="0"/>
                <a:ea typeface="Quattrocento Sans" pitchFamily="34" charset="-122"/>
                <a:cs typeface="Quattrocento Sans" pitchFamily="34" charset="-120"/>
              </a:rPr>
              <a:t>Ngườii dùng đóng vai trò trung tâm của hệ thống, có thể thực hiện tất cả các chức năng chính:</a:t>
            </a:r>
            <a:endParaRPr lang="en-US" sz="1600" dirty="0"/>
          </a:p>
          <a:p>
            <a:pPr>
              <a:lnSpc>
                <a:spcPct val="180000"/>
              </a:lnSpc>
              <a:spcBef>
                <a:spcPts val="1000"/>
              </a:spcBef>
            </a:pPr>
            <a:r>
              <a:rPr lang="en-US" sz="1500" dirty="0">
                <a:solidFill>
                  <a:srgbClr val="1E293B"/>
                </a:solidFill>
                <a:latin typeface="Quattrocento Sans" pitchFamily="34" charset="0"/>
                <a:ea typeface="Quattrocento Sans" pitchFamily="34" charset="-122"/>
                <a:cs typeface="Quattrocento Sans" pitchFamily="34" charset="-120"/>
              </a:rPr>
              <a:t>• </a:t>
            </a:r>
            <a:r>
              <a:rPr lang="en-US" sz="1500" b="1" dirty="0">
                <a:solidFill>
                  <a:srgbClr val="1E293B"/>
                </a:solidFill>
                <a:latin typeface="Quattrocento Sans" pitchFamily="34" charset="0"/>
                <a:ea typeface="Quattrocento Sans" pitchFamily="34" charset="-122"/>
                <a:cs typeface="Quattrocento Sans" pitchFamily="34" charset="-120"/>
              </a:rPr>
              <a:t>Tạo chiến dịch</a:t>
            </a:r>
            <a:r>
              <a:rPr lang="en-US" sz="1500" dirty="0">
                <a:solidFill>
                  <a:srgbClr val="1E293B"/>
                </a:solidFill>
                <a:latin typeface="Quattrocento Sans" pitchFamily="34" charset="0"/>
                <a:ea typeface="Quattrocento Sans" pitchFamily="34" charset="-122"/>
                <a:cs typeface="Quattrocento Sans" pitchFamily="34" charset="-120"/>
              </a:rPr>
              <a:t> - Khởi tạo chiến dịch gây quỹ mới</a:t>
            </a:r>
            <a:endParaRPr lang="en-US" sz="1600" dirty="0"/>
          </a:p>
          <a:p>
            <a:pPr>
              <a:lnSpc>
                <a:spcPct val="180000"/>
              </a:lnSpc>
            </a:pPr>
            <a:r>
              <a:rPr lang="en-US" sz="1500" dirty="0">
                <a:solidFill>
                  <a:srgbClr val="1E293B"/>
                </a:solidFill>
                <a:latin typeface="Quattrocento Sans" pitchFamily="34" charset="0"/>
                <a:ea typeface="Quattrocento Sans" pitchFamily="34" charset="-122"/>
                <a:cs typeface="Quattrocento Sans" pitchFamily="34" charset="-120"/>
              </a:rPr>
              <a:t>• </a:t>
            </a:r>
            <a:r>
              <a:rPr lang="en-US" sz="1500" b="1" dirty="0">
                <a:solidFill>
                  <a:srgbClr val="1E293B"/>
                </a:solidFill>
                <a:latin typeface="Quattrocento Sans" pitchFamily="34" charset="0"/>
                <a:ea typeface="Quattrocento Sans" pitchFamily="34" charset="-122"/>
                <a:cs typeface="Quattrocento Sans" pitchFamily="34" charset="-120"/>
              </a:rPr>
              <a:t>Góp vốn</a:t>
            </a:r>
            <a:r>
              <a:rPr lang="en-US" sz="1500" dirty="0">
                <a:solidFill>
                  <a:srgbClr val="1E293B"/>
                </a:solidFill>
                <a:latin typeface="Quattrocento Sans" pitchFamily="34" charset="0"/>
                <a:ea typeface="Quattrocento Sans" pitchFamily="34" charset="-122"/>
                <a:cs typeface="Quattrocento Sans" pitchFamily="34" charset="-120"/>
              </a:rPr>
              <a:t> - Tham gia đóng góp ETH</a:t>
            </a:r>
            <a:endParaRPr lang="en-US" sz="1600" dirty="0"/>
          </a:p>
          <a:p>
            <a:pPr>
              <a:lnSpc>
                <a:spcPct val="180000"/>
              </a:lnSpc>
            </a:pPr>
            <a:r>
              <a:rPr lang="en-US" sz="1500" dirty="0">
                <a:solidFill>
                  <a:srgbClr val="1E293B"/>
                </a:solidFill>
                <a:latin typeface="Quattrocento Sans" pitchFamily="34" charset="0"/>
                <a:ea typeface="Quattrocento Sans" pitchFamily="34" charset="-122"/>
                <a:cs typeface="Quattrocento Sans" pitchFamily="34" charset="-120"/>
              </a:rPr>
              <a:t>• </a:t>
            </a:r>
            <a:r>
              <a:rPr lang="en-US" sz="1500" b="1" dirty="0">
                <a:solidFill>
                  <a:srgbClr val="1E293B"/>
                </a:solidFill>
                <a:latin typeface="Quattrocento Sans" pitchFamily="34" charset="0"/>
                <a:ea typeface="Quattrocento Sans" pitchFamily="34" charset="-122"/>
                <a:cs typeface="Quattrocento Sans" pitchFamily="34" charset="-120"/>
              </a:rPr>
              <a:t>Rút tiền</a:t>
            </a:r>
            <a:r>
              <a:rPr lang="en-US" sz="1500" dirty="0">
                <a:solidFill>
                  <a:srgbClr val="1E293B"/>
                </a:solidFill>
                <a:latin typeface="Quattrocento Sans" pitchFamily="34" charset="0"/>
                <a:ea typeface="Quattrocento Sans" pitchFamily="34" charset="-122"/>
                <a:cs typeface="Quattrocento Sans" pitchFamily="34" charset="-120"/>
              </a:rPr>
              <a:t> - Rút tiền khi thành công</a:t>
            </a:r>
            <a:endParaRPr lang="en-US" sz="1600" dirty="0"/>
          </a:p>
          <a:p>
            <a:pPr>
              <a:lnSpc>
                <a:spcPct val="180000"/>
              </a:lnSpc>
            </a:pPr>
            <a:r>
              <a:rPr lang="en-US" sz="1500" dirty="0">
                <a:solidFill>
                  <a:srgbClr val="1E293B"/>
                </a:solidFill>
                <a:latin typeface="Quattrocento Sans" pitchFamily="34" charset="0"/>
                <a:ea typeface="Quattrocento Sans" pitchFamily="34" charset="-122"/>
                <a:cs typeface="Quattrocento Sans" pitchFamily="34" charset="-120"/>
              </a:rPr>
              <a:t>• </a:t>
            </a:r>
            <a:r>
              <a:rPr lang="en-US" sz="1500" b="1" dirty="0">
                <a:solidFill>
                  <a:srgbClr val="1E293B"/>
                </a:solidFill>
                <a:latin typeface="Quattrocento Sans" pitchFamily="34" charset="0"/>
                <a:ea typeface="Quattrocento Sans" pitchFamily="34" charset="-122"/>
                <a:cs typeface="Quattrocento Sans" pitchFamily="34" charset="-120"/>
              </a:rPr>
              <a:t>Hoàn tiền</a:t>
            </a:r>
            <a:r>
              <a:rPr lang="en-US" sz="1500" dirty="0">
                <a:solidFill>
                  <a:srgbClr val="1E293B"/>
                </a:solidFill>
                <a:latin typeface="Quattrocento Sans" pitchFamily="34" charset="0"/>
                <a:ea typeface="Quattrocento Sans" pitchFamily="34" charset="-122"/>
                <a:cs typeface="Quattrocento Sans" pitchFamily="34" charset="-120"/>
              </a:rPr>
              <a:t> - Nhận lại vốn khi thất bại</a:t>
            </a:r>
            <a:endParaRPr lang="en-US" sz="1600" dirty="0"/>
          </a:p>
          <a:p>
            <a:pPr>
              <a:lnSpc>
                <a:spcPct val="180000"/>
              </a:lnSpc>
              <a:spcBef>
                <a:spcPts val="1000"/>
              </a:spcBef>
            </a:pPr>
            <a:r>
              <a:rPr lang="en-US" sz="1500" dirty="0">
                <a:solidFill>
                  <a:srgbClr val="1E293B"/>
                </a:solidFill>
                <a:latin typeface="Quattrocento Sans" pitchFamily="34" charset="0"/>
                <a:ea typeface="Quattrocento Sans" pitchFamily="34" charset="-122"/>
                <a:cs typeface="Quattrocento Sans" pitchFamily="34" charset="-120"/>
              </a:rPr>
              <a:t>Các chức năng được thực hiện qua giao diện web và xử lý bởi Smart Contract trên Blockchain.</a:t>
            </a:r>
            <a:endParaRPr lang="en-US" sz="1600" dirty="0"/>
          </a:p>
        </p:txBody>
      </p:sp>
      <p:sp>
        <p:nvSpPr>
          <p:cNvPr id="28" name="Text 26"/>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400" dirty="0">
                <a:solidFill>
                  <a:srgbClr val="64748B"/>
                </a:solidFill>
                <a:latin typeface="QuattrocentoSans" pitchFamily="34" charset="0"/>
                <a:ea typeface="QuattrocentoSans" pitchFamily="34" charset="-122"/>
                <a:cs typeface="QuattrocentoSans" pitchFamily="34" charset="-120"/>
              </a:rPr>
              <a:t>08</a:t>
            </a:r>
            <a:endParaRPr lang="en-US" sz="14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B3A5C"/>
          </a:solidFill>
          <a:ln/>
        </p:spPr>
      </p:sp>
      <p:sp>
        <p:nvSpPr>
          <p:cNvPr id="3" name="Text 1"/>
          <p:cNvSpPr/>
          <p:nvPr/>
        </p:nvSpPr>
        <p:spPr>
          <a:xfrm>
            <a:off x="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FFFFFF"/>
                </a:solidFill>
                <a:latin typeface="Liter" pitchFamily="34" charset="0"/>
                <a:ea typeface="Liter" pitchFamily="34" charset="-122"/>
                <a:cs typeface="Liter" pitchFamily="34" charset="-120"/>
              </a:rPr>
              <a:t>PHÂN TÍCH VÀ THIẾT KẾ</a:t>
            </a:r>
            <a:endParaRPr lang="en-US" sz="1300" dirty="0"/>
          </a:p>
        </p:txBody>
      </p:sp>
      <p:sp>
        <p:nvSpPr>
          <p:cNvPr id="4" name="Text 2"/>
          <p:cNvSpPr/>
          <p:nvPr/>
        </p:nvSpPr>
        <p:spPr>
          <a:xfrm>
            <a:off x="812800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94A3B8"/>
                </a:solidFill>
                <a:latin typeface="Liter" pitchFamily="34" charset="0"/>
                <a:ea typeface="Liter" pitchFamily="34" charset="-122"/>
                <a:cs typeface="Liter" pitchFamily="34" charset="-120"/>
              </a:rPr>
              <a:t>XÂY DỰNG VÀ TRIỂN KHAI</a:t>
            </a:r>
            <a:endParaRPr lang="en-US" sz="1300" dirty="0"/>
          </a:p>
        </p:txBody>
      </p:sp>
      <p:sp>
        <p:nvSpPr>
          <p:cNvPr id="5" name="Shape 3"/>
          <p:cNvSpPr/>
          <p:nvPr/>
        </p:nvSpPr>
        <p:spPr>
          <a:xfrm>
            <a:off x="0" y="558800"/>
            <a:ext cx="8128000" cy="50800"/>
          </a:xfrm>
          <a:prstGeom prst="rect">
            <a:avLst/>
          </a:prstGeom>
          <a:solidFill>
            <a:srgbClr val="3B82F6"/>
          </a:solidFill>
          <a:ln/>
        </p:spPr>
      </p:sp>
      <p:sp>
        <p:nvSpPr>
          <p:cNvPr id="6" name="Shape 4"/>
          <p:cNvSpPr/>
          <p:nvPr/>
        </p:nvSpPr>
        <p:spPr>
          <a:xfrm>
            <a:off x="762000" y="863600"/>
            <a:ext cx="63500" cy="406400"/>
          </a:xfrm>
          <a:prstGeom prst="rect">
            <a:avLst/>
          </a:prstGeom>
          <a:solidFill>
            <a:srgbClr val="3B82F6"/>
          </a:solidFill>
          <a:ln/>
        </p:spPr>
      </p:sp>
      <p:sp>
        <p:nvSpPr>
          <p:cNvPr id="7" name="Text 5"/>
          <p:cNvSpPr/>
          <p:nvPr/>
        </p:nvSpPr>
        <p:spPr>
          <a:xfrm>
            <a:off x="990600" y="825500"/>
            <a:ext cx="10160000" cy="482600"/>
          </a:xfrm>
          <a:prstGeom prst="rect">
            <a:avLst/>
          </a:prstGeom>
          <a:noFill/>
          <a:ln/>
        </p:spPr>
        <p:txBody>
          <a:bodyPr wrap="none" lIns="0" tIns="0" rIns="0" bIns="0" rtlCol="0" anchor="ctr"/>
          <a:lstStyle/>
          <a:p>
            <a:pPr>
              <a:lnSpc>
                <a:spcPct val="130000"/>
              </a:lnSpc>
            </a:pPr>
            <a:r>
              <a:rPr lang="en-US" sz="2800" dirty="0">
                <a:solidFill>
                  <a:srgbClr val="1B3A5C"/>
                </a:solidFill>
                <a:latin typeface="Liter" pitchFamily="34" charset="0"/>
                <a:ea typeface="Liter" pitchFamily="34" charset="-122"/>
                <a:cs typeface="Liter" pitchFamily="34" charset="-120"/>
              </a:rPr>
              <a:t>2.3.1 Đặc tả Use Case</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2368479466"/>
              </p:ext>
            </p:extLst>
          </p:nvPr>
        </p:nvGraphicFramePr>
        <p:xfrm>
          <a:off x="762000" y="1524000"/>
          <a:ext cx="14732000" cy="6857998"/>
        </p:xfrm>
        <a:graphic>
          <a:graphicData uri="http://schemas.openxmlformats.org/drawingml/2006/table">
            <a:tbl>
              <a:tblPr/>
              <a:tblGrid>
                <a:gridCol w="2209800">
                  <a:extLst>
                    <a:ext uri="{9D8B030D-6E8A-4147-A177-3AD203B41FA5}">
                      <a16:colId xmlns:a16="http://schemas.microsoft.com/office/drawing/2014/main" val="20000"/>
                    </a:ext>
                  </a:extLst>
                </a:gridCol>
                <a:gridCol w="3683000">
                  <a:extLst>
                    <a:ext uri="{9D8B030D-6E8A-4147-A177-3AD203B41FA5}">
                      <a16:colId xmlns:a16="http://schemas.microsoft.com/office/drawing/2014/main" val="20001"/>
                    </a:ext>
                  </a:extLst>
                </a:gridCol>
                <a:gridCol w="4419600">
                  <a:extLst>
                    <a:ext uri="{9D8B030D-6E8A-4147-A177-3AD203B41FA5}">
                      <a16:colId xmlns:a16="http://schemas.microsoft.com/office/drawing/2014/main" val="20002"/>
                    </a:ext>
                  </a:extLst>
                </a:gridCol>
                <a:gridCol w="4419600">
                  <a:extLst>
                    <a:ext uri="{9D8B030D-6E8A-4147-A177-3AD203B41FA5}">
                      <a16:colId xmlns:a16="http://schemas.microsoft.com/office/drawing/2014/main" val="20003"/>
                    </a:ext>
                  </a:extLst>
                </a:gridCol>
              </a:tblGrid>
              <a:tr h="823974">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Use Case</a:t>
                      </a:r>
                      <a:endParaRPr lang="en-US" sz="1600" dirty="0">
                        <a:latin typeface="QuattrocentoSans" charset="0"/>
                        <a:ea typeface="QuattrocentoSans" charset="0"/>
                        <a:cs typeface="QuattrocentoSans" charset="0"/>
                      </a:endParaRPr>
                    </a:p>
                  </a:txBody>
                  <a:tcPr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3A5C"/>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Actor</a:t>
                      </a:r>
                      <a:endParaRPr lang="en-US" sz="1600" dirty="0">
                        <a:latin typeface="QuattrocentoSans" charset="0"/>
                        <a:ea typeface="QuattrocentoSans" charset="0"/>
                        <a:cs typeface="QuattrocentoSans" charset="0"/>
                      </a:endParaRPr>
                    </a:p>
                  </a:txBody>
                  <a:tcPr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3A5C"/>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Điều kiện</a:t>
                      </a:r>
                      <a:endParaRPr lang="en-US" sz="1600" dirty="0">
                        <a:latin typeface="QuattrocentoSans" charset="0"/>
                        <a:ea typeface="QuattrocentoSans" charset="0"/>
                        <a:cs typeface="QuattrocentoSans" charset="0"/>
                      </a:endParaRPr>
                    </a:p>
                  </a:txBody>
                  <a:tcPr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3A5C"/>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Kết quả</a:t>
                      </a:r>
                      <a:endParaRPr lang="en-US" sz="1600" dirty="0">
                        <a:latin typeface="QuattrocentoSans" charset="0"/>
                        <a:ea typeface="QuattrocentoSans" charset="0"/>
                        <a:cs typeface="QuattrocentoSans" charset="0"/>
                      </a:endParaRPr>
                    </a:p>
                  </a:txBody>
                  <a:tcPr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1508506">
                <a:tc>
                  <a:txBody>
                    <a:bodyPr/>
                    <a:lstStyle/>
                    <a:p>
                      <a:pPr algn="l"/>
                      <a:r>
                        <a:rPr lang="en-US" sz="1600" u="none" dirty="0">
                          <a:solidFill>
                            <a:srgbClr val="1E293B"/>
                          </a:solidFill>
                          <a:latin typeface="QuattrocentoSans" pitchFamily="34" charset="0"/>
                          <a:ea typeface="QuattrocentoSans" pitchFamily="34" charset="-122"/>
                          <a:cs typeface="QuattrocentoSans" pitchFamily="34" charset="-120"/>
                        </a:rPr>
                        <a:t>UC1</a:t>
                      </a:r>
                      <a:endParaRPr lang="en-US" sz="1600" dirty="0">
                        <a:latin typeface="QuattrocentoSans" charset="0"/>
                        <a:ea typeface="QuattrocentoSans" charset="0"/>
                        <a:cs typeface="QuattrocentoSans" charset="0"/>
                      </a:endParaRPr>
                    </a:p>
                    <a:p>
                      <a:pPr algn="l"/>
                      <a:r>
                        <a:rPr lang="en-US" sz="1600" u="none" dirty="0">
                          <a:solidFill>
                            <a:srgbClr val="1E293B"/>
                          </a:solidFill>
                          <a:latin typeface="QuattrocentoSans" pitchFamily="34" charset="0"/>
                          <a:ea typeface="QuattrocentoSans" pitchFamily="34" charset="-122"/>
                          <a:cs typeface="QuattrocentoSans" pitchFamily="34" charset="-120"/>
                        </a:rPr>
                        <a:t>Tạo chiến dịch</a:t>
                      </a:r>
                      <a:endParaRPr lang="en-US" sz="1600" dirty="0">
                        <a:latin typeface="QuattrocentoSans" charset="0"/>
                        <a:ea typeface="QuattrocentoSans" charset="0"/>
                        <a:cs typeface="QuattrocentoSans" charset="0"/>
                      </a:endParaRPr>
                    </a:p>
                  </a:txBody>
                  <a:tcPr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err="1">
                          <a:solidFill>
                            <a:srgbClr val="1E293B"/>
                          </a:solidFill>
                          <a:latin typeface="QuattrocentoSans" pitchFamily="34" charset="0"/>
                          <a:ea typeface="QuattrocentoSans" pitchFamily="34" charset="-122"/>
                          <a:cs typeface="QuattrocentoSans" pitchFamily="34" charset="-120"/>
                        </a:rPr>
                        <a:t>Người</a:t>
                      </a:r>
                      <a:r>
                        <a:rPr lang="en-US" sz="1600" u="none" dirty="0">
                          <a:solidFill>
                            <a:srgbClr val="1E293B"/>
                          </a:solidFill>
                          <a:latin typeface="QuattrocentoSans" pitchFamily="34" charset="0"/>
                          <a:ea typeface="QuattrocentoSans" pitchFamily="34" charset="-122"/>
                          <a:cs typeface="QuattrocentoSans" pitchFamily="34" charset="-120"/>
                        </a:rPr>
                        <a:t> dùng</a:t>
                      </a:r>
                      <a:endParaRPr lang="en-US" sz="1600" dirty="0">
                        <a:latin typeface="QuattrocentoSans" charset="0"/>
                        <a:ea typeface="QuattrocentoSans" charset="0"/>
                        <a:cs typeface="QuattrocentoSans" charset="0"/>
                      </a:endParaRPr>
                    </a:p>
                  </a:txBody>
                  <a:tcPr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1E293B"/>
                          </a:solidFill>
                          <a:latin typeface="QuattrocentoSans" pitchFamily="34" charset="0"/>
                          <a:ea typeface="QuattrocentoSans" pitchFamily="34" charset="-122"/>
                          <a:cs typeface="QuattrocentoSans" pitchFamily="34" charset="-120"/>
                        </a:rPr>
                        <a:t>Đã kết nối ví MetaMask</a:t>
                      </a:r>
                      <a:endParaRPr lang="en-US" sz="1600" dirty="0">
                        <a:latin typeface="QuattrocentoSans" charset="0"/>
                        <a:ea typeface="QuattrocentoSans" charset="0"/>
                        <a:cs typeface="QuattrocentoSans" charset="0"/>
                      </a:endParaRPr>
                    </a:p>
                  </a:txBody>
                  <a:tcPr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1E293B"/>
                          </a:solidFill>
                          <a:latin typeface="QuattrocentoSans" pitchFamily="34" charset="0"/>
                          <a:ea typeface="QuattrocentoSans" pitchFamily="34" charset="-122"/>
                          <a:cs typeface="QuattrocentoSans" pitchFamily="34" charset="-120"/>
                        </a:rPr>
                        <a:t>Chiến dịch được lưu trên Blockchain</a:t>
                      </a:r>
                      <a:endParaRPr lang="en-US" sz="1600" dirty="0">
                        <a:latin typeface="QuattrocentoSans" charset="0"/>
                        <a:ea typeface="QuattrocentoSans" charset="0"/>
                        <a:cs typeface="QuattrocentoSans" charset="0"/>
                      </a:endParaRPr>
                    </a:p>
                  </a:txBody>
                  <a:tcPr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508506">
                <a:tc>
                  <a:txBody>
                    <a:bodyPr/>
                    <a:lstStyle/>
                    <a:p>
                      <a:pPr algn="l"/>
                      <a:r>
                        <a:rPr lang="en-US" sz="1600" u="none" dirty="0">
                          <a:solidFill>
                            <a:srgbClr val="1E293B"/>
                          </a:solidFill>
                          <a:latin typeface="QuattrocentoSans" pitchFamily="34" charset="0"/>
                          <a:ea typeface="QuattrocentoSans" pitchFamily="34" charset="-122"/>
                          <a:cs typeface="QuattrocentoSans" pitchFamily="34" charset="-120"/>
                        </a:rPr>
                        <a:t>UC2</a:t>
                      </a:r>
                      <a:endParaRPr lang="en-US" sz="1600" dirty="0">
                        <a:latin typeface="QuattrocentoSans" charset="0"/>
                        <a:ea typeface="QuattrocentoSans" charset="0"/>
                        <a:cs typeface="QuattrocentoSans" charset="0"/>
                      </a:endParaRPr>
                    </a:p>
                    <a:p>
                      <a:pPr algn="l"/>
                      <a:r>
                        <a:rPr lang="en-US" sz="1600" u="none" dirty="0">
                          <a:solidFill>
                            <a:srgbClr val="1E293B"/>
                          </a:solidFill>
                          <a:latin typeface="QuattrocentoSans" pitchFamily="34" charset="0"/>
                          <a:ea typeface="QuattrocentoSans" pitchFamily="34" charset="-122"/>
                          <a:cs typeface="QuattrocentoSans" pitchFamily="34" charset="-120"/>
                        </a:rPr>
                        <a:t>Góp vốn</a:t>
                      </a:r>
                      <a:endParaRPr lang="en-US" sz="1600" dirty="0">
                        <a:latin typeface="QuattrocentoSans" charset="0"/>
                        <a:ea typeface="QuattrocentoSans" charset="0"/>
                        <a:cs typeface="QuattrocentoSans" charset="0"/>
                      </a:endParaRPr>
                    </a:p>
                  </a:txBody>
                  <a:tcPr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l"/>
                      <a:r>
                        <a:rPr lang="en-US" sz="1600" u="none" dirty="0" err="1">
                          <a:solidFill>
                            <a:srgbClr val="1E293B"/>
                          </a:solidFill>
                          <a:latin typeface="QuattrocentoSans" pitchFamily="34" charset="0"/>
                          <a:ea typeface="QuattrocentoSans" pitchFamily="34" charset="-122"/>
                          <a:cs typeface="QuattrocentoSans" pitchFamily="34" charset="-120"/>
                        </a:rPr>
                        <a:t>Người</a:t>
                      </a:r>
                      <a:r>
                        <a:rPr lang="en-US" sz="1600" u="none" dirty="0">
                          <a:solidFill>
                            <a:srgbClr val="1E293B"/>
                          </a:solidFill>
                          <a:latin typeface="QuattrocentoSans" pitchFamily="34" charset="0"/>
                          <a:ea typeface="QuattrocentoSans" pitchFamily="34" charset="-122"/>
                          <a:cs typeface="QuattrocentoSans" pitchFamily="34" charset="-120"/>
                        </a:rPr>
                        <a:t> dùng</a:t>
                      </a:r>
                      <a:endParaRPr lang="en-US" sz="1600" dirty="0">
                        <a:latin typeface="QuattrocentoSans" charset="0"/>
                        <a:ea typeface="QuattrocentoSans" charset="0"/>
                        <a:cs typeface="QuattrocentoSans" charset="0"/>
                      </a:endParaRPr>
                    </a:p>
                  </a:txBody>
                  <a:tcPr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l"/>
                      <a:r>
                        <a:rPr lang="en-US" sz="1600" u="none" dirty="0">
                          <a:solidFill>
                            <a:srgbClr val="1E293B"/>
                          </a:solidFill>
                          <a:latin typeface="QuattrocentoSans" pitchFamily="34" charset="0"/>
                          <a:ea typeface="QuattrocentoSans" pitchFamily="34" charset="-122"/>
                          <a:cs typeface="QuattrocentoSans" pitchFamily="34" charset="-120"/>
                        </a:rPr>
                        <a:t>Chiến dịch đang hoạt động</a:t>
                      </a:r>
                      <a:endParaRPr lang="en-US" sz="1600" dirty="0">
                        <a:latin typeface="QuattrocentoSans" charset="0"/>
                        <a:ea typeface="QuattrocentoSans" charset="0"/>
                        <a:cs typeface="QuattrocentoSans" charset="0"/>
                      </a:endParaRPr>
                    </a:p>
                  </a:txBody>
                  <a:tcPr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l"/>
                      <a:r>
                        <a:rPr lang="en-US" sz="1600" u="none" dirty="0">
                          <a:solidFill>
                            <a:srgbClr val="1E293B"/>
                          </a:solidFill>
                          <a:latin typeface="QuattrocentoSans" pitchFamily="34" charset="0"/>
                          <a:ea typeface="QuattrocentoSans" pitchFamily="34" charset="-122"/>
                          <a:cs typeface="QuattrocentoSans" pitchFamily="34" charset="-120"/>
                        </a:rPr>
                        <a:t>Số tiền được cập nhật trên Blockchain</a:t>
                      </a:r>
                      <a:endParaRPr lang="en-US" sz="1600" dirty="0">
                        <a:latin typeface="QuattrocentoSans" charset="0"/>
                        <a:ea typeface="QuattrocentoSans" charset="0"/>
                        <a:cs typeface="QuattrocentoSans" charset="0"/>
                      </a:endParaRPr>
                    </a:p>
                  </a:txBody>
                  <a:tcPr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1508506">
                <a:tc>
                  <a:txBody>
                    <a:bodyPr/>
                    <a:lstStyle/>
                    <a:p>
                      <a:pPr algn="l"/>
                      <a:r>
                        <a:rPr lang="en-US" sz="1600" u="none" dirty="0">
                          <a:solidFill>
                            <a:srgbClr val="1E293B"/>
                          </a:solidFill>
                          <a:latin typeface="QuattrocentoSans" pitchFamily="34" charset="0"/>
                          <a:ea typeface="QuattrocentoSans" pitchFamily="34" charset="-122"/>
                          <a:cs typeface="QuattrocentoSans" pitchFamily="34" charset="-120"/>
                        </a:rPr>
                        <a:t>UC3</a:t>
                      </a:r>
                      <a:endParaRPr lang="en-US" sz="1600" dirty="0">
                        <a:latin typeface="QuattrocentoSans" charset="0"/>
                        <a:ea typeface="QuattrocentoSans" charset="0"/>
                        <a:cs typeface="QuattrocentoSans" charset="0"/>
                      </a:endParaRPr>
                    </a:p>
                    <a:p>
                      <a:pPr algn="l"/>
                      <a:r>
                        <a:rPr lang="en-US" sz="1600" u="none" dirty="0">
                          <a:solidFill>
                            <a:srgbClr val="1E293B"/>
                          </a:solidFill>
                          <a:latin typeface="QuattrocentoSans" pitchFamily="34" charset="0"/>
                          <a:ea typeface="QuattrocentoSans" pitchFamily="34" charset="-122"/>
                          <a:cs typeface="QuattrocentoSans" pitchFamily="34" charset="-120"/>
                        </a:rPr>
                        <a:t>Rút tiền</a:t>
                      </a:r>
                      <a:endParaRPr lang="en-US" sz="1600" dirty="0">
                        <a:latin typeface="QuattrocentoSans" charset="0"/>
                        <a:ea typeface="QuattrocentoSans" charset="0"/>
                        <a:cs typeface="QuattrocentoSans" charset="0"/>
                      </a:endParaRPr>
                    </a:p>
                  </a:txBody>
                  <a:tcPr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1E293B"/>
                          </a:solidFill>
                          <a:latin typeface="QuattrocentoSans" pitchFamily="34" charset="0"/>
                          <a:ea typeface="QuattrocentoSans" pitchFamily="34" charset="-122"/>
                          <a:cs typeface="QuattrocentoSans" pitchFamily="34" charset="-120"/>
                        </a:rPr>
                        <a:t>Chủ chiến dịch</a:t>
                      </a:r>
                      <a:endParaRPr lang="en-US" sz="1600" dirty="0">
                        <a:latin typeface="QuattrocentoSans" charset="0"/>
                        <a:ea typeface="QuattrocentoSans" charset="0"/>
                        <a:cs typeface="QuattrocentoSans" charset="0"/>
                      </a:endParaRPr>
                    </a:p>
                  </a:txBody>
                  <a:tcPr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1E293B"/>
                          </a:solidFill>
                          <a:latin typeface="QuattrocentoSans" pitchFamily="34" charset="0"/>
                          <a:ea typeface="QuattrocentoSans" pitchFamily="34" charset="-122"/>
                          <a:cs typeface="QuattrocentoSans" pitchFamily="34" charset="-120"/>
                        </a:rPr>
                        <a:t>Chiến dịch đạt mục tiêu tài chính</a:t>
                      </a:r>
                      <a:endParaRPr lang="en-US" sz="1600" dirty="0">
                        <a:latin typeface="QuattrocentoSans" charset="0"/>
                        <a:ea typeface="QuattrocentoSans" charset="0"/>
                        <a:cs typeface="QuattrocentoSans" charset="0"/>
                      </a:endParaRPr>
                    </a:p>
                  </a:txBody>
                  <a:tcPr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1E293B"/>
                          </a:solidFill>
                          <a:latin typeface="QuattrocentoSans" pitchFamily="34" charset="0"/>
                          <a:ea typeface="QuattrocentoSans" pitchFamily="34" charset="-122"/>
                          <a:cs typeface="QuattrocentoSans" pitchFamily="34" charset="-120"/>
                        </a:rPr>
                        <a:t>ETH được chuyển về ví ngườii tạo</a:t>
                      </a:r>
                      <a:endParaRPr lang="en-US" sz="1600" dirty="0">
                        <a:latin typeface="QuattrocentoSans" charset="0"/>
                        <a:ea typeface="QuattrocentoSans" charset="0"/>
                        <a:cs typeface="QuattrocentoSans" charset="0"/>
                      </a:endParaRPr>
                    </a:p>
                  </a:txBody>
                  <a:tcPr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508506">
                <a:tc>
                  <a:txBody>
                    <a:bodyPr/>
                    <a:lstStyle/>
                    <a:p>
                      <a:pPr algn="l"/>
                      <a:r>
                        <a:rPr lang="en-US" sz="1600" u="none" dirty="0">
                          <a:solidFill>
                            <a:srgbClr val="1E293B"/>
                          </a:solidFill>
                          <a:latin typeface="QuattrocentoSans" pitchFamily="34" charset="0"/>
                          <a:ea typeface="QuattrocentoSans" pitchFamily="34" charset="-122"/>
                          <a:cs typeface="QuattrocentoSans" pitchFamily="34" charset="-120"/>
                        </a:rPr>
                        <a:t>UC4</a:t>
                      </a:r>
                      <a:endParaRPr lang="en-US" sz="1600" dirty="0">
                        <a:latin typeface="QuattrocentoSans" charset="0"/>
                        <a:ea typeface="QuattrocentoSans" charset="0"/>
                        <a:cs typeface="QuattrocentoSans" charset="0"/>
                      </a:endParaRPr>
                    </a:p>
                    <a:p>
                      <a:pPr algn="l"/>
                      <a:r>
                        <a:rPr lang="en-US" sz="1600" u="none" dirty="0">
                          <a:solidFill>
                            <a:srgbClr val="1E293B"/>
                          </a:solidFill>
                          <a:latin typeface="QuattrocentoSans" pitchFamily="34" charset="0"/>
                          <a:ea typeface="QuattrocentoSans" pitchFamily="34" charset="-122"/>
                          <a:cs typeface="QuattrocentoSans" pitchFamily="34" charset="-120"/>
                        </a:rPr>
                        <a:t>Hoàn tiền</a:t>
                      </a:r>
                      <a:endParaRPr lang="en-US" sz="1600" dirty="0">
                        <a:latin typeface="QuattrocentoSans" charset="0"/>
                        <a:ea typeface="QuattrocentoSans" charset="0"/>
                        <a:cs typeface="QuattrocentoSans" charset="0"/>
                      </a:endParaRPr>
                    </a:p>
                  </a:txBody>
                  <a:tcPr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l"/>
                      <a:r>
                        <a:rPr lang="en-US" sz="1600" u="none" dirty="0" err="1">
                          <a:solidFill>
                            <a:srgbClr val="1E293B"/>
                          </a:solidFill>
                          <a:latin typeface="QuattrocentoSans" pitchFamily="34" charset="0"/>
                          <a:ea typeface="QuattrocentoSans" pitchFamily="34" charset="-122"/>
                          <a:cs typeface="QuattrocentoSans" pitchFamily="34" charset="-120"/>
                        </a:rPr>
                        <a:t>Người</a:t>
                      </a:r>
                      <a:r>
                        <a:rPr lang="en-US" sz="1600" u="none" dirty="0">
                          <a:solidFill>
                            <a:srgbClr val="1E293B"/>
                          </a:solidFill>
                          <a:latin typeface="QuattrocentoSans" pitchFamily="34" charset="0"/>
                          <a:ea typeface="QuattrocentoSans" pitchFamily="34" charset="-122"/>
                          <a:cs typeface="QuattrocentoSans" pitchFamily="34" charset="-120"/>
                        </a:rPr>
                        <a:t> góp vốn</a:t>
                      </a:r>
                      <a:endParaRPr lang="en-US" sz="1600" dirty="0">
                        <a:latin typeface="QuattrocentoSans" charset="0"/>
                        <a:ea typeface="QuattrocentoSans" charset="0"/>
                        <a:cs typeface="QuattrocentoSans" charset="0"/>
                      </a:endParaRPr>
                    </a:p>
                  </a:txBody>
                  <a:tcPr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l"/>
                      <a:r>
                        <a:rPr lang="en-US" sz="1600" u="none" dirty="0">
                          <a:solidFill>
                            <a:srgbClr val="1E293B"/>
                          </a:solidFill>
                          <a:latin typeface="QuattrocentoSans" pitchFamily="34" charset="0"/>
                          <a:ea typeface="QuattrocentoSans" pitchFamily="34" charset="-122"/>
                          <a:cs typeface="QuattrocentoSans" pitchFamily="34" charset="-120"/>
                        </a:rPr>
                        <a:t>Chiến dịch không đạt mục tiêu</a:t>
                      </a:r>
                      <a:endParaRPr lang="en-US" sz="1600" dirty="0">
                        <a:latin typeface="QuattrocentoSans" charset="0"/>
                        <a:ea typeface="QuattrocentoSans" charset="0"/>
                        <a:cs typeface="QuattrocentoSans" charset="0"/>
                      </a:endParaRPr>
                    </a:p>
                  </a:txBody>
                  <a:tcPr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l"/>
                      <a:r>
                        <a:rPr lang="en-US" sz="1600" u="none" dirty="0">
                          <a:solidFill>
                            <a:srgbClr val="1E293B"/>
                          </a:solidFill>
                          <a:latin typeface="QuattrocentoSans" pitchFamily="34" charset="0"/>
                          <a:ea typeface="QuattrocentoSans" pitchFamily="34" charset="-122"/>
                          <a:cs typeface="QuattrocentoSans" pitchFamily="34" charset="-120"/>
                        </a:rPr>
                        <a:t>Nhận lại số ETH đã đóng góp</a:t>
                      </a:r>
                      <a:endParaRPr lang="en-US" sz="1600" dirty="0">
                        <a:latin typeface="QuattrocentoSans" charset="0"/>
                        <a:ea typeface="QuattrocentoSans" charset="0"/>
                        <a:cs typeface="QuattrocentoSans" charset="0"/>
                      </a:endParaRPr>
                    </a:p>
                  </a:txBody>
                  <a:tcPr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extLst>
                  <a:ext uri="{0D108BD9-81ED-4DB2-BD59-A6C34878D82A}">
                    <a16:rowId xmlns:a16="http://schemas.microsoft.com/office/drawing/2014/main" val="10004"/>
                  </a:ext>
                </a:extLst>
              </a:tr>
            </a:tbl>
          </a:graphicData>
        </a:graphic>
      </p:graphicFrame>
      <p:sp>
        <p:nvSpPr>
          <p:cNvPr id="9" name="Text 6"/>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400" dirty="0">
                <a:solidFill>
                  <a:srgbClr val="64748B"/>
                </a:solidFill>
                <a:latin typeface="QuattrocentoSans" pitchFamily="34" charset="0"/>
                <a:ea typeface="QuattrocentoSans" pitchFamily="34" charset="-122"/>
                <a:cs typeface="QuattrocentoSans" pitchFamily="34" charset="-120"/>
              </a:rPr>
              <a:t>09</a:t>
            </a:r>
            <a:endParaRPr lang="en-US" sz="14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B3A5C"/>
          </a:solidFill>
          <a:ln/>
        </p:spPr>
      </p:sp>
      <p:sp>
        <p:nvSpPr>
          <p:cNvPr id="3" name="Text 1"/>
          <p:cNvSpPr/>
          <p:nvPr/>
        </p:nvSpPr>
        <p:spPr>
          <a:xfrm>
            <a:off x="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FFFFFF"/>
                </a:solidFill>
                <a:latin typeface="Liter" pitchFamily="34" charset="0"/>
                <a:ea typeface="Liter" pitchFamily="34" charset="-122"/>
                <a:cs typeface="Liter" pitchFamily="34" charset="-120"/>
              </a:rPr>
              <a:t>PHÂN TÍCH VÀ THIẾT KẾ</a:t>
            </a:r>
            <a:endParaRPr lang="en-US" sz="1300" dirty="0"/>
          </a:p>
        </p:txBody>
      </p:sp>
      <p:sp>
        <p:nvSpPr>
          <p:cNvPr id="4" name="Text 2"/>
          <p:cNvSpPr/>
          <p:nvPr/>
        </p:nvSpPr>
        <p:spPr>
          <a:xfrm>
            <a:off x="812800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94A3B8"/>
                </a:solidFill>
                <a:latin typeface="Liter" pitchFamily="34" charset="0"/>
                <a:ea typeface="Liter" pitchFamily="34" charset="-122"/>
                <a:cs typeface="Liter" pitchFamily="34" charset="-120"/>
              </a:rPr>
              <a:t>XÂY DỰNG VÀ TRIỂN KHAI</a:t>
            </a:r>
            <a:endParaRPr lang="en-US" sz="1300" dirty="0"/>
          </a:p>
        </p:txBody>
      </p:sp>
      <p:sp>
        <p:nvSpPr>
          <p:cNvPr id="5" name="Shape 3"/>
          <p:cNvSpPr/>
          <p:nvPr/>
        </p:nvSpPr>
        <p:spPr>
          <a:xfrm>
            <a:off x="0" y="558800"/>
            <a:ext cx="8128000" cy="50800"/>
          </a:xfrm>
          <a:prstGeom prst="rect">
            <a:avLst/>
          </a:prstGeom>
          <a:solidFill>
            <a:srgbClr val="3B82F6"/>
          </a:solidFill>
          <a:ln/>
        </p:spPr>
      </p:sp>
      <p:sp>
        <p:nvSpPr>
          <p:cNvPr id="6" name="Shape 4"/>
          <p:cNvSpPr/>
          <p:nvPr/>
        </p:nvSpPr>
        <p:spPr>
          <a:xfrm>
            <a:off x="762000" y="863600"/>
            <a:ext cx="63500" cy="406400"/>
          </a:xfrm>
          <a:prstGeom prst="rect">
            <a:avLst/>
          </a:prstGeom>
          <a:solidFill>
            <a:srgbClr val="3B82F6"/>
          </a:solidFill>
          <a:ln/>
        </p:spPr>
      </p:sp>
      <p:sp>
        <p:nvSpPr>
          <p:cNvPr id="7" name="Text 5"/>
          <p:cNvSpPr/>
          <p:nvPr/>
        </p:nvSpPr>
        <p:spPr>
          <a:xfrm>
            <a:off x="990600" y="825500"/>
            <a:ext cx="10160000" cy="482600"/>
          </a:xfrm>
          <a:prstGeom prst="rect">
            <a:avLst/>
          </a:prstGeom>
          <a:noFill/>
          <a:ln/>
        </p:spPr>
        <p:txBody>
          <a:bodyPr wrap="none" lIns="0" tIns="0" rIns="0" bIns="0" rtlCol="0" anchor="ctr"/>
          <a:lstStyle/>
          <a:p>
            <a:pPr>
              <a:lnSpc>
                <a:spcPct val="130000"/>
              </a:lnSpc>
            </a:pPr>
            <a:r>
              <a:rPr lang="en-US" sz="2800" dirty="0">
                <a:solidFill>
                  <a:srgbClr val="1B3A5C"/>
                </a:solidFill>
                <a:latin typeface="Liter" pitchFamily="34" charset="0"/>
                <a:ea typeface="Liter" pitchFamily="34" charset="-122"/>
                <a:cs typeface="Liter" pitchFamily="34" charset="-120"/>
              </a:rPr>
              <a:t>2.4 Thiết kế kiến trúc hệ thống</a:t>
            </a:r>
            <a:endParaRPr lang="en-US" sz="2800" dirty="0"/>
          </a:p>
        </p:txBody>
      </p:sp>
      <p:sp>
        <p:nvSpPr>
          <p:cNvPr id="8" name="Text 6"/>
          <p:cNvSpPr/>
          <p:nvPr/>
        </p:nvSpPr>
        <p:spPr>
          <a:xfrm>
            <a:off x="762000" y="1397000"/>
            <a:ext cx="7620000" cy="355600"/>
          </a:xfrm>
          <a:prstGeom prst="rect">
            <a:avLst/>
          </a:prstGeom>
          <a:noFill/>
          <a:ln/>
        </p:spPr>
        <p:txBody>
          <a:bodyPr wrap="none" lIns="0" tIns="0" rIns="0" bIns="0" rtlCol="0" anchor="ctr"/>
          <a:lstStyle/>
          <a:p>
            <a:pPr>
              <a:lnSpc>
                <a:spcPct val="140000"/>
              </a:lnSpc>
            </a:pPr>
            <a:r>
              <a:rPr lang="en-US" sz="1800" dirty="0">
                <a:solidFill>
                  <a:srgbClr val="64748B"/>
                </a:solidFill>
                <a:latin typeface="Liter" pitchFamily="34" charset="0"/>
                <a:ea typeface="Liter" pitchFamily="34" charset="-122"/>
                <a:cs typeface="Liter" pitchFamily="34" charset="-120"/>
              </a:rPr>
              <a:t>Kiến trúc 3 lớp - Three-Layer Architecture</a:t>
            </a:r>
            <a:endParaRPr lang="en-US" sz="2200" dirty="0"/>
          </a:p>
        </p:txBody>
      </p:sp>
      <p:sp>
        <p:nvSpPr>
          <p:cNvPr id="9" name="Shape 7"/>
          <p:cNvSpPr/>
          <p:nvPr/>
        </p:nvSpPr>
        <p:spPr>
          <a:xfrm>
            <a:off x="762000" y="2032000"/>
            <a:ext cx="4572000" cy="2540000"/>
          </a:xfrm>
          <a:prstGeom prst="roundRect">
            <a:avLst>
              <a:gd name="adj" fmla="val 6000"/>
            </a:avLst>
          </a:prstGeom>
          <a:solidFill>
            <a:srgbClr val="FFFFFF"/>
          </a:solidFill>
          <a:ln w="25400">
            <a:solidFill>
              <a:srgbClr val="3B82F6"/>
            </a:solidFill>
            <a:prstDash val="solid"/>
          </a:ln>
          <a:effectLst>
            <a:outerShdw blurRad="127000" dist="25400" dir="5400000" algn="bl" rotWithShape="0">
              <a:srgbClr val="000000">
                <a:alpha val="3922"/>
              </a:srgbClr>
            </a:outerShdw>
          </a:effectLst>
        </p:spPr>
      </p:sp>
      <p:sp>
        <p:nvSpPr>
          <p:cNvPr id="10" name="Shape 8"/>
          <p:cNvSpPr/>
          <p:nvPr/>
        </p:nvSpPr>
        <p:spPr>
          <a:xfrm>
            <a:off x="1016000" y="2286000"/>
            <a:ext cx="457200" cy="457200"/>
          </a:xfrm>
          <a:custGeom>
            <a:avLst/>
            <a:gdLst/>
            <a:ahLst/>
            <a:cxnLst/>
            <a:rect l="l" t="t" r="r" b="b"/>
            <a:pathLst>
              <a:path w="457200" h="457200">
                <a:moveTo>
                  <a:pt x="57150" y="28575"/>
                </a:moveTo>
                <a:cubicBezTo>
                  <a:pt x="25628" y="28575"/>
                  <a:pt x="0" y="54203"/>
                  <a:pt x="0" y="85725"/>
                </a:cubicBezTo>
                <a:lnTo>
                  <a:pt x="0" y="314325"/>
                </a:lnTo>
                <a:cubicBezTo>
                  <a:pt x="0" y="345847"/>
                  <a:pt x="25628" y="371475"/>
                  <a:pt x="57150" y="371475"/>
                </a:cubicBezTo>
                <a:lnTo>
                  <a:pt x="185738" y="371475"/>
                </a:lnTo>
                <a:lnTo>
                  <a:pt x="171450" y="414338"/>
                </a:lnTo>
                <a:lnTo>
                  <a:pt x="107156" y="414338"/>
                </a:lnTo>
                <a:cubicBezTo>
                  <a:pt x="95280" y="414338"/>
                  <a:pt x="85725" y="423892"/>
                  <a:pt x="85725" y="435769"/>
                </a:cubicBezTo>
                <a:cubicBezTo>
                  <a:pt x="85725" y="447645"/>
                  <a:pt x="95280" y="457200"/>
                  <a:pt x="107156" y="457200"/>
                </a:cubicBezTo>
                <a:lnTo>
                  <a:pt x="350044" y="457200"/>
                </a:lnTo>
                <a:cubicBezTo>
                  <a:pt x="361920" y="457200"/>
                  <a:pt x="371475" y="447645"/>
                  <a:pt x="371475" y="435769"/>
                </a:cubicBezTo>
                <a:cubicBezTo>
                  <a:pt x="371475" y="423892"/>
                  <a:pt x="361920" y="414338"/>
                  <a:pt x="350044" y="414338"/>
                </a:cubicBezTo>
                <a:lnTo>
                  <a:pt x="285750" y="414338"/>
                </a:lnTo>
                <a:lnTo>
                  <a:pt x="271463" y="371475"/>
                </a:lnTo>
                <a:lnTo>
                  <a:pt x="400050" y="371475"/>
                </a:lnTo>
                <a:cubicBezTo>
                  <a:pt x="431572" y="371475"/>
                  <a:pt x="457200" y="345847"/>
                  <a:pt x="457200" y="314325"/>
                </a:cubicBezTo>
                <a:lnTo>
                  <a:pt x="457200" y="85725"/>
                </a:lnTo>
                <a:cubicBezTo>
                  <a:pt x="457200" y="54203"/>
                  <a:pt x="431572" y="28575"/>
                  <a:pt x="400050" y="28575"/>
                </a:cubicBezTo>
                <a:lnTo>
                  <a:pt x="57150" y="28575"/>
                </a:lnTo>
                <a:close/>
                <a:moveTo>
                  <a:pt x="85725" y="85725"/>
                </a:moveTo>
                <a:lnTo>
                  <a:pt x="371475" y="85725"/>
                </a:lnTo>
                <a:cubicBezTo>
                  <a:pt x="387281" y="85725"/>
                  <a:pt x="400050" y="98494"/>
                  <a:pt x="400050" y="114300"/>
                </a:cubicBezTo>
                <a:lnTo>
                  <a:pt x="400050" y="257175"/>
                </a:lnTo>
                <a:cubicBezTo>
                  <a:pt x="400050" y="272981"/>
                  <a:pt x="387281" y="285750"/>
                  <a:pt x="371475" y="285750"/>
                </a:cubicBezTo>
                <a:lnTo>
                  <a:pt x="85725" y="285750"/>
                </a:lnTo>
                <a:cubicBezTo>
                  <a:pt x="69919" y="285750"/>
                  <a:pt x="57150" y="272981"/>
                  <a:pt x="57150" y="257175"/>
                </a:cubicBezTo>
                <a:lnTo>
                  <a:pt x="57150" y="114300"/>
                </a:lnTo>
                <a:cubicBezTo>
                  <a:pt x="57150" y="98494"/>
                  <a:pt x="69919" y="85725"/>
                  <a:pt x="85725" y="85725"/>
                </a:cubicBezTo>
                <a:close/>
              </a:path>
            </a:pathLst>
          </a:custGeom>
          <a:solidFill>
            <a:srgbClr val="3B82F6"/>
          </a:solidFill>
          <a:ln/>
        </p:spPr>
      </p:sp>
      <p:sp>
        <p:nvSpPr>
          <p:cNvPr id="11" name="Text 9"/>
          <p:cNvSpPr/>
          <p:nvPr/>
        </p:nvSpPr>
        <p:spPr>
          <a:xfrm>
            <a:off x="1625600" y="2286000"/>
            <a:ext cx="3429000" cy="457200"/>
          </a:xfrm>
          <a:prstGeom prst="rect">
            <a:avLst/>
          </a:prstGeom>
          <a:noFill/>
          <a:ln/>
        </p:spPr>
        <p:txBody>
          <a:bodyPr wrap="none" lIns="0" tIns="0" rIns="0" bIns="0" rtlCol="0" anchor="ctr"/>
          <a:lstStyle/>
          <a:p>
            <a:pPr>
              <a:lnSpc>
                <a:spcPct val="100000"/>
              </a:lnSpc>
            </a:pPr>
            <a:r>
              <a:rPr lang="en-US" sz="2000" b="1" dirty="0">
                <a:solidFill>
                  <a:srgbClr val="1B3A5C"/>
                </a:solidFill>
                <a:latin typeface="Liter" pitchFamily="34" charset="0"/>
                <a:ea typeface="Liter" pitchFamily="34" charset="-122"/>
                <a:cs typeface="Liter" pitchFamily="34" charset="-120"/>
              </a:rPr>
              <a:t>Frontend (NextJS)</a:t>
            </a:r>
            <a:endParaRPr lang="en-US" sz="1600" dirty="0"/>
          </a:p>
        </p:txBody>
      </p:sp>
      <p:sp>
        <p:nvSpPr>
          <p:cNvPr id="12" name="Text 10"/>
          <p:cNvSpPr/>
          <p:nvPr/>
        </p:nvSpPr>
        <p:spPr>
          <a:xfrm>
            <a:off x="1016000" y="2857500"/>
            <a:ext cx="4064000" cy="1524000"/>
          </a:xfrm>
          <a:prstGeom prst="rect">
            <a:avLst/>
          </a:prstGeom>
          <a:noFill/>
          <a:ln/>
        </p:spPr>
        <p:txBody>
          <a:bodyPr wrap="square" lIns="0" tIns="0" rIns="0" bIns="0" rtlCol="0" anchor="t"/>
          <a:lstStyle/>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 Giao diện ngườii dùng</a:t>
            </a:r>
            <a:endParaRPr lang="en-US" sz="1600" dirty="0"/>
          </a:p>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 Tương tác qua trình duyệt</a:t>
            </a:r>
            <a:endParaRPr lang="en-US" sz="1600" dirty="0"/>
          </a:p>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 Kết nối MetaMask</a:t>
            </a:r>
            <a:endParaRPr lang="en-US" sz="1600" dirty="0"/>
          </a:p>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 Hiển thị dữ liệu từ Blockchain</a:t>
            </a:r>
            <a:endParaRPr lang="en-US" sz="1600" dirty="0"/>
          </a:p>
        </p:txBody>
      </p:sp>
      <p:sp>
        <p:nvSpPr>
          <p:cNvPr id="13" name="Shape 11"/>
          <p:cNvSpPr/>
          <p:nvPr/>
        </p:nvSpPr>
        <p:spPr>
          <a:xfrm>
            <a:off x="5842000" y="2032000"/>
            <a:ext cx="4572000" cy="2540000"/>
          </a:xfrm>
          <a:prstGeom prst="roundRect">
            <a:avLst>
              <a:gd name="adj" fmla="val 6000"/>
            </a:avLst>
          </a:prstGeom>
          <a:solidFill>
            <a:srgbClr val="FFFFFF"/>
          </a:solidFill>
          <a:ln w="25400">
            <a:solidFill>
              <a:srgbClr val="1B3A5C"/>
            </a:solidFill>
            <a:prstDash val="solid"/>
          </a:ln>
          <a:effectLst>
            <a:outerShdw blurRad="127000" dist="25400" dir="5400000" algn="bl" rotWithShape="0">
              <a:srgbClr val="000000">
                <a:alpha val="3922"/>
              </a:srgbClr>
            </a:outerShdw>
          </a:effectLst>
        </p:spPr>
      </p:sp>
      <p:sp>
        <p:nvSpPr>
          <p:cNvPr id="14" name="Shape 12"/>
          <p:cNvSpPr/>
          <p:nvPr/>
        </p:nvSpPr>
        <p:spPr>
          <a:xfrm>
            <a:off x="6096000" y="2286000"/>
            <a:ext cx="457200" cy="457200"/>
          </a:xfrm>
          <a:custGeom>
            <a:avLst/>
            <a:gdLst/>
            <a:ahLst/>
            <a:cxnLst/>
            <a:rect l="l" t="t" r="r" b="b"/>
            <a:pathLst>
              <a:path w="457200" h="457200">
                <a:moveTo>
                  <a:pt x="200293" y="-2232"/>
                </a:moveTo>
                <a:cubicBezTo>
                  <a:pt x="217974" y="-12412"/>
                  <a:pt x="239762" y="-12412"/>
                  <a:pt x="257443" y="-2232"/>
                </a:cubicBezTo>
                <a:lnTo>
                  <a:pt x="414516" y="88404"/>
                </a:lnTo>
                <a:cubicBezTo>
                  <a:pt x="432197" y="98584"/>
                  <a:pt x="443091" y="117515"/>
                  <a:pt x="443091" y="137874"/>
                </a:cubicBezTo>
                <a:lnTo>
                  <a:pt x="443091" y="319147"/>
                </a:lnTo>
                <a:cubicBezTo>
                  <a:pt x="443091" y="339596"/>
                  <a:pt x="432197" y="358438"/>
                  <a:pt x="414516" y="368617"/>
                </a:cubicBezTo>
                <a:lnTo>
                  <a:pt x="257443" y="459432"/>
                </a:lnTo>
                <a:cubicBezTo>
                  <a:pt x="239762" y="469612"/>
                  <a:pt x="217974" y="469612"/>
                  <a:pt x="200293" y="459432"/>
                </a:cubicBezTo>
                <a:lnTo>
                  <a:pt x="43309" y="368796"/>
                </a:lnTo>
                <a:cubicBezTo>
                  <a:pt x="25628" y="358616"/>
                  <a:pt x="14734" y="339685"/>
                  <a:pt x="14734" y="319326"/>
                </a:cubicBezTo>
                <a:lnTo>
                  <a:pt x="14734" y="138053"/>
                </a:lnTo>
                <a:cubicBezTo>
                  <a:pt x="14734" y="117604"/>
                  <a:pt x="25628" y="98762"/>
                  <a:pt x="43309" y="88583"/>
                </a:cubicBezTo>
                <a:lnTo>
                  <a:pt x="200293" y="-2232"/>
                </a:lnTo>
                <a:close/>
                <a:moveTo>
                  <a:pt x="385852" y="319236"/>
                </a:moveTo>
                <a:lnTo>
                  <a:pt x="385852" y="170914"/>
                </a:lnTo>
                <a:lnTo>
                  <a:pt x="257443" y="245031"/>
                </a:lnTo>
                <a:lnTo>
                  <a:pt x="257443" y="393353"/>
                </a:lnTo>
                <a:lnTo>
                  <a:pt x="385852" y="319236"/>
                </a:lnTo>
                <a:close/>
              </a:path>
            </a:pathLst>
          </a:custGeom>
          <a:solidFill>
            <a:srgbClr val="1B3A5C"/>
          </a:solidFill>
          <a:ln/>
        </p:spPr>
      </p:sp>
      <p:sp>
        <p:nvSpPr>
          <p:cNvPr id="15" name="Text 13"/>
          <p:cNvSpPr/>
          <p:nvPr/>
        </p:nvSpPr>
        <p:spPr>
          <a:xfrm>
            <a:off x="6705600" y="2286000"/>
            <a:ext cx="3683000" cy="457200"/>
          </a:xfrm>
          <a:prstGeom prst="rect">
            <a:avLst/>
          </a:prstGeom>
          <a:noFill/>
          <a:ln/>
        </p:spPr>
        <p:txBody>
          <a:bodyPr wrap="none" lIns="0" tIns="0" rIns="0" bIns="0" rtlCol="0" anchor="ctr"/>
          <a:lstStyle/>
          <a:p>
            <a:pPr>
              <a:lnSpc>
                <a:spcPct val="100000"/>
              </a:lnSpc>
            </a:pPr>
            <a:r>
              <a:rPr lang="en-US" sz="2000" b="1" dirty="0">
                <a:solidFill>
                  <a:srgbClr val="1B3A5C"/>
                </a:solidFill>
                <a:latin typeface="Liter" pitchFamily="34" charset="0"/>
                <a:ea typeface="Liter" pitchFamily="34" charset="-122"/>
                <a:cs typeface="Liter" pitchFamily="34" charset="-120"/>
              </a:rPr>
              <a:t>Blockchain (Smart Contract)</a:t>
            </a:r>
            <a:endParaRPr lang="en-US" sz="1600" dirty="0"/>
          </a:p>
        </p:txBody>
      </p:sp>
      <p:sp>
        <p:nvSpPr>
          <p:cNvPr id="16" name="Text 14"/>
          <p:cNvSpPr/>
          <p:nvPr/>
        </p:nvSpPr>
        <p:spPr>
          <a:xfrm>
            <a:off x="6096000" y="2857500"/>
            <a:ext cx="4064000" cy="1524000"/>
          </a:xfrm>
          <a:prstGeom prst="rect">
            <a:avLst/>
          </a:prstGeom>
          <a:noFill/>
          <a:ln/>
        </p:spPr>
        <p:txBody>
          <a:bodyPr wrap="square" lIns="0" tIns="0" rIns="0" bIns="0" rtlCol="0" anchor="t"/>
          <a:lstStyle/>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 Xử lý logic nghiệp vụ</a:t>
            </a:r>
            <a:endParaRPr lang="en-US" sz="1600" dirty="0"/>
          </a:p>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 Lưu trữ dữ liệu</a:t>
            </a:r>
            <a:endParaRPr lang="en-US" sz="1600" dirty="0"/>
          </a:p>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 Thực thi giao dịch</a:t>
            </a:r>
            <a:endParaRPr lang="en-US" sz="1600" dirty="0"/>
          </a:p>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 Viết bằng Solidity</a:t>
            </a:r>
            <a:endParaRPr lang="en-US" sz="1600" dirty="0"/>
          </a:p>
        </p:txBody>
      </p:sp>
      <p:sp>
        <p:nvSpPr>
          <p:cNvPr id="17" name="Shape 15"/>
          <p:cNvSpPr/>
          <p:nvPr/>
        </p:nvSpPr>
        <p:spPr>
          <a:xfrm>
            <a:off x="10922000" y="2032000"/>
            <a:ext cx="4572000" cy="2540000"/>
          </a:xfrm>
          <a:prstGeom prst="roundRect">
            <a:avLst>
              <a:gd name="adj" fmla="val 6000"/>
            </a:avLst>
          </a:prstGeom>
          <a:solidFill>
            <a:srgbClr val="FFFFFF"/>
          </a:solidFill>
          <a:ln w="25400">
            <a:solidFill>
              <a:srgbClr val="64748B"/>
            </a:solidFill>
            <a:prstDash val="solid"/>
          </a:ln>
          <a:effectLst>
            <a:outerShdw blurRad="127000" dist="25400" dir="5400000" algn="bl" rotWithShape="0">
              <a:srgbClr val="000000">
                <a:alpha val="3922"/>
              </a:srgbClr>
            </a:outerShdw>
          </a:effectLst>
        </p:spPr>
      </p:sp>
      <p:sp>
        <p:nvSpPr>
          <p:cNvPr id="18" name="Shape 16"/>
          <p:cNvSpPr/>
          <p:nvPr/>
        </p:nvSpPr>
        <p:spPr>
          <a:xfrm>
            <a:off x="11176000" y="2286000"/>
            <a:ext cx="457200" cy="457200"/>
          </a:xfrm>
          <a:custGeom>
            <a:avLst/>
            <a:gdLst/>
            <a:ahLst/>
            <a:cxnLst/>
            <a:rect l="l" t="t" r="r" b="b"/>
            <a:pathLst>
              <a:path w="457200" h="457200">
                <a:moveTo>
                  <a:pt x="57150" y="28575"/>
                </a:moveTo>
                <a:cubicBezTo>
                  <a:pt x="25628" y="28575"/>
                  <a:pt x="0" y="54203"/>
                  <a:pt x="0" y="85725"/>
                </a:cubicBezTo>
                <a:lnTo>
                  <a:pt x="0" y="342900"/>
                </a:lnTo>
                <a:cubicBezTo>
                  <a:pt x="0" y="374422"/>
                  <a:pt x="25628" y="400050"/>
                  <a:pt x="57150" y="400050"/>
                </a:cubicBezTo>
                <a:lnTo>
                  <a:pt x="400050" y="400050"/>
                </a:lnTo>
                <a:cubicBezTo>
                  <a:pt x="431572" y="400050"/>
                  <a:pt x="457200" y="374422"/>
                  <a:pt x="457200" y="342900"/>
                </a:cubicBezTo>
                <a:lnTo>
                  <a:pt x="457200" y="171450"/>
                </a:lnTo>
                <a:cubicBezTo>
                  <a:pt x="457200" y="139928"/>
                  <a:pt x="431572" y="114300"/>
                  <a:pt x="400050" y="114300"/>
                </a:cubicBezTo>
                <a:lnTo>
                  <a:pt x="64294" y="114300"/>
                </a:lnTo>
                <a:cubicBezTo>
                  <a:pt x="52417" y="114300"/>
                  <a:pt x="42863" y="104745"/>
                  <a:pt x="42863" y="92869"/>
                </a:cubicBezTo>
                <a:cubicBezTo>
                  <a:pt x="42863" y="80992"/>
                  <a:pt x="52417" y="71438"/>
                  <a:pt x="64294" y="71438"/>
                </a:cubicBezTo>
                <a:lnTo>
                  <a:pt x="407194" y="71438"/>
                </a:lnTo>
                <a:cubicBezTo>
                  <a:pt x="419070" y="71438"/>
                  <a:pt x="428625" y="61883"/>
                  <a:pt x="428625" y="50006"/>
                </a:cubicBezTo>
                <a:cubicBezTo>
                  <a:pt x="428625" y="38130"/>
                  <a:pt x="419070" y="28575"/>
                  <a:pt x="407194" y="28575"/>
                </a:cubicBezTo>
                <a:lnTo>
                  <a:pt x="57150" y="28575"/>
                </a:lnTo>
                <a:close/>
                <a:moveTo>
                  <a:pt x="371475" y="228600"/>
                </a:moveTo>
                <a:cubicBezTo>
                  <a:pt x="387246" y="228600"/>
                  <a:pt x="400050" y="241404"/>
                  <a:pt x="400050" y="257175"/>
                </a:cubicBezTo>
                <a:cubicBezTo>
                  <a:pt x="400050" y="272946"/>
                  <a:pt x="387246" y="285750"/>
                  <a:pt x="371475" y="285750"/>
                </a:cubicBezTo>
                <a:cubicBezTo>
                  <a:pt x="355704" y="285750"/>
                  <a:pt x="342900" y="272946"/>
                  <a:pt x="342900" y="257175"/>
                </a:cubicBezTo>
                <a:cubicBezTo>
                  <a:pt x="342900" y="241404"/>
                  <a:pt x="355704" y="228600"/>
                  <a:pt x="371475" y="228600"/>
                </a:cubicBezTo>
                <a:close/>
              </a:path>
            </a:pathLst>
          </a:custGeom>
          <a:solidFill>
            <a:srgbClr val="64748B"/>
          </a:solidFill>
          <a:ln/>
        </p:spPr>
      </p:sp>
      <p:sp>
        <p:nvSpPr>
          <p:cNvPr id="19" name="Text 17"/>
          <p:cNvSpPr/>
          <p:nvPr/>
        </p:nvSpPr>
        <p:spPr>
          <a:xfrm>
            <a:off x="11785600" y="2286000"/>
            <a:ext cx="3429000" cy="457200"/>
          </a:xfrm>
          <a:prstGeom prst="rect">
            <a:avLst/>
          </a:prstGeom>
          <a:noFill/>
          <a:ln/>
        </p:spPr>
        <p:txBody>
          <a:bodyPr wrap="none" lIns="0" tIns="0" rIns="0" bIns="0" rtlCol="0" anchor="ctr"/>
          <a:lstStyle/>
          <a:p>
            <a:pPr>
              <a:lnSpc>
                <a:spcPct val="100000"/>
              </a:lnSpc>
            </a:pPr>
            <a:r>
              <a:rPr lang="en-US" sz="2000" b="1" dirty="0">
                <a:solidFill>
                  <a:srgbClr val="1B3A5C"/>
                </a:solidFill>
                <a:latin typeface="Liter" pitchFamily="34" charset="0"/>
                <a:ea typeface="Liter" pitchFamily="34" charset="-122"/>
                <a:cs typeface="Liter" pitchFamily="34" charset="-120"/>
              </a:rPr>
              <a:t>Wallet (MetaMask)</a:t>
            </a:r>
            <a:endParaRPr lang="en-US" sz="1600" dirty="0"/>
          </a:p>
        </p:txBody>
      </p:sp>
      <p:sp>
        <p:nvSpPr>
          <p:cNvPr id="20" name="Text 18"/>
          <p:cNvSpPr/>
          <p:nvPr/>
        </p:nvSpPr>
        <p:spPr>
          <a:xfrm>
            <a:off x="11176000" y="2857500"/>
            <a:ext cx="4064000" cy="1524000"/>
          </a:xfrm>
          <a:prstGeom prst="rect">
            <a:avLst/>
          </a:prstGeom>
          <a:noFill/>
          <a:ln/>
        </p:spPr>
        <p:txBody>
          <a:bodyPr wrap="square" lIns="0" tIns="0" rIns="0" bIns="0" rtlCol="0" anchor="t"/>
          <a:lstStyle/>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 Trung gian kết nối</a:t>
            </a:r>
            <a:endParaRPr lang="en-US" sz="1600" dirty="0"/>
          </a:p>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 </a:t>
            </a:r>
            <a:r>
              <a:rPr lang="en-US" sz="1500" dirty="0" err="1">
                <a:solidFill>
                  <a:srgbClr val="1E293B"/>
                </a:solidFill>
                <a:latin typeface="Quattrocento Sans" pitchFamily="34" charset="0"/>
                <a:ea typeface="Quattrocento Sans" pitchFamily="34" charset="-122"/>
                <a:cs typeface="Quattrocento Sans" pitchFamily="34" charset="-120"/>
              </a:rPr>
              <a:t>Người</a:t>
            </a:r>
            <a:r>
              <a:rPr lang="en-US" sz="1500" dirty="0">
                <a:solidFill>
                  <a:srgbClr val="1E293B"/>
                </a:solidFill>
                <a:latin typeface="Quattrocento Sans" pitchFamily="34" charset="0"/>
                <a:ea typeface="Quattrocento Sans" pitchFamily="34" charset="-122"/>
                <a:cs typeface="Quattrocento Sans" pitchFamily="34" charset="-120"/>
              </a:rPr>
              <a:t> dùng ↔ Blockchain</a:t>
            </a:r>
            <a:endParaRPr lang="en-US" sz="1600" dirty="0"/>
          </a:p>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 Ký và xác nhận giao dịch</a:t>
            </a:r>
            <a:endParaRPr lang="en-US" sz="1600" dirty="0"/>
          </a:p>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 Quản lý khóa riêng tư</a:t>
            </a:r>
            <a:endParaRPr lang="en-US" sz="1600" dirty="0"/>
          </a:p>
        </p:txBody>
      </p:sp>
      <p:sp>
        <p:nvSpPr>
          <p:cNvPr id="21" name="Text 19"/>
          <p:cNvSpPr/>
          <p:nvPr/>
        </p:nvSpPr>
        <p:spPr>
          <a:xfrm>
            <a:off x="762000" y="4953000"/>
            <a:ext cx="5080000" cy="381000"/>
          </a:xfrm>
          <a:prstGeom prst="rect">
            <a:avLst/>
          </a:prstGeom>
          <a:noFill/>
          <a:ln/>
        </p:spPr>
        <p:txBody>
          <a:bodyPr wrap="none" lIns="0" tIns="0" rIns="0" bIns="0" rtlCol="0" anchor="ctr"/>
          <a:lstStyle/>
          <a:p>
            <a:pPr>
              <a:lnSpc>
                <a:spcPct val="100000"/>
              </a:lnSpc>
            </a:pPr>
            <a:r>
              <a:rPr lang="en-US" sz="1800" b="1" dirty="0">
                <a:solidFill>
                  <a:srgbClr val="1B3A5C"/>
                </a:solidFill>
                <a:latin typeface="Liter" pitchFamily="34" charset="0"/>
                <a:ea typeface="Liter" pitchFamily="34" charset="-122"/>
                <a:cs typeface="Liter" pitchFamily="34" charset="-120"/>
              </a:rPr>
              <a:t>Luồng hoạt động hệ thống</a:t>
            </a:r>
            <a:endParaRPr lang="en-US" sz="1600" dirty="0"/>
          </a:p>
        </p:txBody>
      </p:sp>
      <p:sp>
        <p:nvSpPr>
          <p:cNvPr id="22" name="Shape 20"/>
          <p:cNvSpPr/>
          <p:nvPr/>
        </p:nvSpPr>
        <p:spPr>
          <a:xfrm>
            <a:off x="762000" y="5461000"/>
            <a:ext cx="14732000" cy="2794000"/>
          </a:xfrm>
          <a:prstGeom prst="roundRect">
            <a:avLst>
              <a:gd name="adj" fmla="val 4000"/>
            </a:avLst>
          </a:prstGeom>
          <a:solidFill>
            <a:srgbClr val="FFFFFF"/>
          </a:solidFill>
          <a:ln/>
          <a:effectLst>
            <a:outerShdw blurRad="127000" dist="25400" dir="5400000" algn="bl" rotWithShape="0">
              <a:srgbClr val="000000">
                <a:alpha val="3922"/>
              </a:srgbClr>
            </a:outerShdw>
          </a:effectLst>
        </p:spPr>
      </p:sp>
      <p:sp>
        <p:nvSpPr>
          <p:cNvPr id="23" name="Shape 21"/>
          <p:cNvSpPr/>
          <p:nvPr/>
        </p:nvSpPr>
        <p:spPr>
          <a:xfrm>
            <a:off x="1143000" y="6032500"/>
            <a:ext cx="1905000" cy="762000"/>
          </a:xfrm>
          <a:prstGeom prst="roundRect">
            <a:avLst>
              <a:gd name="adj" fmla="val 8000"/>
            </a:avLst>
          </a:prstGeom>
          <a:solidFill>
            <a:srgbClr val="3B82F6"/>
          </a:solidFill>
          <a:ln/>
        </p:spPr>
      </p:sp>
      <p:sp>
        <p:nvSpPr>
          <p:cNvPr id="24" name="Text 22"/>
          <p:cNvSpPr/>
          <p:nvPr/>
        </p:nvSpPr>
        <p:spPr>
          <a:xfrm>
            <a:off x="1143000" y="6032500"/>
            <a:ext cx="1905000" cy="762000"/>
          </a:xfrm>
          <a:prstGeom prst="rect">
            <a:avLst/>
          </a:prstGeom>
          <a:noFill/>
          <a:ln/>
        </p:spPr>
        <p:txBody>
          <a:bodyPr wrap="square" lIns="0" tIns="0" rIns="0" bIns="0" rtlCol="0" anchor="ctr"/>
          <a:lstStyle/>
          <a:p>
            <a:pPr algn="ctr">
              <a:lnSpc>
                <a:spcPct val="100000"/>
              </a:lnSpc>
            </a:pPr>
            <a:r>
              <a:rPr lang="en-US" sz="1300" b="1" dirty="0" err="1">
                <a:solidFill>
                  <a:srgbClr val="FFFFFF"/>
                </a:solidFill>
                <a:latin typeface="Quattrocento Sans" pitchFamily="34" charset="0"/>
                <a:ea typeface="Quattrocento Sans" pitchFamily="34" charset="-122"/>
                <a:cs typeface="Quattrocento Sans" pitchFamily="34" charset="-120"/>
              </a:rPr>
              <a:t>Người</a:t>
            </a:r>
            <a:r>
              <a:rPr lang="en-US" sz="1300" b="1" dirty="0">
                <a:solidFill>
                  <a:srgbClr val="FFFFFF"/>
                </a:solidFill>
                <a:latin typeface="Quattrocento Sans" pitchFamily="34" charset="0"/>
                <a:ea typeface="Quattrocento Sans" pitchFamily="34" charset="-122"/>
                <a:cs typeface="Quattrocento Sans" pitchFamily="34" charset="-120"/>
              </a:rPr>
              <a:t> dùng</a:t>
            </a:r>
            <a:endParaRPr lang="en-US" sz="1600" dirty="0"/>
          </a:p>
          <a:p>
            <a:pPr algn="ctr">
              <a:lnSpc>
                <a:spcPct val="100000"/>
              </a:lnSpc>
            </a:pPr>
            <a:r>
              <a:rPr lang="en-US" sz="1300" dirty="0">
                <a:solidFill>
                  <a:srgbClr val="FFFFFF"/>
                </a:solidFill>
                <a:latin typeface="Quattrocento Sans" pitchFamily="34" charset="0"/>
                <a:ea typeface="Quattrocento Sans" pitchFamily="34" charset="-122"/>
                <a:cs typeface="Quattrocento Sans" pitchFamily="34" charset="-120"/>
              </a:rPr>
              <a:t>truy cập web</a:t>
            </a:r>
            <a:endParaRPr lang="en-US" sz="1600" dirty="0"/>
          </a:p>
        </p:txBody>
      </p:sp>
      <p:sp>
        <p:nvSpPr>
          <p:cNvPr id="25" name="Shape 23"/>
          <p:cNvSpPr/>
          <p:nvPr/>
        </p:nvSpPr>
        <p:spPr>
          <a:xfrm>
            <a:off x="3175000" y="6350000"/>
            <a:ext cx="508000" cy="0"/>
          </a:xfrm>
          <a:prstGeom prst="straightConnector1">
            <a:avLst/>
          </a:prstGeom>
          <a:noFill/>
          <a:ln w="25400">
            <a:solidFill>
              <a:srgbClr val="64748B"/>
            </a:solidFill>
            <a:prstDash val="solid"/>
            <a:headEnd type="none"/>
            <a:tailEnd type="arrow"/>
          </a:ln>
        </p:spPr>
      </p:sp>
      <p:sp>
        <p:nvSpPr>
          <p:cNvPr id="26" name="Shape 24"/>
          <p:cNvSpPr/>
          <p:nvPr/>
        </p:nvSpPr>
        <p:spPr>
          <a:xfrm>
            <a:off x="3810000" y="6032500"/>
            <a:ext cx="1905000" cy="762000"/>
          </a:xfrm>
          <a:prstGeom prst="roundRect">
            <a:avLst>
              <a:gd name="adj" fmla="val 8000"/>
            </a:avLst>
          </a:prstGeom>
          <a:solidFill>
            <a:srgbClr val="1B3A5C"/>
          </a:solidFill>
          <a:ln/>
        </p:spPr>
      </p:sp>
      <p:sp>
        <p:nvSpPr>
          <p:cNvPr id="27" name="Text 25"/>
          <p:cNvSpPr/>
          <p:nvPr/>
        </p:nvSpPr>
        <p:spPr>
          <a:xfrm>
            <a:off x="3810000" y="6032500"/>
            <a:ext cx="1905000" cy="762000"/>
          </a:xfrm>
          <a:prstGeom prst="rect">
            <a:avLst/>
          </a:prstGeom>
          <a:noFill/>
          <a:ln/>
        </p:spPr>
        <p:txBody>
          <a:bodyPr wrap="square" lIns="0" tIns="0" rIns="0" bIns="0" rtlCol="0" anchor="ctr"/>
          <a:lstStyle/>
          <a:p>
            <a:pPr algn="ctr">
              <a:lnSpc>
                <a:spcPct val="100000"/>
              </a:lnSpc>
            </a:pPr>
            <a:r>
              <a:rPr lang="en-US" sz="1300" b="1" dirty="0">
                <a:solidFill>
                  <a:srgbClr val="FFFFFF"/>
                </a:solidFill>
                <a:latin typeface="Quattrocento Sans" pitchFamily="34" charset="0"/>
                <a:ea typeface="Quattrocento Sans" pitchFamily="34" charset="-122"/>
                <a:cs typeface="Quattrocento Sans" pitchFamily="34" charset="-120"/>
              </a:rPr>
              <a:t>Kết nối</a:t>
            </a:r>
            <a:endParaRPr lang="en-US" sz="1600" dirty="0"/>
          </a:p>
          <a:p>
            <a:pPr algn="ctr">
              <a:lnSpc>
                <a:spcPct val="100000"/>
              </a:lnSpc>
            </a:pPr>
            <a:r>
              <a:rPr lang="en-US" sz="1300" dirty="0">
                <a:solidFill>
                  <a:srgbClr val="FFFFFF"/>
                </a:solidFill>
                <a:latin typeface="Quattrocento Sans" pitchFamily="34" charset="0"/>
                <a:ea typeface="Quattrocento Sans" pitchFamily="34" charset="-122"/>
                <a:cs typeface="Quattrocento Sans" pitchFamily="34" charset="-120"/>
              </a:rPr>
              <a:t>MetaMask</a:t>
            </a:r>
            <a:endParaRPr lang="en-US" sz="1600" dirty="0"/>
          </a:p>
        </p:txBody>
      </p:sp>
      <p:sp>
        <p:nvSpPr>
          <p:cNvPr id="28" name="Shape 26"/>
          <p:cNvSpPr/>
          <p:nvPr/>
        </p:nvSpPr>
        <p:spPr>
          <a:xfrm>
            <a:off x="5842000" y="6350000"/>
            <a:ext cx="508000" cy="0"/>
          </a:xfrm>
          <a:prstGeom prst="straightConnector1">
            <a:avLst/>
          </a:prstGeom>
          <a:noFill/>
          <a:ln w="25400">
            <a:solidFill>
              <a:srgbClr val="64748B"/>
            </a:solidFill>
            <a:prstDash val="solid"/>
            <a:headEnd type="none"/>
            <a:tailEnd type="arrow"/>
          </a:ln>
        </p:spPr>
      </p:sp>
      <p:sp>
        <p:nvSpPr>
          <p:cNvPr id="29" name="Shape 27"/>
          <p:cNvSpPr/>
          <p:nvPr/>
        </p:nvSpPr>
        <p:spPr>
          <a:xfrm>
            <a:off x="6477000" y="6032500"/>
            <a:ext cx="1905000" cy="762000"/>
          </a:xfrm>
          <a:prstGeom prst="roundRect">
            <a:avLst>
              <a:gd name="adj" fmla="val 8000"/>
            </a:avLst>
          </a:prstGeom>
          <a:solidFill>
            <a:srgbClr val="1B3A5C"/>
          </a:solidFill>
          <a:ln/>
        </p:spPr>
      </p:sp>
      <p:sp>
        <p:nvSpPr>
          <p:cNvPr id="30" name="Text 28"/>
          <p:cNvSpPr/>
          <p:nvPr/>
        </p:nvSpPr>
        <p:spPr>
          <a:xfrm>
            <a:off x="6477000" y="6032500"/>
            <a:ext cx="1905000" cy="762000"/>
          </a:xfrm>
          <a:prstGeom prst="rect">
            <a:avLst/>
          </a:prstGeom>
          <a:noFill/>
          <a:ln/>
        </p:spPr>
        <p:txBody>
          <a:bodyPr wrap="square" lIns="0" tIns="0" rIns="0" bIns="0" rtlCol="0" anchor="ctr"/>
          <a:lstStyle/>
          <a:p>
            <a:pPr algn="ctr">
              <a:lnSpc>
                <a:spcPct val="100000"/>
              </a:lnSpc>
            </a:pPr>
            <a:r>
              <a:rPr lang="en-US" sz="1300" b="1" dirty="0">
                <a:solidFill>
                  <a:srgbClr val="FFFFFF"/>
                </a:solidFill>
                <a:latin typeface="Quattrocento Sans" pitchFamily="34" charset="0"/>
                <a:ea typeface="Quattrocento Sans" pitchFamily="34" charset="-122"/>
                <a:cs typeface="Quattrocento Sans" pitchFamily="34" charset="-120"/>
              </a:rPr>
              <a:t>Thực hiện</a:t>
            </a:r>
            <a:endParaRPr lang="en-US" sz="1600" dirty="0"/>
          </a:p>
          <a:p>
            <a:pPr algn="ctr">
              <a:lnSpc>
                <a:spcPct val="100000"/>
              </a:lnSpc>
            </a:pPr>
            <a:r>
              <a:rPr lang="en-US" sz="1300" dirty="0">
                <a:solidFill>
                  <a:srgbClr val="FFFFFF"/>
                </a:solidFill>
                <a:latin typeface="Quattrocento Sans" pitchFamily="34" charset="0"/>
                <a:ea typeface="Quattrocento Sans" pitchFamily="34" charset="-122"/>
                <a:cs typeface="Quattrocento Sans" pitchFamily="34" charset="-120"/>
              </a:rPr>
              <a:t>thao tác</a:t>
            </a:r>
            <a:endParaRPr lang="en-US" sz="1600" dirty="0"/>
          </a:p>
        </p:txBody>
      </p:sp>
      <p:sp>
        <p:nvSpPr>
          <p:cNvPr id="31" name="Shape 29"/>
          <p:cNvSpPr/>
          <p:nvPr/>
        </p:nvSpPr>
        <p:spPr>
          <a:xfrm>
            <a:off x="8509000" y="6350000"/>
            <a:ext cx="508000" cy="0"/>
          </a:xfrm>
          <a:prstGeom prst="straightConnector1">
            <a:avLst/>
          </a:prstGeom>
          <a:noFill/>
          <a:ln w="25400">
            <a:solidFill>
              <a:srgbClr val="64748B"/>
            </a:solidFill>
            <a:prstDash val="solid"/>
            <a:headEnd type="none"/>
            <a:tailEnd type="arrow"/>
          </a:ln>
        </p:spPr>
      </p:sp>
      <p:sp>
        <p:nvSpPr>
          <p:cNvPr id="32" name="Shape 30"/>
          <p:cNvSpPr/>
          <p:nvPr/>
        </p:nvSpPr>
        <p:spPr>
          <a:xfrm>
            <a:off x="9144000" y="6032500"/>
            <a:ext cx="1905000" cy="762000"/>
          </a:xfrm>
          <a:prstGeom prst="roundRect">
            <a:avLst>
              <a:gd name="adj" fmla="val 8000"/>
            </a:avLst>
          </a:prstGeom>
          <a:solidFill>
            <a:srgbClr val="1B3A5C"/>
          </a:solidFill>
          <a:ln/>
        </p:spPr>
      </p:sp>
      <p:sp>
        <p:nvSpPr>
          <p:cNvPr id="33" name="Text 31"/>
          <p:cNvSpPr/>
          <p:nvPr/>
        </p:nvSpPr>
        <p:spPr>
          <a:xfrm>
            <a:off x="9144000" y="6032500"/>
            <a:ext cx="1905000" cy="762000"/>
          </a:xfrm>
          <a:prstGeom prst="rect">
            <a:avLst/>
          </a:prstGeom>
          <a:noFill/>
          <a:ln/>
        </p:spPr>
        <p:txBody>
          <a:bodyPr wrap="square" lIns="0" tIns="0" rIns="0" bIns="0" rtlCol="0" anchor="ctr"/>
          <a:lstStyle/>
          <a:p>
            <a:pPr algn="ctr">
              <a:lnSpc>
                <a:spcPct val="100000"/>
              </a:lnSpc>
            </a:pPr>
            <a:r>
              <a:rPr lang="en-US" sz="1300" b="1" dirty="0">
                <a:solidFill>
                  <a:srgbClr val="FFFFFF"/>
                </a:solidFill>
                <a:latin typeface="Quattrocento Sans" pitchFamily="34" charset="0"/>
                <a:ea typeface="Quattrocento Sans" pitchFamily="34" charset="-122"/>
                <a:cs typeface="Quattrocento Sans" pitchFamily="34" charset="-120"/>
              </a:rPr>
              <a:t>Smart Contract</a:t>
            </a:r>
            <a:endParaRPr lang="en-US" sz="1600" dirty="0"/>
          </a:p>
          <a:p>
            <a:pPr algn="ctr">
              <a:lnSpc>
                <a:spcPct val="100000"/>
              </a:lnSpc>
            </a:pPr>
            <a:r>
              <a:rPr lang="en-US" sz="1300" dirty="0">
                <a:solidFill>
                  <a:srgbClr val="FFFFFF"/>
                </a:solidFill>
                <a:latin typeface="Quattrocento Sans" pitchFamily="34" charset="0"/>
                <a:ea typeface="Quattrocento Sans" pitchFamily="34" charset="-122"/>
                <a:cs typeface="Quattrocento Sans" pitchFamily="34" charset="-120"/>
              </a:rPr>
              <a:t>xử lý</a:t>
            </a:r>
            <a:endParaRPr lang="en-US" sz="1600" dirty="0"/>
          </a:p>
        </p:txBody>
      </p:sp>
      <p:sp>
        <p:nvSpPr>
          <p:cNvPr id="34" name="Shape 32"/>
          <p:cNvSpPr/>
          <p:nvPr/>
        </p:nvSpPr>
        <p:spPr>
          <a:xfrm>
            <a:off x="11176000" y="6350000"/>
            <a:ext cx="508000" cy="0"/>
          </a:xfrm>
          <a:prstGeom prst="straightConnector1">
            <a:avLst/>
          </a:prstGeom>
          <a:noFill/>
          <a:ln w="25400">
            <a:solidFill>
              <a:srgbClr val="64748B"/>
            </a:solidFill>
            <a:prstDash val="solid"/>
            <a:headEnd type="none"/>
            <a:tailEnd type="arrow"/>
          </a:ln>
        </p:spPr>
      </p:sp>
      <p:sp>
        <p:nvSpPr>
          <p:cNvPr id="35" name="Shape 33"/>
          <p:cNvSpPr/>
          <p:nvPr/>
        </p:nvSpPr>
        <p:spPr>
          <a:xfrm>
            <a:off x="11811000" y="6032500"/>
            <a:ext cx="1905000" cy="762000"/>
          </a:xfrm>
          <a:prstGeom prst="roundRect">
            <a:avLst>
              <a:gd name="adj" fmla="val 8000"/>
            </a:avLst>
          </a:prstGeom>
          <a:solidFill>
            <a:srgbClr val="059669"/>
          </a:solidFill>
          <a:ln/>
        </p:spPr>
      </p:sp>
      <p:sp>
        <p:nvSpPr>
          <p:cNvPr id="36" name="Text 34"/>
          <p:cNvSpPr/>
          <p:nvPr/>
        </p:nvSpPr>
        <p:spPr>
          <a:xfrm>
            <a:off x="11811000" y="6032500"/>
            <a:ext cx="1905000" cy="762000"/>
          </a:xfrm>
          <a:prstGeom prst="rect">
            <a:avLst/>
          </a:prstGeom>
          <a:noFill/>
          <a:ln/>
        </p:spPr>
        <p:txBody>
          <a:bodyPr wrap="square" lIns="0" tIns="0" rIns="0" bIns="0" rtlCol="0" anchor="ctr"/>
          <a:lstStyle/>
          <a:p>
            <a:pPr algn="ctr">
              <a:lnSpc>
                <a:spcPct val="100000"/>
              </a:lnSpc>
            </a:pPr>
            <a:r>
              <a:rPr lang="en-US" sz="1300" b="1" dirty="0">
                <a:solidFill>
                  <a:srgbClr val="FFFFFF"/>
                </a:solidFill>
                <a:latin typeface="Quattrocento Sans" pitchFamily="34" charset="0"/>
                <a:ea typeface="Quattrocento Sans" pitchFamily="34" charset="-122"/>
                <a:cs typeface="Quattrocento Sans" pitchFamily="34" charset="-120"/>
              </a:rPr>
              <a:t>Kết quả</a:t>
            </a:r>
            <a:endParaRPr lang="en-US" sz="1600" dirty="0"/>
          </a:p>
          <a:p>
            <a:pPr algn="ctr">
              <a:lnSpc>
                <a:spcPct val="100000"/>
              </a:lnSpc>
            </a:pPr>
            <a:r>
              <a:rPr lang="en-US" sz="1300" dirty="0">
                <a:solidFill>
                  <a:srgbClr val="FFFFFF"/>
                </a:solidFill>
                <a:latin typeface="Quattrocento Sans" pitchFamily="34" charset="0"/>
                <a:ea typeface="Quattrocento Sans" pitchFamily="34" charset="-122"/>
                <a:cs typeface="Quattrocento Sans" pitchFamily="34" charset="-120"/>
              </a:rPr>
              <a:t>hiển thị</a:t>
            </a:r>
            <a:endParaRPr lang="en-US" sz="1600" dirty="0"/>
          </a:p>
        </p:txBody>
      </p:sp>
      <p:sp>
        <p:nvSpPr>
          <p:cNvPr id="37" name="Text 35"/>
          <p:cNvSpPr/>
          <p:nvPr/>
        </p:nvSpPr>
        <p:spPr>
          <a:xfrm>
            <a:off x="1143000" y="7048500"/>
            <a:ext cx="13970000" cy="952500"/>
          </a:xfrm>
          <a:prstGeom prst="rect">
            <a:avLst/>
          </a:prstGeom>
          <a:noFill/>
          <a:ln/>
        </p:spPr>
        <p:txBody>
          <a:bodyPr wrap="square" lIns="0" tIns="0" rIns="0" bIns="0" rtlCol="0" anchor="t"/>
          <a:lstStyle/>
          <a:p>
            <a:pPr algn="ctr">
              <a:lnSpc>
                <a:spcPct val="160000"/>
              </a:lnSpc>
            </a:pPr>
            <a:r>
              <a:rPr lang="en-US" sz="1400" dirty="0">
                <a:solidFill>
                  <a:srgbClr val="64748B"/>
                </a:solidFill>
                <a:latin typeface="Quattrocento Sans" pitchFamily="34" charset="0"/>
                <a:ea typeface="Quattrocento Sans" pitchFamily="34" charset="-122"/>
                <a:cs typeface="Quattrocento Sans" pitchFamily="34" charset="-120"/>
              </a:rPr>
              <a:t>MetaMask yêu cầu xác nhận giao dịch → Smart Contract xử lý và ghi dữ liệu lên Blockchain</a:t>
            </a:r>
            <a:endParaRPr lang="en-US" sz="1600" dirty="0"/>
          </a:p>
          <a:p>
            <a:pPr algn="ctr">
              <a:lnSpc>
                <a:spcPct val="160000"/>
              </a:lnSpc>
            </a:pPr>
            <a:r>
              <a:rPr lang="en-US" sz="1400" dirty="0">
                <a:solidFill>
                  <a:srgbClr val="64748B"/>
                </a:solidFill>
                <a:latin typeface="Quattrocento Sans" pitchFamily="34" charset="0"/>
                <a:ea typeface="Quattrocento Sans" pitchFamily="34" charset="-122"/>
                <a:cs typeface="Quattrocento Sans" pitchFamily="34" charset="-120"/>
              </a:rPr>
              <a:t>→ Dữ liệu chiến dịch có thể đọc qua RPC provider (Infura) mà không cần kết nối ví</a:t>
            </a:r>
            <a:endParaRPr lang="en-US" sz="1600" dirty="0"/>
          </a:p>
        </p:txBody>
      </p:sp>
      <p:sp>
        <p:nvSpPr>
          <p:cNvPr id="38" name="Text 36"/>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400" dirty="0">
                <a:solidFill>
                  <a:srgbClr val="64748B"/>
                </a:solidFill>
                <a:latin typeface="QuattrocentoSans" pitchFamily="34" charset="0"/>
                <a:ea typeface="QuattrocentoSans" pitchFamily="34" charset="-122"/>
                <a:cs typeface="QuattrocentoSans" pitchFamily="34" charset="-120"/>
              </a:rPr>
              <a:t>10</a:t>
            </a:r>
            <a:endParaRPr lang="en-US" sz="14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B3A5C"/>
          </a:solidFill>
          <a:ln/>
        </p:spPr>
      </p:sp>
      <p:sp>
        <p:nvSpPr>
          <p:cNvPr id="3" name="Text 1"/>
          <p:cNvSpPr/>
          <p:nvPr/>
        </p:nvSpPr>
        <p:spPr>
          <a:xfrm>
            <a:off x="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FFFFFF"/>
                </a:solidFill>
                <a:latin typeface="Liter" pitchFamily="34" charset="0"/>
                <a:ea typeface="Liter" pitchFamily="34" charset="-122"/>
                <a:cs typeface="Liter" pitchFamily="34" charset="-120"/>
              </a:rPr>
              <a:t>PHÂN TÍCH VÀ THIẾT KẾ</a:t>
            </a:r>
            <a:endParaRPr lang="en-US" sz="1300" dirty="0"/>
          </a:p>
        </p:txBody>
      </p:sp>
      <p:sp>
        <p:nvSpPr>
          <p:cNvPr id="4" name="Text 2"/>
          <p:cNvSpPr/>
          <p:nvPr/>
        </p:nvSpPr>
        <p:spPr>
          <a:xfrm>
            <a:off x="812800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94A3B8"/>
                </a:solidFill>
                <a:latin typeface="Liter" pitchFamily="34" charset="0"/>
                <a:ea typeface="Liter" pitchFamily="34" charset="-122"/>
                <a:cs typeface="Liter" pitchFamily="34" charset="-120"/>
              </a:rPr>
              <a:t>XÂY DỰNG VÀ TRIỂN KHAI</a:t>
            </a:r>
            <a:endParaRPr lang="en-US" sz="1300" dirty="0"/>
          </a:p>
        </p:txBody>
      </p:sp>
      <p:sp>
        <p:nvSpPr>
          <p:cNvPr id="5" name="Shape 3"/>
          <p:cNvSpPr/>
          <p:nvPr/>
        </p:nvSpPr>
        <p:spPr>
          <a:xfrm>
            <a:off x="0" y="558800"/>
            <a:ext cx="8128000" cy="50800"/>
          </a:xfrm>
          <a:prstGeom prst="rect">
            <a:avLst/>
          </a:prstGeom>
          <a:solidFill>
            <a:srgbClr val="3B82F6"/>
          </a:solidFill>
          <a:ln/>
        </p:spPr>
      </p:sp>
      <p:sp>
        <p:nvSpPr>
          <p:cNvPr id="6" name="Shape 4"/>
          <p:cNvSpPr/>
          <p:nvPr/>
        </p:nvSpPr>
        <p:spPr>
          <a:xfrm>
            <a:off x="762000" y="863600"/>
            <a:ext cx="63500" cy="406400"/>
          </a:xfrm>
          <a:prstGeom prst="rect">
            <a:avLst/>
          </a:prstGeom>
          <a:solidFill>
            <a:srgbClr val="3B82F6"/>
          </a:solidFill>
          <a:ln/>
        </p:spPr>
      </p:sp>
      <p:sp>
        <p:nvSpPr>
          <p:cNvPr id="7" name="Text 5"/>
          <p:cNvSpPr/>
          <p:nvPr/>
        </p:nvSpPr>
        <p:spPr>
          <a:xfrm>
            <a:off x="990600" y="825500"/>
            <a:ext cx="10160000" cy="482600"/>
          </a:xfrm>
          <a:prstGeom prst="rect">
            <a:avLst/>
          </a:prstGeom>
          <a:noFill/>
          <a:ln/>
        </p:spPr>
        <p:txBody>
          <a:bodyPr wrap="none" lIns="0" tIns="0" rIns="0" bIns="0" rtlCol="0" anchor="ctr"/>
          <a:lstStyle/>
          <a:p>
            <a:pPr>
              <a:lnSpc>
                <a:spcPct val="130000"/>
              </a:lnSpc>
            </a:pPr>
            <a:r>
              <a:rPr lang="en-US" sz="2800" dirty="0">
                <a:solidFill>
                  <a:srgbClr val="1B3A5C"/>
                </a:solidFill>
                <a:latin typeface="Liter" pitchFamily="34" charset="0"/>
                <a:ea typeface="Liter" pitchFamily="34" charset="-122"/>
                <a:cs typeface="Liter" pitchFamily="34" charset="-120"/>
              </a:rPr>
              <a:t>2.5 Thiết kế Smart Contract</a:t>
            </a:r>
            <a:endParaRPr lang="en-US" sz="2800" dirty="0"/>
          </a:p>
        </p:txBody>
      </p:sp>
      <p:sp>
        <p:nvSpPr>
          <p:cNvPr id="8" name="Text 6"/>
          <p:cNvSpPr/>
          <p:nvPr/>
        </p:nvSpPr>
        <p:spPr>
          <a:xfrm>
            <a:off x="762000" y="1460500"/>
            <a:ext cx="14732000" cy="635000"/>
          </a:xfrm>
          <a:prstGeom prst="rect">
            <a:avLst/>
          </a:prstGeom>
          <a:noFill/>
          <a:ln/>
        </p:spPr>
        <p:txBody>
          <a:bodyPr wrap="square" lIns="0" tIns="0" rIns="0" bIns="0" rtlCol="0" anchor="t"/>
          <a:lstStyle/>
          <a:p>
            <a:pPr>
              <a:lnSpc>
                <a:spcPct val="150000"/>
              </a:lnSpc>
            </a:pPr>
            <a:r>
              <a:rPr lang="en-US" sz="1600" dirty="0">
                <a:solidFill>
                  <a:srgbClr val="1E293B"/>
                </a:solidFill>
                <a:latin typeface="QuattrocentoSans" pitchFamily="34" charset="0"/>
                <a:ea typeface="QuattrocentoSans" pitchFamily="34" charset="-122"/>
                <a:cs typeface="QuattrocentoSans" pitchFamily="34" charset="-120"/>
              </a:rPr>
              <a:t>Smart Contract là thành phần cốt lõi, viết bằng </a:t>
            </a:r>
            <a:r>
              <a:rPr lang="en-US" sz="1600" b="1" dirty="0">
                <a:solidFill>
                  <a:srgbClr val="1E293B"/>
                </a:solidFill>
                <a:latin typeface="QuattrocentoSans" pitchFamily="34" charset="0"/>
                <a:ea typeface="QuattrocentoSans" pitchFamily="34" charset="-122"/>
                <a:cs typeface="QuattrocentoSans" pitchFamily="34" charset="-120"/>
              </a:rPr>
              <a:t>Solidity</a:t>
            </a:r>
            <a:r>
              <a:rPr lang="en-US" sz="1600" dirty="0">
                <a:solidFill>
                  <a:srgbClr val="1E293B"/>
                </a:solidFill>
                <a:latin typeface="QuattrocentoSans" pitchFamily="34" charset="0"/>
                <a:ea typeface="QuattrocentoSans" pitchFamily="34" charset="-122"/>
                <a:cs typeface="QuattrocentoSans" pitchFamily="34" charset="-120"/>
              </a:rPr>
              <a:t>, triển khai trên </a:t>
            </a:r>
            <a:r>
              <a:rPr lang="en-US" sz="1600" b="1" dirty="0">
                <a:solidFill>
                  <a:srgbClr val="1E293B"/>
                </a:solidFill>
                <a:latin typeface="QuattrocentoSans" pitchFamily="34" charset="0"/>
                <a:ea typeface="QuattrocentoSans" pitchFamily="34" charset="-122"/>
                <a:cs typeface="QuattrocentoSans" pitchFamily="34" charset="-120"/>
              </a:rPr>
              <a:t>Ethereum (Sepolia testnet)</a:t>
            </a:r>
            <a:r>
              <a:rPr lang="en-US" sz="1600" dirty="0">
                <a:solidFill>
                  <a:srgbClr val="1E293B"/>
                </a:solidFill>
                <a:latin typeface="QuattrocentoSans" pitchFamily="34" charset="0"/>
                <a:ea typeface="QuattrocentoSans" pitchFamily="34" charset="-122"/>
                <a:cs typeface="QuattrocentoSans" pitchFamily="34" charset="-120"/>
              </a:rPr>
              <a:t>. Các hàm đều dùng </a:t>
            </a:r>
            <a:r>
              <a:rPr lang="en-US" sz="1600" b="1" dirty="0">
                <a:solidFill>
                  <a:srgbClr val="1E293B"/>
                </a:solidFill>
                <a:latin typeface="QuattrocentoSans" pitchFamily="34" charset="0"/>
                <a:ea typeface="QuattrocentoSans" pitchFamily="34" charset="-122"/>
                <a:cs typeface="QuattrocentoSans" pitchFamily="34" charset="-120"/>
              </a:rPr>
              <a:t>require()</a:t>
            </a:r>
            <a:r>
              <a:rPr lang="en-US" sz="1600" dirty="0">
                <a:solidFill>
                  <a:srgbClr val="1E293B"/>
                </a:solidFill>
                <a:latin typeface="QuattrocentoSans" pitchFamily="34" charset="0"/>
                <a:ea typeface="QuattrocentoSans" pitchFamily="34" charset="-122"/>
                <a:cs typeface="QuattrocentoSans" pitchFamily="34" charset="-120"/>
              </a:rPr>
              <a:t> để kiểm tra điều kiện.</a:t>
            </a:r>
            <a:endParaRPr lang="en-US" sz="1800" dirty="0"/>
          </a:p>
        </p:txBody>
      </p:sp>
      <p:sp>
        <p:nvSpPr>
          <p:cNvPr id="9" name="Shape 7"/>
          <p:cNvSpPr/>
          <p:nvPr/>
        </p:nvSpPr>
        <p:spPr>
          <a:xfrm>
            <a:off x="762000" y="2222500"/>
            <a:ext cx="7112000" cy="3302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10" name="Text 8"/>
          <p:cNvSpPr/>
          <p:nvPr/>
        </p:nvSpPr>
        <p:spPr>
          <a:xfrm>
            <a:off x="1016000" y="2387600"/>
            <a:ext cx="6604000" cy="355600"/>
          </a:xfrm>
          <a:prstGeom prst="rect">
            <a:avLst/>
          </a:prstGeom>
          <a:noFill/>
          <a:ln/>
        </p:spPr>
        <p:txBody>
          <a:bodyPr wrap="none" lIns="0" tIns="0" rIns="0" bIns="0" rtlCol="0" anchor="ctr"/>
          <a:lstStyle/>
          <a:p>
            <a:pPr>
              <a:lnSpc>
                <a:spcPct val="100000"/>
              </a:lnSpc>
            </a:pPr>
            <a:r>
              <a:rPr lang="en-US" sz="1800" b="1" dirty="0">
                <a:solidFill>
                  <a:srgbClr val="1B3A5C"/>
                </a:solidFill>
                <a:latin typeface="Liter" pitchFamily="34" charset="0"/>
                <a:ea typeface="Liter" pitchFamily="34" charset="-122"/>
                <a:cs typeface="Liter" pitchFamily="34" charset="-120"/>
              </a:rPr>
              <a:t>Struct Campaign</a:t>
            </a:r>
            <a:endParaRPr lang="en-US" sz="1600" dirty="0"/>
          </a:p>
        </p:txBody>
      </p:sp>
      <p:sp>
        <p:nvSpPr>
          <p:cNvPr id="11" name="Shape 9"/>
          <p:cNvSpPr/>
          <p:nvPr/>
        </p:nvSpPr>
        <p:spPr>
          <a:xfrm>
            <a:off x="1016000" y="2794000"/>
            <a:ext cx="6604000" cy="12700"/>
          </a:xfrm>
          <a:prstGeom prst="rect">
            <a:avLst/>
          </a:prstGeom>
          <a:solidFill>
            <a:srgbClr val="E2E8F0"/>
          </a:solidFill>
          <a:ln/>
        </p:spPr>
      </p:sp>
      <p:sp>
        <p:nvSpPr>
          <p:cNvPr id="12" name="Text 10"/>
          <p:cNvSpPr/>
          <p:nvPr/>
        </p:nvSpPr>
        <p:spPr>
          <a:xfrm>
            <a:off x="1016000" y="2921000"/>
            <a:ext cx="6604000" cy="2413000"/>
          </a:xfrm>
          <a:prstGeom prst="rect">
            <a:avLst/>
          </a:prstGeom>
          <a:noFill/>
          <a:ln/>
        </p:spPr>
        <p:txBody>
          <a:bodyPr wrap="square" lIns="0" tIns="0" rIns="0" bIns="0" rtlCol="0" anchor="t"/>
          <a:lstStyle/>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 </a:t>
            </a:r>
            <a:r>
              <a:rPr lang="en-US" sz="1500" b="1" dirty="0">
                <a:solidFill>
                  <a:srgbClr val="1E293B"/>
                </a:solidFill>
                <a:latin typeface="Quattrocento Sans" pitchFamily="34" charset="0"/>
                <a:ea typeface="Quattrocento Sans" pitchFamily="34" charset="-122"/>
                <a:cs typeface="Quattrocento Sans" pitchFamily="34" charset="-120"/>
              </a:rPr>
              <a:t>creator</a:t>
            </a:r>
            <a:r>
              <a:rPr lang="en-US" sz="1500" dirty="0">
                <a:solidFill>
                  <a:srgbClr val="1E293B"/>
                </a:solidFill>
                <a:latin typeface="Quattrocento Sans" pitchFamily="34" charset="0"/>
                <a:ea typeface="Quattrocento Sans" pitchFamily="34" charset="-122"/>
                <a:cs typeface="Quattrocento Sans" pitchFamily="34" charset="-120"/>
              </a:rPr>
              <a:t> - địa chỉ </a:t>
            </a:r>
            <a:r>
              <a:rPr lang="en-US" sz="1500" dirty="0" err="1">
                <a:solidFill>
                  <a:srgbClr val="1E293B"/>
                </a:solidFill>
                <a:latin typeface="Quattrocento Sans" pitchFamily="34" charset="0"/>
                <a:ea typeface="Quattrocento Sans" pitchFamily="34" charset="-122"/>
                <a:cs typeface="Quattrocento Sans" pitchFamily="34" charset="-120"/>
              </a:rPr>
              <a:t>ví</a:t>
            </a:r>
            <a:r>
              <a:rPr lang="en-US" sz="1500" dirty="0">
                <a:solidFill>
                  <a:srgbClr val="1E293B"/>
                </a:solidFill>
                <a:latin typeface="Quattrocento Sans" pitchFamily="34" charset="0"/>
                <a:ea typeface="Quattrocento Sans" pitchFamily="34" charset="-122"/>
                <a:cs typeface="Quattrocento Sans" pitchFamily="34" charset="-120"/>
              </a:rPr>
              <a:t> </a:t>
            </a:r>
            <a:r>
              <a:rPr lang="en-US" sz="1500" dirty="0" err="1">
                <a:solidFill>
                  <a:srgbClr val="1E293B"/>
                </a:solidFill>
                <a:latin typeface="Quattrocento Sans" pitchFamily="34" charset="0"/>
                <a:ea typeface="Quattrocento Sans" pitchFamily="34" charset="-122"/>
                <a:cs typeface="Quattrocento Sans" pitchFamily="34" charset="-120"/>
              </a:rPr>
              <a:t>người</a:t>
            </a:r>
            <a:r>
              <a:rPr lang="en-US" sz="1500" dirty="0">
                <a:solidFill>
                  <a:srgbClr val="1E293B"/>
                </a:solidFill>
                <a:latin typeface="Quattrocento Sans" pitchFamily="34" charset="0"/>
                <a:ea typeface="Quattrocento Sans" pitchFamily="34" charset="-122"/>
                <a:cs typeface="Quattrocento Sans" pitchFamily="34" charset="-120"/>
              </a:rPr>
              <a:t> tạo</a:t>
            </a:r>
            <a:endParaRPr lang="en-US" sz="1600" dirty="0"/>
          </a:p>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 </a:t>
            </a:r>
            <a:r>
              <a:rPr lang="en-US" sz="1500" b="1" dirty="0">
                <a:solidFill>
                  <a:srgbClr val="1E293B"/>
                </a:solidFill>
                <a:latin typeface="Quattrocento Sans" pitchFamily="34" charset="0"/>
                <a:ea typeface="Quattrocento Sans" pitchFamily="34" charset="-122"/>
                <a:cs typeface="Quattrocento Sans" pitchFamily="34" charset="-120"/>
              </a:rPr>
              <a:t>name</a:t>
            </a:r>
            <a:r>
              <a:rPr lang="en-US" sz="1500" dirty="0">
                <a:solidFill>
                  <a:srgbClr val="1E293B"/>
                </a:solidFill>
                <a:latin typeface="Quattrocento Sans" pitchFamily="34" charset="0"/>
                <a:ea typeface="Quattrocento Sans" pitchFamily="34" charset="-122"/>
                <a:cs typeface="Quattrocento Sans" pitchFamily="34" charset="-120"/>
              </a:rPr>
              <a:t> - tên chiến dịch</a:t>
            </a:r>
            <a:endParaRPr lang="en-US" sz="1600" dirty="0"/>
          </a:p>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 </a:t>
            </a:r>
            <a:r>
              <a:rPr lang="en-US" sz="1500" b="1" dirty="0">
                <a:solidFill>
                  <a:srgbClr val="1E293B"/>
                </a:solidFill>
                <a:latin typeface="Quattrocento Sans" pitchFamily="34" charset="0"/>
                <a:ea typeface="Quattrocento Sans" pitchFamily="34" charset="-122"/>
                <a:cs typeface="Quattrocento Sans" pitchFamily="34" charset="-120"/>
              </a:rPr>
              <a:t>goal</a:t>
            </a:r>
            <a:r>
              <a:rPr lang="en-US" sz="1500" dirty="0">
                <a:solidFill>
                  <a:srgbClr val="1E293B"/>
                </a:solidFill>
                <a:latin typeface="Quattrocento Sans" pitchFamily="34" charset="0"/>
                <a:ea typeface="Quattrocento Sans" pitchFamily="34" charset="-122"/>
                <a:cs typeface="Quattrocento Sans" pitchFamily="34" charset="-120"/>
              </a:rPr>
              <a:t> - mục tiêu tài chính (ETH)</a:t>
            </a:r>
            <a:endParaRPr lang="en-US" sz="1600" dirty="0"/>
          </a:p>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 </a:t>
            </a:r>
            <a:r>
              <a:rPr lang="en-US" sz="1500" b="1" dirty="0">
                <a:solidFill>
                  <a:srgbClr val="1E293B"/>
                </a:solidFill>
                <a:latin typeface="Quattrocento Sans" pitchFamily="34" charset="0"/>
                <a:ea typeface="Quattrocento Sans" pitchFamily="34" charset="-122"/>
                <a:cs typeface="Quattrocento Sans" pitchFamily="34" charset="-120"/>
              </a:rPr>
              <a:t>pledged</a:t>
            </a:r>
            <a:r>
              <a:rPr lang="en-US" sz="1500" dirty="0">
                <a:solidFill>
                  <a:srgbClr val="1E293B"/>
                </a:solidFill>
                <a:latin typeface="Quattrocento Sans" pitchFamily="34" charset="0"/>
                <a:ea typeface="Quattrocento Sans" pitchFamily="34" charset="-122"/>
                <a:cs typeface="Quattrocento Sans" pitchFamily="34" charset="-120"/>
              </a:rPr>
              <a:t> - tổng tiền đã góp</a:t>
            </a:r>
            <a:endParaRPr lang="en-US" sz="1600" dirty="0"/>
          </a:p>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 </a:t>
            </a:r>
            <a:r>
              <a:rPr lang="en-US" sz="1500" b="1" dirty="0">
                <a:solidFill>
                  <a:srgbClr val="1E293B"/>
                </a:solidFill>
                <a:latin typeface="Quattrocento Sans" pitchFamily="34" charset="0"/>
                <a:ea typeface="Quattrocento Sans" pitchFamily="34" charset="-122"/>
                <a:cs typeface="Quattrocento Sans" pitchFamily="34" charset="-120"/>
              </a:rPr>
              <a:t>deadline</a:t>
            </a:r>
            <a:r>
              <a:rPr lang="en-US" sz="1500" dirty="0">
                <a:solidFill>
                  <a:srgbClr val="1E293B"/>
                </a:solidFill>
                <a:latin typeface="Quattrocento Sans" pitchFamily="34" charset="0"/>
                <a:ea typeface="Quattrocento Sans" pitchFamily="34" charset="-122"/>
                <a:cs typeface="Quattrocento Sans" pitchFamily="34" charset="-120"/>
              </a:rPr>
              <a:t> - thờii điểm kết thúc</a:t>
            </a:r>
            <a:endParaRPr lang="en-US" sz="1600" dirty="0"/>
          </a:p>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 </a:t>
            </a:r>
            <a:r>
              <a:rPr lang="en-US" sz="1500" b="1" dirty="0">
                <a:solidFill>
                  <a:srgbClr val="1E293B"/>
                </a:solidFill>
                <a:latin typeface="Quattrocento Sans" pitchFamily="34" charset="0"/>
                <a:ea typeface="Quattrocento Sans" pitchFamily="34" charset="-122"/>
                <a:cs typeface="Quattrocento Sans" pitchFamily="34" charset="-120"/>
              </a:rPr>
              <a:t>claimed</a:t>
            </a:r>
            <a:r>
              <a:rPr lang="en-US" sz="1500" dirty="0">
                <a:solidFill>
                  <a:srgbClr val="1E293B"/>
                </a:solidFill>
                <a:latin typeface="Quattrocento Sans" pitchFamily="34" charset="0"/>
                <a:ea typeface="Quattrocento Sans" pitchFamily="34" charset="-122"/>
                <a:cs typeface="Quattrocento Sans" pitchFamily="34" charset="-120"/>
              </a:rPr>
              <a:t> - trạng thái rút tiền</a:t>
            </a:r>
            <a:endParaRPr lang="en-US" sz="1600" dirty="0"/>
          </a:p>
        </p:txBody>
      </p:sp>
      <p:sp>
        <p:nvSpPr>
          <p:cNvPr id="13" name="Shape 11"/>
          <p:cNvSpPr/>
          <p:nvPr/>
        </p:nvSpPr>
        <p:spPr>
          <a:xfrm>
            <a:off x="8382000" y="2222500"/>
            <a:ext cx="7112000" cy="2667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14" name="Text 12"/>
          <p:cNvSpPr/>
          <p:nvPr/>
        </p:nvSpPr>
        <p:spPr>
          <a:xfrm>
            <a:off x="8636000" y="2387600"/>
            <a:ext cx="6604000" cy="355600"/>
          </a:xfrm>
          <a:prstGeom prst="rect">
            <a:avLst/>
          </a:prstGeom>
          <a:noFill/>
          <a:ln/>
        </p:spPr>
        <p:txBody>
          <a:bodyPr wrap="none" lIns="0" tIns="0" rIns="0" bIns="0" rtlCol="0" anchor="ctr"/>
          <a:lstStyle/>
          <a:p>
            <a:pPr>
              <a:lnSpc>
                <a:spcPct val="100000"/>
              </a:lnSpc>
            </a:pPr>
            <a:r>
              <a:rPr lang="en-US" sz="1800" b="1" dirty="0">
                <a:solidFill>
                  <a:srgbClr val="1B3A5C"/>
                </a:solidFill>
                <a:latin typeface="Liter" pitchFamily="34" charset="0"/>
                <a:ea typeface="Liter" pitchFamily="34" charset="-122"/>
                <a:cs typeface="Liter" pitchFamily="34" charset="-120"/>
              </a:rPr>
              <a:t>Mapping &amp; Biến đếm</a:t>
            </a:r>
            <a:endParaRPr lang="en-US" sz="1600" dirty="0"/>
          </a:p>
        </p:txBody>
      </p:sp>
      <p:sp>
        <p:nvSpPr>
          <p:cNvPr id="15" name="Shape 13"/>
          <p:cNvSpPr/>
          <p:nvPr/>
        </p:nvSpPr>
        <p:spPr>
          <a:xfrm>
            <a:off x="8636000" y="2794000"/>
            <a:ext cx="6604000" cy="12700"/>
          </a:xfrm>
          <a:prstGeom prst="rect">
            <a:avLst/>
          </a:prstGeom>
          <a:solidFill>
            <a:srgbClr val="E2E8F0"/>
          </a:solidFill>
          <a:ln/>
        </p:spPr>
      </p:sp>
      <p:sp>
        <p:nvSpPr>
          <p:cNvPr id="16" name="Text 14"/>
          <p:cNvSpPr/>
          <p:nvPr/>
        </p:nvSpPr>
        <p:spPr>
          <a:xfrm>
            <a:off x="8636000" y="2921000"/>
            <a:ext cx="6604000" cy="1841500"/>
          </a:xfrm>
          <a:prstGeom prst="rect">
            <a:avLst/>
          </a:prstGeom>
          <a:noFill/>
          <a:ln/>
        </p:spPr>
        <p:txBody>
          <a:bodyPr wrap="square" lIns="0" tIns="0" rIns="0" bIns="0" rtlCol="0" anchor="t"/>
          <a:lstStyle/>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 </a:t>
            </a:r>
            <a:r>
              <a:rPr lang="en-US" sz="1500" b="1" dirty="0">
                <a:solidFill>
                  <a:srgbClr val="1E293B"/>
                </a:solidFill>
                <a:latin typeface="Quattrocento Sans" pitchFamily="34" charset="0"/>
                <a:ea typeface="Quattrocento Sans" pitchFamily="34" charset="-122"/>
                <a:cs typeface="Quattrocento Sans" pitchFamily="34" charset="-120"/>
              </a:rPr>
              <a:t>campaigns[id]</a:t>
            </a:r>
            <a:r>
              <a:rPr lang="en-US" sz="1500" dirty="0">
                <a:solidFill>
                  <a:srgbClr val="1E293B"/>
                </a:solidFill>
                <a:latin typeface="Quattrocento Sans" pitchFamily="34" charset="0"/>
                <a:ea typeface="Quattrocento Sans" pitchFamily="34" charset="-122"/>
                <a:cs typeface="Quattrocento Sans" pitchFamily="34" charset="-120"/>
              </a:rPr>
              <a:t> - thông tin chiến dịch theo ID</a:t>
            </a:r>
            <a:endParaRPr lang="en-US" sz="1600" dirty="0"/>
          </a:p>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 </a:t>
            </a:r>
            <a:r>
              <a:rPr lang="en-US" sz="1500" b="1" dirty="0">
                <a:solidFill>
                  <a:srgbClr val="1E293B"/>
                </a:solidFill>
                <a:latin typeface="Quattrocento Sans" pitchFamily="34" charset="0"/>
                <a:ea typeface="Quattrocento Sans" pitchFamily="34" charset="-122"/>
                <a:cs typeface="Quattrocento Sans" pitchFamily="34" charset="-120"/>
              </a:rPr>
              <a:t>pledgedAmount[user][id]</a:t>
            </a:r>
            <a:r>
              <a:rPr lang="en-US" sz="1500" dirty="0">
                <a:solidFill>
                  <a:srgbClr val="1E293B"/>
                </a:solidFill>
                <a:latin typeface="Quattrocento Sans" pitchFamily="34" charset="0"/>
                <a:ea typeface="Quattrocento Sans" pitchFamily="34" charset="-122"/>
                <a:cs typeface="Quattrocento Sans" pitchFamily="34" charset="-120"/>
              </a:rPr>
              <a:t> - số tiền mỗi ngườii đóng góp</a:t>
            </a:r>
            <a:endParaRPr lang="en-US" sz="1600" dirty="0"/>
          </a:p>
          <a:p>
            <a:pPr>
              <a:lnSpc>
                <a:spcPct val="170000"/>
              </a:lnSpc>
            </a:pPr>
            <a:r>
              <a:rPr lang="en-US" sz="1500" dirty="0">
                <a:solidFill>
                  <a:srgbClr val="1E293B"/>
                </a:solidFill>
                <a:latin typeface="Quattrocento Sans" pitchFamily="34" charset="0"/>
                <a:ea typeface="Quattrocento Sans" pitchFamily="34" charset="-122"/>
                <a:cs typeface="Quattrocento Sans" pitchFamily="34" charset="-120"/>
              </a:rPr>
              <a:t>• </a:t>
            </a:r>
            <a:r>
              <a:rPr lang="en-US" sz="1500" b="1" dirty="0">
                <a:solidFill>
                  <a:srgbClr val="1E293B"/>
                </a:solidFill>
                <a:latin typeface="Quattrocento Sans" pitchFamily="34" charset="0"/>
                <a:ea typeface="Quattrocento Sans" pitchFamily="34" charset="-122"/>
                <a:cs typeface="Quattrocento Sans" pitchFamily="34" charset="-120"/>
              </a:rPr>
              <a:t>count</a:t>
            </a:r>
            <a:r>
              <a:rPr lang="en-US" sz="1500" dirty="0">
                <a:solidFill>
                  <a:srgbClr val="1E293B"/>
                </a:solidFill>
                <a:latin typeface="Quattrocento Sans" pitchFamily="34" charset="0"/>
                <a:ea typeface="Quattrocento Sans" pitchFamily="34" charset="-122"/>
                <a:cs typeface="Quattrocento Sans" pitchFamily="34" charset="-120"/>
              </a:rPr>
              <a:t> - tổng số chiến dịch đã tạo</a:t>
            </a:r>
            <a:endParaRPr lang="en-US" sz="1600" dirty="0"/>
          </a:p>
        </p:txBody>
      </p:sp>
      <p:sp>
        <p:nvSpPr>
          <p:cNvPr id="17" name="Text 15"/>
          <p:cNvSpPr/>
          <p:nvPr/>
        </p:nvSpPr>
        <p:spPr>
          <a:xfrm>
            <a:off x="762000" y="5588000"/>
            <a:ext cx="5080000" cy="355600"/>
          </a:xfrm>
          <a:prstGeom prst="rect">
            <a:avLst/>
          </a:prstGeom>
          <a:noFill/>
          <a:ln/>
        </p:spPr>
        <p:txBody>
          <a:bodyPr wrap="none" lIns="0" tIns="0" rIns="0" bIns="0" rtlCol="0" anchor="ctr"/>
          <a:lstStyle/>
          <a:p>
            <a:pPr>
              <a:lnSpc>
                <a:spcPct val="100000"/>
              </a:lnSpc>
            </a:pPr>
            <a:r>
              <a:rPr lang="en-US" sz="1800" b="1" dirty="0">
                <a:solidFill>
                  <a:srgbClr val="1B3A5C"/>
                </a:solidFill>
                <a:latin typeface="Liter" pitchFamily="34" charset="0"/>
                <a:ea typeface="Liter" pitchFamily="34" charset="-122"/>
                <a:cs typeface="Liter" pitchFamily="34" charset="-120"/>
              </a:rPr>
              <a:t>Các hàm chính</a:t>
            </a:r>
            <a:endParaRPr lang="en-US" sz="1600" dirty="0"/>
          </a:p>
        </p:txBody>
      </p:sp>
      <p:sp>
        <p:nvSpPr>
          <p:cNvPr id="18" name="Shape 16"/>
          <p:cNvSpPr/>
          <p:nvPr/>
        </p:nvSpPr>
        <p:spPr>
          <a:xfrm>
            <a:off x="762000" y="6096000"/>
            <a:ext cx="2794000" cy="1270000"/>
          </a:xfrm>
          <a:prstGeom prst="roundRect">
            <a:avLst>
              <a:gd name="adj" fmla="val 6000"/>
            </a:avLst>
          </a:prstGeom>
          <a:solidFill>
            <a:srgbClr val="1B3A5C"/>
          </a:solidFill>
          <a:ln/>
        </p:spPr>
      </p:sp>
      <p:sp>
        <p:nvSpPr>
          <p:cNvPr id="19" name="Text 17"/>
          <p:cNvSpPr/>
          <p:nvPr/>
        </p:nvSpPr>
        <p:spPr>
          <a:xfrm>
            <a:off x="762000" y="6096000"/>
            <a:ext cx="2794000" cy="1270000"/>
          </a:xfrm>
          <a:prstGeom prst="rect">
            <a:avLst/>
          </a:prstGeom>
          <a:noFill/>
          <a:ln/>
        </p:spPr>
        <p:txBody>
          <a:bodyPr wrap="square" lIns="0" tIns="0" rIns="0" bIns="0" rtlCol="0" anchor="ctr"/>
          <a:lstStyle/>
          <a:p>
            <a:pPr algn="ctr">
              <a:lnSpc>
                <a:spcPct val="150000"/>
              </a:lnSpc>
            </a:pPr>
            <a:r>
              <a:rPr lang="en-US" sz="1400" b="1" dirty="0">
                <a:solidFill>
                  <a:srgbClr val="FFFFFF"/>
                </a:solidFill>
                <a:latin typeface="Quattrocento Sans" pitchFamily="34" charset="0"/>
                <a:ea typeface="Quattrocento Sans" pitchFamily="34" charset="-122"/>
                <a:cs typeface="Quattrocento Sans" pitchFamily="34" charset="-120"/>
              </a:rPr>
              <a:t>createCampaign()</a:t>
            </a:r>
            <a:endParaRPr lang="en-US" sz="1600" dirty="0"/>
          </a:p>
          <a:p>
            <a:pPr algn="ctr">
              <a:lnSpc>
                <a:spcPct val="150000"/>
              </a:lnSpc>
            </a:pPr>
            <a:r>
              <a:rPr lang="en-US" sz="1400" dirty="0">
                <a:solidFill>
                  <a:srgbClr val="FFFFFF"/>
                </a:solidFill>
                <a:latin typeface="Quattrocento Sans" pitchFamily="34" charset="0"/>
                <a:ea typeface="Quattrocento Sans" pitchFamily="34" charset="-122"/>
                <a:cs typeface="Quattrocento Sans" pitchFamily="34" charset="-120"/>
              </a:rPr>
              <a:t>Khởi tạo chiến dịch</a:t>
            </a:r>
            <a:endParaRPr lang="en-US" sz="1600" dirty="0"/>
          </a:p>
        </p:txBody>
      </p:sp>
      <p:sp>
        <p:nvSpPr>
          <p:cNvPr id="20" name="Shape 18"/>
          <p:cNvSpPr/>
          <p:nvPr/>
        </p:nvSpPr>
        <p:spPr>
          <a:xfrm>
            <a:off x="3810000" y="6096000"/>
            <a:ext cx="2794000" cy="1270000"/>
          </a:xfrm>
          <a:prstGeom prst="roundRect">
            <a:avLst>
              <a:gd name="adj" fmla="val 6000"/>
            </a:avLst>
          </a:prstGeom>
          <a:solidFill>
            <a:srgbClr val="3B82F6"/>
          </a:solidFill>
          <a:ln/>
        </p:spPr>
      </p:sp>
      <p:sp>
        <p:nvSpPr>
          <p:cNvPr id="21" name="Text 19"/>
          <p:cNvSpPr/>
          <p:nvPr/>
        </p:nvSpPr>
        <p:spPr>
          <a:xfrm>
            <a:off x="3810000" y="6096000"/>
            <a:ext cx="2794000" cy="1270000"/>
          </a:xfrm>
          <a:prstGeom prst="rect">
            <a:avLst/>
          </a:prstGeom>
          <a:noFill/>
          <a:ln/>
        </p:spPr>
        <p:txBody>
          <a:bodyPr wrap="square" lIns="0" tIns="0" rIns="0" bIns="0" rtlCol="0" anchor="ctr"/>
          <a:lstStyle/>
          <a:p>
            <a:pPr algn="ctr">
              <a:lnSpc>
                <a:spcPct val="150000"/>
              </a:lnSpc>
            </a:pPr>
            <a:r>
              <a:rPr lang="en-US" sz="1400" b="1" dirty="0">
                <a:solidFill>
                  <a:srgbClr val="FFFFFF"/>
                </a:solidFill>
                <a:latin typeface="Quattrocento Sans" pitchFamily="34" charset="0"/>
                <a:ea typeface="Quattrocento Sans" pitchFamily="34" charset="-122"/>
                <a:cs typeface="Quattrocento Sans" pitchFamily="34" charset="-120"/>
              </a:rPr>
              <a:t>pledge()</a:t>
            </a:r>
            <a:endParaRPr lang="en-US" sz="1600" dirty="0"/>
          </a:p>
          <a:p>
            <a:pPr algn="ctr">
              <a:lnSpc>
                <a:spcPct val="150000"/>
              </a:lnSpc>
            </a:pPr>
            <a:r>
              <a:rPr lang="en-US" sz="1400" dirty="0">
                <a:solidFill>
                  <a:srgbClr val="FFFFFF"/>
                </a:solidFill>
                <a:latin typeface="Quattrocento Sans" pitchFamily="34" charset="0"/>
                <a:ea typeface="Quattrocento Sans" pitchFamily="34" charset="-122"/>
                <a:cs typeface="Quattrocento Sans" pitchFamily="34" charset="-120"/>
              </a:rPr>
              <a:t>Đóng góp ETH</a:t>
            </a:r>
            <a:endParaRPr lang="en-US" sz="1600" dirty="0"/>
          </a:p>
        </p:txBody>
      </p:sp>
      <p:sp>
        <p:nvSpPr>
          <p:cNvPr id="22" name="Shape 20"/>
          <p:cNvSpPr/>
          <p:nvPr/>
        </p:nvSpPr>
        <p:spPr>
          <a:xfrm>
            <a:off x="6858000" y="6096000"/>
            <a:ext cx="2794000" cy="1270000"/>
          </a:xfrm>
          <a:prstGeom prst="roundRect">
            <a:avLst>
              <a:gd name="adj" fmla="val 6000"/>
            </a:avLst>
          </a:prstGeom>
          <a:solidFill>
            <a:srgbClr val="1B3A5C"/>
          </a:solidFill>
          <a:ln/>
        </p:spPr>
      </p:sp>
      <p:sp>
        <p:nvSpPr>
          <p:cNvPr id="23" name="Text 21"/>
          <p:cNvSpPr/>
          <p:nvPr/>
        </p:nvSpPr>
        <p:spPr>
          <a:xfrm>
            <a:off x="6858000" y="6096000"/>
            <a:ext cx="2794000" cy="1270000"/>
          </a:xfrm>
          <a:prstGeom prst="rect">
            <a:avLst/>
          </a:prstGeom>
          <a:noFill/>
          <a:ln/>
        </p:spPr>
        <p:txBody>
          <a:bodyPr wrap="square" lIns="0" tIns="0" rIns="0" bIns="0" rtlCol="0" anchor="ctr"/>
          <a:lstStyle/>
          <a:p>
            <a:pPr algn="ctr">
              <a:lnSpc>
                <a:spcPct val="150000"/>
              </a:lnSpc>
            </a:pPr>
            <a:r>
              <a:rPr lang="en-US" sz="1400" b="1" dirty="0">
                <a:solidFill>
                  <a:srgbClr val="FFFFFF"/>
                </a:solidFill>
                <a:latin typeface="Quattrocento Sans" pitchFamily="34" charset="0"/>
                <a:ea typeface="Quattrocento Sans" pitchFamily="34" charset="-122"/>
                <a:cs typeface="Quattrocento Sans" pitchFamily="34" charset="-120"/>
              </a:rPr>
              <a:t>claim()</a:t>
            </a:r>
            <a:endParaRPr lang="en-US" sz="1600" dirty="0"/>
          </a:p>
          <a:p>
            <a:pPr algn="ctr">
              <a:lnSpc>
                <a:spcPct val="150000"/>
              </a:lnSpc>
            </a:pPr>
            <a:r>
              <a:rPr lang="en-US" sz="1400" dirty="0">
                <a:solidFill>
                  <a:srgbClr val="FFFFFF"/>
                </a:solidFill>
                <a:latin typeface="Quattrocento Sans" pitchFamily="34" charset="0"/>
                <a:ea typeface="Quattrocento Sans" pitchFamily="34" charset="-122"/>
                <a:cs typeface="Quattrocento Sans" pitchFamily="34" charset="-120"/>
              </a:rPr>
              <a:t>Rút tiền</a:t>
            </a:r>
            <a:endParaRPr lang="en-US" sz="1600" dirty="0"/>
          </a:p>
        </p:txBody>
      </p:sp>
      <p:sp>
        <p:nvSpPr>
          <p:cNvPr id="24" name="Shape 22"/>
          <p:cNvSpPr/>
          <p:nvPr/>
        </p:nvSpPr>
        <p:spPr>
          <a:xfrm>
            <a:off x="9906000" y="6096000"/>
            <a:ext cx="2794000" cy="1270000"/>
          </a:xfrm>
          <a:prstGeom prst="roundRect">
            <a:avLst>
              <a:gd name="adj" fmla="val 6000"/>
            </a:avLst>
          </a:prstGeom>
          <a:solidFill>
            <a:srgbClr val="3B82F6"/>
          </a:solidFill>
          <a:ln/>
        </p:spPr>
      </p:sp>
      <p:sp>
        <p:nvSpPr>
          <p:cNvPr id="25" name="Text 23"/>
          <p:cNvSpPr/>
          <p:nvPr/>
        </p:nvSpPr>
        <p:spPr>
          <a:xfrm>
            <a:off x="9906000" y="6096000"/>
            <a:ext cx="2794000" cy="1270000"/>
          </a:xfrm>
          <a:prstGeom prst="rect">
            <a:avLst/>
          </a:prstGeom>
          <a:noFill/>
          <a:ln/>
        </p:spPr>
        <p:txBody>
          <a:bodyPr wrap="square" lIns="0" tIns="0" rIns="0" bIns="0" rtlCol="0" anchor="ctr"/>
          <a:lstStyle/>
          <a:p>
            <a:pPr algn="ctr">
              <a:lnSpc>
                <a:spcPct val="150000"/>
              </a:lnSpc>
            </a:pPr>
            <a:r>
              <a:rPr lang="en-US" sz="1400" b="1" dirty="0">
                <a:solidFill>
                  <a:srgbClr val="FFFFFF"/>
                </a:solidFill>
                <a:latin typeface="Quattrocento Sans" pitchFamily="34" charset="0"/>
                <a:ea typeface="Quattrocento Sans" pitchFamily="34" charset="-122"/>
                <a:cs typeface="Quattrocento Sans" pitchFamily="34" charset="-120"/>
              </a:rPr>
              <a:t>refund()</a:t>
            </a:r>
            <a:endParaRPr lang="en-US" sz="1600" dirty="0"/>
          </a:p>
          <a:p>
            <a:pPr algn="ctr">
              <a:lnSpc>
                <a:spcPct val="150000"/>
              </a:lnSpc>
            </a:pPr>
            <a:r>
              <a:rPr lang="en-US" sz="1400" dirty="0">
                <a:solidFill>
                  <a:srgbClr val="FFFFFF"/>
                </a:solidFill>
                <a:latin typeface="Quattrocento Sans" pitchFamily="34" charset="0"/>
                <a:ea typeface="Quattrocento Sans" pitchFamily="34" charset="-122"/>
                <a:cs typeface="Quattrocento Sans" pitchFamily="34" charset="-120"/>
              </a:rPr>
              <a:t>Hoàn tiền</a:t>
            </a:r>
            <a:endParaRPr lang="en-US" sz="1600" dirty="0"/>
          </a:p>
        </p:txBody>
      </p:sp>
      <p:sp>
        <p:nvSpPr>
          <p:cNvPr id="26" name="Shape 24"/>
          <p:cNvSpPr/>
          <p:nvPr/>
        </p:nvSpPr>
        <p:spPr>
          <a:xfrm>
            <a:off x="12954000" y="6096000"/>
            <a:ext cx="2540000" cy="1270000"/>
          </a:xfrm>
          <a:prstGeom prst="roundRect">
            <a:avLst>
              <a:gd name="adj" fmla="val 6000"/>
            </a:avLst>
          </a:prstGeom>
          <a:solidFill>
            <a:srgbClr val="64748B"/>
          </a:solidFill>
          <a:ln/>
        </p:spPr>
      </p:sp>
      <p:sp>
        <p:nvSpPr>
          <p:cNvPr id="27" name="Text 25"/>
          <p:cNvSpPr/>
          <p:nvPr/>
        </p:nvSpPr>
        <p:spPr>
          <a:xfrm>
            <a:off x="12954000" y="6096000"/>
            <a:ext cx="2540000" cy="1270000"/>
          </a:xfrm>
          <a:prstGeom prst="rect">
            <a:avLst/>
          </a:prstGeom>
          <a:noFill/>
          <a:ln/>
        </p:spPr>
        <p:txBody>
          <a:bodyPr wrap="square" lIns="0" tIns="0" rIns="0" bIns="0" rtlCol="0" anchor="ctr"/>
          <a:lstStyle/>
          <a:p>
            <a:pPr algn="ctr">
              <a:lnSpc>
                <a:spcPct val="150000"/>
              </a:lnSpc>
            </a:pPr>
            <a:r>
              <a:rPr lang="en-US" sz="1400" b="1" dirty="0">
                <a:solidFill>
                  <a:srgbClr val="FFFFFF"/>
                </a:solidFill>
                <a:latin typeface="Quattrocento Sans" pitchFamily="34" charset="0"/>
                <a:ea typeface="Quattrocento Sans" pitchFamily="34" charset="-122"/>
                <a:cs typeface="Quattrocento Sans" pitchFamily="34" charset="-120"/>
              </a:rPr>
              <a:t>openCampaignCount()</a:t>
            </a:r>
            <a:endParaRPr lang="en-US" sz="1600" dirty="0"/>
          </a:p>
          <a:p>
            <a:pPr algn="ctr">
              <a:lnSpc>
                <a:spcPct val="150000"/>
              </a:lnSpc>
            </a:pPr>
            <a:r>
              <a:rPr lang="en-US" sz="1400" dirty="0">
                <a:solidFill>
                  <a:srgbClr val="FFFFFF"/>
                </a:solidFill>
                <a:latin typeface="Quattrocento Sans" pitchFamily="34" charset="0"/>
                <a:ea typeface="Quattrocento Sans" pitchFamily="34" charset="-122"/>
                <a:cs typeface="Quattrocento Sans" pitchFamily="34" charset="-120"/>
              </a:rPr>
              <a:t>Kiểm tra số lượng</a:t>
            </a:r>
            <a:endParaRPr lang="en-US" sz="1600" dirty="0"/>
          </a:p>
        </p:txBody>
      </p:sp>
      <p:sp>
        <p:nvSpPr>
          <p:cNvPr id="28" name="Text 26"/>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400" dirty="0">
                <a:solidFill>
                  <a:srgbClr val="64748B"/>
                </a:solidFill>
                <a:latin typeface="QuattrocentoSans" pitchFamily="34" charset="0"/>
                <a:ea typeface="QuattrocentoSans" pitchFamily="34" charset="-122"/>
                <a:cs typeface="QuattrocentoSans" pitchFamily="34" charset="-120"/>
              </a:rPr>
              <a:t>11</a:t>
            </a:r>
            <a:endParaRPr lang="en-US" sz="14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B3A5C"/>
          </a:solidFill>
          <a:ln/>
        </p:spPr>
      </p:sp>
      <p:sp>
        <p:nvSpPr>
          <p:cNvPr id="3" name="Text 1"/>
          <p:cNvSpPr/>
          <p:nvPr/>
        </p:nvSpPr>
        <p:spPr>
          <a:xfrm>
            <a:off x="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FFFFFF"/>
                </a:solidFill>
                <a:latin typeface="Liter" pitchFamily="34" charset="0"/>
                <a:ea typeface="Liter" pitchFamily="34" charset="-122"/>
                <a:cs typeface="Liter" pitchFamily="34" charset="-120"/>
              </a:rPr>
              <a:t>PHÂN TÍCH VÀ THIẾT KẾ</a:t>
            </a:r>
            <a:endParaRPr lang="en-US" sz="1300" dirty="0"/>
          </a:p>
        </p:txBody>
      </p:sp>
      <p:sp>
        <p:nvSpPr>
          <p:cNvPr id="4" name="Text 2"/>
          <p:cNvSpPr/>
          <p:nvPr/>
        </p:nvSpPr>
        <p:spPr>
          <a:xfrm>
            <a:off x="812800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94A3B8"/>
                </a:solidFill>
                <a:latin typeface="Liter" pitchFamily="34" charset="0"/>
                <a:ea typeface="Liter" pitchFamily="34" charset="-122"/>
                <a:cs typeface="Liter" pitchFamily="34" charset="-120"/>
              </a:rPr>
              <a:t>XÂY DỰNG VÀ TRIỂN KHAI</a:t>
            </a:r>
            <a:endParaRPr lang="en-US" sz="1300" dirty="0"/>
          </a:p>
        </p:txBody>
      </p:sp>
      <p:sp>
        <p:nvSpPr>
          <p:cNvPr id="5" name="Shape 3"/>
          <p:cNvSpPr/>
          <p:nvPr/>
        </p:nvSpPr>
        <p:spPr>
          <a:xfrm>
            <a:off x="0" y="558800"/>
            <a:ext cx="8128000" cy="50800"/>
          </a:xfrm>
          <a:prstGeom prst="rect">
            <a:avLst/>
          </a:prstGeom>
          <a:solidFill>
            <a:srgbClr val="3B82F6"/>
          </a:solidFill>
          <a:ln/>
        </p:spPr>
      </p:sp>
      <p:sp>
        <p:nvSpPr>
          <p:cNvPr id="6" name="Shape 4"/>
          <p:cNvSpPr/>
          <p:nvPr/>
        </p:nvSpPr>
        <p:spPr>
          <a:xfrm>
            <a:off x="762000" y="863600"/>
            <a:ext cx="63500" cy="406400"/>
          </a:xfrm>
          <a:prstGeom prst="rect">
            <a:avLst/>
          </a:prstGeom>
          <a:solidFill>
            <a:srgbClr val="3B82F6"/>
          </a:solidFill>
          <a:ln/>
        </p:spPr>
      </p:sp>
      <p:sp>
        <p:nvSpPr>
          <p:cNvPr id="7" name="Text 5"/>
          <p:cNvSpPr/>
          <p:nvPr/>
        </p:nvSpPr>
        <p:spPr>
          <a:xfrm>
            <a:off x="990600" y="825500"/>
            <a:ext cx="10160000" cy="482600"/>
          </a:xfrm>
          <a:prstGeom prst="rect">
            <a:avLst/>
          </a:prstGeom>
          <a:noFill/>
          <a:ln/>
        </p:spPr>
        <p:txBody>
          <a:bodyPr wrap="none" lIns="0" tIns="0" rIns="0" bIns="0" rtlCol="0" anchor="ctr"/>
          <a:lstStyle/>
          <a:p>
            <a:pPr>
              <a:lnSpc>
                <a:spcPct val="130000"/>
              </a:lnSpc>
            </a:pPr>
            <a:r>
              <a:rPr lang="en-US" sz="2800" dirty="0">
                <a:solidFill>
                  <a:srgbClr val="1B3A5C"/>
                </a:solidFill>
                <a:latin typeface="Liter" pitchFamily="34" charset="0"/>
                <a:ea typeface="Liter" pitchFamily="34" charset="-122"/>
                <a:cs typeface="Liter" pitchFamily="34" charset="-120"/>
              </a:rPr>
              <a:t>2.5.1 Cấu trúc dữ liệu</a:t>
            </a:r>
            <a:endParaRPr lang="en-US" sz="2800" dirty="0"/>
          </a:p>
        </p:txBody>
      </p:sp>
      <p:sp>
        <p:nvSpPr>
          <p:cNvPr id="8" name="Shape 6"/>
          <p:cNvSpPr/>
          <p:nvPr/>
        </p:nvSpPr>
        <p:spPr>
          <a:xfrm>
            <a:off x="762000" y="1524000"/>
            <a:ext cx="7112000" cy="3937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9" name="Shape 7"/>
          <p:cNvSpPr/>
          <p:nvPr/>
        </p:nvSpPr>
        <p:spPr>
          <a:xfrm>
            <a:off x="762000" y="1524000"/>
            <a:ext cx="7112000" cy="571500"/>
          </a:xfrm>
          <a:prstGeom prst="roundRect">
            <a:avLst>
              <a:gd name="adj" fmla="val 6000"/>
            </a:avLst>
          </a:prstGeom>
          <a:solidFill>
            <a:srgbClr val="1B3A5C"/>
          </a:solidFill>
          <a:ln/>
        </p:spPr>
      </p:sp>
      <p:sp>
        <p:nvSpPr>
          <p:cNvPr id="10" name="Text 8"/>
          <p:cNvSpPr/>
          <p:nvPr/>
        </p:nvSpPr>
        <p:spPr>
          <a:xfrm>
            <a:off x="762000" y="1524000"/>
            <a:ext cx="7112000" cy="5715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Liter" pitchFamily="34" charset="0"/>
                <a:ea typeface="Liter" pitchFamily="34" charset="-122"/>
                <a:cs typeface="Liter" pitchFamily="34" charset="-120"/>
              </a:rPr>
              <a:t>Struct Campaign</a:t>
            </a:r>
            <a:endParaRPr lang="en-US" sz="1600" dirty="0"/>
          </a:p>
        </p:txBody>
      </p:sp>
      <p:sp>
        <p:nvSpPr>
          <p:cNvPr id="11" name="Text 9"/>
          <p:cNvSpPr/>
          <p:nvPr/>
        </p:nvSpPr>
        <p:spPr>
          <a:xfrm>
            <a:off x="1016000" y="2286000"/>
            <a:ext cx="6604000" cy="2984500"/>
          </a:xfrm>
          <a:prstGeom prst="rect">
            <a:avLst/>
          </a:prstGeom>
          <a:noFill/>
          <a:ln/>
        </p:spPr>
        <p:txBody>
          <a:bodyPr wrap="square" lIns="0" tIns="0" rIns="0" bIns="0" rtlCol="0" anchor="t"/>
          <a:lstStyle/>
          <a:p>
            <a:pPr>
              <a:lnSpc>
                <a:spcPct val="180000"/>
              </a:lnSpc>
            </a:pPr>
            <a:r>
              <a:rPr lang="en-US" sz="1600" b="1" dirty="0">
                <a:solidFill>
                  <a:srgbClr val="3B82F6"/>
                </a:solidFill>
                <a:latin typeface="Quattrocento Sans" pitchFamily="34" charset="0"/>
                <a:ea typeface="Quattrocento Sans" pitchFamily="34" charset="-122"/>
                <a:cs typeface="Quattrocento Sans" pitchFamily="34" charset="-120"/>
              </a:rPr>
              <a:t>creator</a:t>
            </a:r>
            <a:r>
              <a:rPr lang="en-US" sz="1600" dirty="0">
                <a:solidFill>
                  <a:srgbClr val="1E293B"/>
                </a:solidFill>
                <a:latin typeface="Quattrocento Sans" pitchFamily="34" charset="0"/>
                <a:ea typeface="Quattrocento Sans" pitchFamily="34" charset="-122"/>
                <a:cs typeface="Quattrocento Sans" pitchFamily="34" charset="-120"/>
              </a:rPr>
              <a:t> → địa chỉ ví ngườii tạo chiến dịch</a:t>
            </a:r>
            <a:endParaRPr lang="en-US" sz="1600" dirty="0"/>
          </a:p>
          <a:p>
            <a:pPr>
              <a:lnSpc>
                <a:spcPct val="180000"/>
              </a:lnSpc>
            </a:pPr>
            <a:r>
              <a:rPr lang="en-US" sz="1600" b="1" dirty="0">
                <a:solidFill>
                  <a:srgbClr val="3B82F6"/>
                </a:solidFill>
                <a:latin typeface="Quattrocento Sans" pitchFamily="34" charset="0"/>
                <a:ea typeface="Quattrocento Sans" pitchFamily="34" charset="-122"/>
                <a:cs typeface="Quattrocento Sans" pitchFamily="34" charset="-120"/>
              </a:rPr>
              <a:t>name</a:t>
            </a:r>
            <a:r>
              <a:rPr lang="en-US" sz="1600" dirty="0">
                <a:solidFill>
                  <a:srgbClr val="1E293B"/>
                </a:solidFill>
                <a:latin typeface="Quattrocento Sans" pitchFamily="34" charset="0"/>
                <a:ea typeface="Quattrocento Sans" pitchFamily="34" charset="-122"/>
                <a:cs typeface="Quattrocento Sans" pitchFamily="34" charset="-120"/>
              </a:rPr>
              <a:t> → tên chiến dịch (≤ 32 ký tự)</a:t>
            </a:r>
            <a:endParaRPr lang="en-US" sz="1600" dirty="0"/>
          </a:p>
          <a:p>
            <a:pPr>
              <a:lnSpc>
                <a:spcPct val="180000"/>
              </a:lnSpc>
            </a:pPr>
            <a:r>
              <a:rPr lang="en-US" sz="1600" b="1" dirty="0">
                <a:solidFill>
                  <a:srgbClr val="3B82F6"/>
                </a:solidFill>
                <a:latin typeface="Quattrocento Sans" pitchFamily="34" charset="0"/>
                <a:ea typeface="Quattrocento Sans" pitchFamily="34" charset="-122"/>
                <a:cs typeface="Quattrocento Sans" pitchFamily="34" charset="-120"/>
              </a:rPr>
              <a:t>goal</a:t>
            </a:r>
            <a:r>
              <a:rPr lang="en-US" sz="1600" dirty="0">
                <a:solidFill>
                  <a:srgbClr val="1E293B"/>
                </a:solidFill>
                <a:latin typeface="Quattrocento Sans" pitchFamily="34" charset="0"/>
                <a:ea typeface="Quattrocento Sans" pitchFamily="34" charset="-122"/>
                <a:cs typeface="Quattrocento Sans" pitchFamily="34" charset="-120"/>
              </a:rPr>
              <a:t> → mục tiêu gây quỹ (ETH)</a:t>
            </a:r>
            <a:endParaRPr lang="en-US" sz="1600" dirty="0"/>
          </a:p>
          <a:p>
            <a:pPr>
              <a:lnSpc>
                <a:spcPct val="180000"/>
              </a:lnSpc>
            </a:pPr>
            <a:r>
              <a:rPr lang="en-US" sz="1600" b="1" dirty="0">
                <a:solidFill>
                  <a:srgbClr val="3B82F6"/>
                </a:solidFill>
                <a:latin typeface="Quattrocento Sans" pitchFamily="34" charset="0"/>
                <a:ea typeface="Quattrocento Sans" pitchFamily="34" charset="-122"/>
                <a:cs typeface="Quattrocento Sans" pitchFamily="34" charset="-120"/>
              </a:rPr>
              <a:t>pledged</a:t>
            </a:r>
            <a:r>
              <a:rPr lang="en-US" sz="1600" dirty="0">
                <a:solidFill>
                  <a:srgbClr val="1E293B"/>
                </a:solidFill>
                <a:latin typeface="Quattrocento Sans" pitchFamily="34" charset="0"/>
                <a:ea typeface="Quattrocento Sans" pitchFamily="34" charset="-122"/>
                <a:cs typeface="Quattrocento Sans" pitchFamily="34" charset="-120"/>
              </a:rPr>
              <a:t> → tổng số tiền đã được đóng góp</a:t>
            </a:r>
            <a:endParaRPr lang="en-US" sz="1600" dirty="0"/>
          </a:p>
          <a:p>
            <a:pPr>
              <a:lnSpc>
                <a:spcPct val="180000"/>
              </a:lnSpc>
            </a:pPr>
            <a:r>
              <a:rPr lang="en-US" sz="1600" b="1" dirty="0">
                <a:solidFill>
                  <a:srgbClr val="3B82F6"/>
                </a:solidFill>
                <a:latin typeface="Quattrocento Sans" pitchFamily="34" charset="0"/>
                <a:ea typeface="Quattrocento Sans" pitchFamily="34" charset="-122"/>
                <a:cs typeface="Quattrocento Sans" pitchFamily="34" charset="-120"/>
              </a:rPr>
              <a:t>deadline</a:t>
            </a:r>
            <a:r>
              <a:rPr lang="en-US" sz="1600" dirty="0">
                <a:solidFill>
                  <a:srgbClr val="1E293B"/>
                </a:solidFill>
                <a:latin typeface="Quattrocento Sans" pitchFamily="34" charset="0"/>
                <a:ea typeface="Quattrocento Sans" pitchFamily="34" charset="-122"/>
                <a:cs typeface="Quattrocento Sans" pitchFamily="34" charset="-120"/>
              </a:rPr>
              <a:t> → </a:t>
            </a:r>
            <a:r>
              <a:rPr lang="en-US" sz="1600" dirty="0" err="1">
                <a:solidFill>
                  <a:srgbClr val="1E293B"/>
                </a:solidFill>
                <a:latin typeface="Quattrocento Sans" pitchFamily="34" charset="0"/>
                <a:ea typeface="Quattrocento Sans" pitchFamily="34" charset="-122"/>
                <a:cs typeface="Quattrocento Sans" pitchFamily="34" charset="-120"/>
              </a:rPr>
              <a:t>thời</a:t>
            </a:r>
            <a:r>
              <a:rPr lang="en-US" sz="1600" dirty="0">
                <a:solidFill>
                  <a:srgbClr val="1E293B"/>
                </a:solidFill>
                <a:latin typeface="Quattrocento Sans" pitchFamily="34" charset="0"/>
                <a:ea typeface="Quattrocento Sans" pitchFamily="34" charset="-122"/>
                <a:cs typeface="Quattrocento Sans" pitchFamily="34" charset="-120"/>
              </a:rPr>
              <a:t> điểm kết thúc (timestamp)</a:t>
            </a:r>
            <a:endParaRPr lang="en-US" sz="1600" dirty="0"/>
          </a:p>
          <a:p>
            <a:pPr>
              <a:lnSpc>
                <a:spcPct val="180000"/>
              </a:lnSpc>
            </a:pPr>
            <a:r>
              <a:rPr lang="en-US" sz="1600" b="1" dirty="0">
                <a:solidFill>
                  <a:srgbClr val="3B82F6"/>
                </a:solidFill>
                <a:latin typeface="Quattrocento Sans" pitchFamily="34" charset="0"/>
                <a:ea typeface="Quattrocento Sans" pitchFamily="34" charset="-122"/>
                <a:cs typeface="Quattrocento Sans" pitchFamily="34" charset="-120"/>
              </a:rPr>
              <a:t>claimed</a:t>
            </a:r>
            <a:r>
              <a:rPr lang="en-US" sz="1600" dirty="0">
                <a:solidFill>
                  <a:srgbClr val="1E293B"/>
                </a:solidFill>
                <a:latin typeface="Quattrocento Sans" pitchFamily="34" charset="0"/>
                <a:ea typeface="Quattrocento Sans" pitchFamily="34" charset="-122"/>
                <a:cs typeface="Quattrocento Sans" pitchFamily="34" charset="-120"/>
              </a:rPr>
              <a:t> → trạng thái đã rút tiền hay chưa</a:t>
            </a:r>
            <a:endParaRPr lang="en-US" sz="1600" dirty="0"/>
          </a:p>
        </p:txBody>
      </p:sp>
      <p:sp>
        <p:nvSpPr>
          <p:cNvPr id="12" name="Shape 10"/>
          <p:cNvSpPr/>
          <p:nvPr/>
        </p:nvSpPr>
        <p:spPr>
          <a:xfrm>
            <a:off x="8382000" y="1524000"/>
            <a:ext cx="7112000" cy="3937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13" name="Shape 11"/>
          <p:cNvSpPr/>
          <p:nvPr/>
        </p:nvSpPr>
        <p:spPr>
          <a:xfrm>
            <a:off x="8382000" y="1524000"/>
            <a:ext cx="7112000" cy="571500"/>
          </a:xfrm>
          <a:prstGeom prst="roundRect">
            <a:avLst>
              <a:gd name="adj" fmla="val 6000"/>
            </a:avLst>
          </a:prstGeom>
          <a:solidFill>
            <a:srgbClr val="3B82F6"/>
          </a:solidFill>
          <a:ln/>
        </p:spPr>
      </p:sp>
      <p:sp>
        <p:nvSpPr>
          <p:cNvPr id="14" name="Text 12"/>
          <p:cNvSpPr/>
          <p:nvPr/>
        </p:nvSpPr>
        <p:spPr>
          <a:xfrm>
            <a:off x="8382000" y="1524000"/>
            <a:ext cx="7112000" cy="5715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Liter" pitchFamily="34" charset="0"/>
                <a:ea typeface="Liter" pitchFamily="34" charset="-122"/>
                <a:cs typeface="Liter" pitchFamily="34" charset="-120"/>
              </a:rPr>
              <a:t>Mapping &amp; Biến đếm</a:t>
            </a:r>
            <a:endParaRPr lang="en-US" sz="1600" dirty="0"/>
          </a:p>
        </p:txBody>
      </p:sp>
      <p:sp>
        <p:nvSpPr>
          <p:cNvPr id="15" name="Text 13"/>
          <p:cNvSpPr/>
          <p:nvPr/>
        </p:nvSpPr>
        <p:spPr>
          <a:xfrm>
            <a:off x="8636000" y="2286000"/>
            <a:ext cx="6604000" cy="2984500"/>
          </a:xfrm>
          <a:prstGeom prst="rect">
            <a:avLst/>
          </a:prstGeom>
          <a:noFill/>
          <a:ln/>
        </p:spPr>
        <p:txBody>
          <a:bodyPr wrap="square" lIns="0" tIns="0" rIns="0" bIns="0" rtlCol="0" anchor="t"/>
          <a:lstStyle/>
          <a:p>
            <a:pPr>
              <a:lnSpc>
                <a:spcPct val="180000"/>
              </a:lnSpc>
            </a:pPr>
            <a:r>
              <a:rPr lang="en-US" sz="1600" b="1" dirty="0">
                <a:solidFill>
                  <a:srgbClr val="1B3A5C"/>
                </a:solidFill>
                <a:latin typeface="Quattrocento Sans" pitchFamily="34" charset="0"/>
                <a:ea typeface="Quattrocento Sans" pitchFamily="34" charset="-122"/>
                <a:cs typeface="Quattrocento Sans" pitchFamily="34" charset="-120"/>
              </a:rPr>
              <a:t>campaigns[id]</a:t>
            </a:r>
            <a:endParaRPr lang="en-US" sz="1600" dirty="0"/>
          </a:p>
          <a:p>
            <a:pPr>
              <a:lnSpc>
                <a:spcPct val="180000"/>
              </a:lnSpc>
            </a:pPr>
            <a:r>
              <a:rPr lang="en-US" sz="1600" dirty="0">
                <a:solidFill>
                  <a:srgbClr val="1E293B"/>
                </a:solidFill>
                <a:latin typeface="Quattrocento Sans" pitchFamily="34" charset="0"/>
                <a:ea typeface="Quattrocento Sans" pitchFamily="34" charset="-122"/>
                <a:cs typeface="Quattrocento Sans" pitchFamily="34" charset="-120"/>
              </a:rPr>
              <a:t>Lưu thông tin chiến dịch theo ID</a:t>
            </a:r>
            <a:endParaRPr lang="en-US" sz="1600" dirty="0"/>
          </a:p>
          <a:p>
            <a:pPr>
              <a:lnSpc>
                <a:spcPct val="180000"/>
              </a:lnSpc>
              <a:spcBef>
                <a:spcPts val="800"/>
              </a:spcBef>
            </a:pPr>
            <a:r>
              <a:rPr lang="en-US" sz="1600" b="1" dirty="0">
                <a:solidFill>
                  <a:srgbClr val="1B3A5C"/>
                </a:solidFill>
                <a:latin typeface="Quattrocento Sans" pitchFamily="34" charset="0"/>
                <a:ea typeface="Quattrocento Sans" pitchFamily="34" charset="-122"/>
                <a:cs typeface="Quattrocento Sans" pitchFamily="34" charset="-120"/>
              </a:rPr>
              <a:t>pledgedAmount[user][campaignId]</a:t>
            </a:r>
            <a:endParaRPr lang="en-US" sz="1600" dirty="0"/>
          </a:p>
          <a:p>
            <a:pPr>
              <a:lnSpc>
                <a:spcPct val="180000"/>
              </a:lnSpc>
            </a:pPr>
            <a:r>
              <a:rPr lang="en-US" sz="1600" dirty="0">
                <a:solidFill>
                  <a:srgbClr val="1E293B"/>
                </a:solidFill>
                <a:latin typeface="Quattrocento Sans" pitchFamily="34" charset="0"/>
                <a:ea typeface="Quattrocento Sans" pitchFamily="34" charset="-122"/>
                <a:cs typeface="Quattrocento Sans" pitchFamily="34" charset="-120"/>
              </a:rPr>
              <a:t>Lưu số tiền mỗi ngườii đã đóng góp</a:t>
            </a:r>
            <a:endParaRPr lang="en-US" sz="1600" dirty="0"/>
          </a:p>
          <a:p>
            <a:pPr>
              <a:lnSpc>
                <a:spcPct val="180000"/>
              </a:lnSpc>
              <a:spcBef>
                <a:spcPts val="800"/>
              </a:spcBef>
            </a:pPr>
            <a:r>
              <a:rPr lang="en-US" sz="1600" b="1" dirty="0">
                <a:solidFill>
                  <a:srgbClr val="1B3A5C"/>
                </a:solidFill>
                <a:latin typeface="Quattrocento Sans" pitchFamily="34" charset="0"/>
                <a:ea typeface="Quattrocento Sans" pitchFamily="34" charset="-122"/>
                <a:cs typeface="Quattrocento Sans" pitchFamily="34" charset="-120"/>
              </a:rPr>
              <a:t>count</a:t>
            </a:r>
            <a:endParaRPr lang="en-US" sz="1600" dirty="0"/>
          </a:p>
          <a:p>
            <a:pPr>
              <a:lnSpc>
                <a:spcPct val="180000"/>
              </a:lnSpc>
            </a:pPr>
            <a:r>
              <a:rPr lang="en-US" sz="1600" dirty="0">
                <a:solidFill>
                  <a:srgbClr val="1E293B"/>
                </a:solidFill>
                <a:latin typeface="Quattrocento Sans" pitchFamily="34" charset="0"/>
                <a:ea typeface="Quattrocento Sans" pitchFamily="34" charset="-122"/>
                <a:cs typeface="Quattrocento Sans" pitchFamily="34" charset="-120"/>
              </a:rPr>
              <a:t>Tổng số chiến dịch đã được tạo</a:t>
            </a:r>
            <a:endParaRPr lang="en-US" sz="1600" dirty="0"/>
          </a:p>
        </p:txBody>
      </p:sp>
      <p:sp>
        <p:nvSpPr>
          <p:cNvPr id="16" name="Shape 14"/>
          <p:cNvSpPr/>
          <p:nvPr/>
        </p:nvSpPr>
        <p:spPr>
          <a:xfrm>
            <a:off x="762000" y="5842000"/>
            <a:ext cx="14732000" cy="1143000"/>
          </a:xfrm>
          <a:prstGeom prst="roundRect">
            <a:avLst>
              <a:gd name="adj" fmla="val 6000"/>
            </a:avLst>
          </a:prstGeom>
          <a:solidFill>
            <a:srgbClr val="3B82F6">
              <a:alpha val="5098"/>
            </a:srgbClr>
          </a:solidFill>
          <a:ln w="12700">
            <a:solidFill>
              <a:srgbClr val="3B82F6">
                <a:alpha val="12549"/>
              </a:srgbClr>
            </a:solidFill>
            <a:prstDash val="solid"/>
          </a:ln>
        </p:spPr>
      </p:sp>
      <p:sp>
        <p:nvSpPr>
          <p:cNvPr id="17" name="Shape 15"/>
          <p:cNvSpPr/>
          <p:nvPr/>
        </p:nvSpPr>
        <p:spPr>
          <a:xfrm>
            <a:off x="1079500" y="61595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155575" y="111125"/>
                </a:moveTo>
                <a:cubicBezTo>
                  <a:pt x="155575" y="98859"/>
                  <a:pt x="165534" y="88900"/>
                  <a:pt x="177800" y="88900"/>
                </a:cubicBezTo>
                <a:cubicBezTo>
                  <a:pt x="190066" y="88900"/>
                  <a:pt x="200025" y="98859"/>
                  <a:pt x="200025" y="111125"/>
                </a:cubicBezTo>
                <a:cubicBezTo>
                  <a:pt x="200025" y="123391"/>
                  <a:pt x="190066" y="133350"/>
                  <a:pt x="177800" y="133350"/>
                </a:cubicBezTo>
                <a:cubicBezTo>
                  <a:pt x="165534" y="133350"/>
                  <a:pt x="155575" y="123391"/>
                  <a:pt x="155575" y="111125"/>
                </a:cubicBezTo>
                <a:close/>
                <a:moveTo>
                  <a:pt x="150019" y="155575"/>
                </a:moveTo>
                <a:lnTo>
                  <a:pt x="183356" y="155575"/>
                </a:lnTo>
                <a:cubicBezTo>
                  <a:pt x="192594" y="155575"/>
                  <a:pt x="200025" y="163006"/>
                  <a:pt x="200025" y="172244"/>
                </a:cubicBezTo>
                <a:lnTo>
                  <a:pt x="200025" y="233363"/>
                </a:lnTo>
                <a:lnTo>
                  <a:pt x="205581" y="233363"/>
                </a:lnTo>
                <a:cubicBezTo>
                  <a:pt x="214819" y="233363"/>
                  <a:pt x="222250" y="240794"/>
                  <a:pt x="222250" y="250031"/>
                </a:cubicBezTo>
                <a:cubicBezTo>
                  <a:pt x="222250" y="259269"/>
                  <a:pt x="214819" y="266700"/>
                  <a:pt x="205581" y="266700"/>
                </a:cubicBezTo>
                <a:lnTo>
                  <a:pt x="150019" y="266700"/>
                </a:lnTo>
                <a:cubicBezTo>
                  <a:pt x="140781" y="266700"/>
                  <a:pt x="133350" y="259269"/>
                  <a:pt x="133350" y="250031"/>
                </a:cubicBezTo>
                <a:cubicBezTo>
                  <a:pt x="133350" y="240794"/>
                  <a:pt x="140781" y="233363"/>
                  <a:pt x="150019" y="233363"/>
                </a:cubicBezTo>
                <a:lnTo>
                  <a:pt x="166688" y="233363"/>
                </a:lnTo>
                <a:lnTo>
                  <a:pt x="166688" y="188913"/>
                </a:lnTo>
                <a:lnTo>
                  <a:pt x="150019" y="188913"/>
                </a:lnTo>
                <a:cubicBezTo>
                  <a:pt x="140781" y="188913"/>
                  <a:pt x="133350" y="181481"/>
                  <a:pt x="133350" y="172244"/>
                </a:cubicBezTo>
                <a:cubicBezTo>
                  <a:pt x="133350" y="163006"/>
                  <a:pt x="140781" y="155575"/>
                  <a:pt x="150019" y="155575"/>
                </a:cubicBezTo>
                <a:close/>
              </a:path>
            </a:pathLst>
          </a:custGeom>
          <a:solidFill>
            <a:srgbClr val="3B82F6"/>
          </a:solidFill>
          <a:ln/>
        </p:spPr>
      </p:sp>
      <p:sp>
        <p:nvSpPr>
          <p:cNvPr id="18" name="Text 16"/>
          <p:cNvSpPr/>
          <p:nvPr/>
        </p:nvSpPr>
        <p:spPr>
          <a:xfrm>
            <a:off x="1587500" y="5994400"/>
            <a:ext cx="13589000" cy="825500"/>
          </a:xfrm>
          <a:prstGeom prst="rect">
            <a:avLst/>
          </a:prstGeom>
          <a:noFill/>
          <a:ln/>
        </p:spPr>
        <p:txBody>
          <a:bodyPr wrap="square" lIns="0" tIns="0" rIns="0" bIns="0" rtlCol="0" anchor="ctr"/>
          <a:lstStyle/>
          <a:p>
            <a:pPr>
              <a:lnSpc>
                <a:spcPct val="160000"/>
              </a:lnSpc>
            </a:pPr>
            <a:r>
              <a:rPr lang="en-US" sz="1600" b="1" dirty="0">
                <a:solidFill>
                  <a:srgbClr val="1E293B"/>
                </a:solidFill>
                <a:latin typeface="Quattrocento Sans" pitchFamily="34" charset="0"/>
                <a:ea typeface="Quattrocento Sans" pitchFamily="34" charset="-122"/>
                <a:cs typeface="Quattrocento Sans" pitchFamily="34" charset="-120"/>
              </a:rPr>
              <a:t>Ý nghĩa thiết kế:</a:t>
            </a:r>
            <a:r>
              <a:rPr lang="en-US" sz="1600" dirty="0">
                <a:solidFill>
                  <a:srgbClr val="1E293B"/>
                </a:solidFill>
                <a:latin typeface="Quattrocento Sans" pitchFamily="34" charset="0"/>
                <a:ea typeface="Quattrocento Sans" pitchFamily="34" charset="-122"/>
                <a:cs typeface="Quattrocento Sans" pitchFamily="34" charset="-120"/>
              </a:rPr>
              <a:t> Việc sử dụng struct và mapping giúp lưu trữ dữ liệu một cách hiệu quả trên Blockchain, đảm bảo truy xuất nhanh và rõ ràng.</a:t>
            </a:r>
            <a:endParaRPr lang="en-US" sz="1600" dirty="0"/>
          </a:p>
        </p:txBody>
      </p:sp>
      <p:sp>
        <p:nvSpPr>
          <p:cNvPr id="19" name="Text 17"/>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400" dirty="0">
                <a:solidFill>
                  <a:srgbClr val="64748B"/>
                </a:solidFill>
                <a:latin typeface="QuattrocentoSans" pitchFamily="34" charset="0"/>
                <a:ea typeface="QuattrocentoSans" pitchFamily="34" charset="-122"/>
                <a:cs typeface="QuattrocentoSans" pitchFamily="34" charset="-120"/>
              </a:rPr>
              <a:t>12</a:t>
            </a:r>
            <a:endParaRPr lang="en-US" sz="14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B3A5C"/>
          </a:solidFill>
          <a:ln/>
        </p:spPr>
      </p:sp>
      <p:sp>
        <p:nvSpPr>
          <p:cNvPr id="3" name="Text 1"/>
          <p:cNvSpPr/>
          <p:nvPr/>
        </p:nvSpPr>
        <p:spPr>
          <a:xfrm>
            <a:off x="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FFFFFF"/>
                </a:solidFill>
                <a:latin typeface="Liter" pitchFamily="34" charset="0"/>
                <a:ea typeface="Liter" pitchFamily="34" charset="-122"/>
                <a:cs typeface="Liter" pitchFamily="34" charset="-120"/>
              </a:rPr>
              <a:t>PHÂN TÍCH VÀ THIẾT KẾ</a:t>
            </a:r>
            <a:endParaRPr lang="en-US" sz="1300" dirty="0"/>
          </a:p>
        </p:txBody>
      </p:sp>
      <p:sp>
        <p:nvSpPr>
          <p:cNvPr id="4" name="Text 2"/>
          <p:cNvSpPr/>
          <p:nvPr/>
        </p:nvSpPr>
        <p:spPr>
          <a:xfrm>
            <a:off x="812800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94A3B8"/>
                </a:solidFill>
                <a:latin typeface="Liter" pitchFamily="34" charset="0"/>
                <a:ea typeface="Liter" pitchFamily="34" charset="-122"/>
                <a:cs typeface="Liter" pitchFamily="34" charset="-120"/>
              </a:rPr>
              <a:t>XÂY DỰNG VÀ TRIỂN KHAI</a:t>
            </a:r>
            <a:endParaRPr lang="en-US" sz="1300" dirty="0"/>
          </a:p>
        </p:txBody>
      </p:sp>
      <p:sp>
        <p:nvSpPr>
          <p:cNvPr id="5" name="Shape 3"/>
          <p:cNvSpPr/>
          <p:nvPr/>
        </p:nvSpPr>
        <p:spPr>
          <a:xfrm>
            <a:off x="0" y="558800"/>
            <a:ext cx="8128000" cy="50800"/>
          </a:xfrm>
          <a:prstGeom prst="rect">
            <a:avLst/>
          </a:prstGeom>
          <a:solidFill>
            <a:srgbClr val="3B82F6"/>
          </a:solidFill>
          <a:ln/>
        </p:spPr>
      </p:sp>
      <p:sp>
        <p:nvSpPr>
          <p:cNvPr id="6" name="Shape 4"/>
          <p:cNvSpPr/>
          <p:nvPr/>
        </p:nvSpPr>
        <p:spPr>
          <a:xfrm>
            <a:off x="762000" y="863600"/>
            <a:ext cx="63500" cy="406400"/>
          </a:xfrm>
          <a:prstGeom prst="rect">
            <a:avLst/>
          </a:prstGeom>
          <a:solidFill>
            <a:srgbClr val="3B82F6"/>
          </a:solidFill>
          <a:ln/>
        </p:spPr>
      </p:sp>
      <p:sp>
        <p:nvSpPr>
          <p:cNvPr id="7" name="Text 5"/>
          <p:cNvSpPr/>
          <p:nvPr/>
        </p:nvSpPr>
        <p:spPr>
          <a:xfrm>
            <a:off x="990600" y="825500"/>
            <a:ext cx="10160000" cy="482600"/>
          </a:xfrm>
          <a:prstGeom prst="rect">
            <a:avLst/>
          </a:prstGeom>
          <a:noFill/>
          <a:ln/>
        </p:spPr>
        <p:txBody>
          <a:bodyPr wrap="none" lIns="0" tIns="0" rIns="0" bIns="0" rtlCol="0" anchor="ctr"/>
          <a:lstStyle/>
          <a:p>
            <a:pPr>
              <a:lnSpc>
                <a:spcPct val="130000"/>
              </a:lnSpc>
            </a:pPr>
            <a:r>
              <a:rPr lang="en-US" sz="2800" dirty="0">
                <a:solidFill>
                  <a:srgbClr val="1B3A5C"/>
                </a:solidFill>
                <a:latin typeface="Liter" pitchFamily="34" charset="0"/>
                <a:ea typeface="Liter" pitchFamily="34" charset="-122"/>
                <a:cs typeface="Liter" pitchFamily="34" charset="-120"/>
              </a:rPr>
              <a:t>2.5.2 Xử lý lỗi và kiểm tra dữ liệu</a:t>
            </a:r>
            <a:endParaRPr lang="en-US" sz="2800" dirty="0"/>
          </a:p>
        </p:txBody>
      </p:sp>
      <p:sp>
        <p:nvSpPr>
          <p:cNvPr id="8" name="Shape 6"/>
          <p:cNvSpPr/>
          <p:nvPr/>
        </p:nvSpPr>
        <p:spPr>
          <a:xfrm>
            <a:off x="762000" y="1524000"/>
            <a:ext cx="7175500" cy="6731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9" name="Text 7"/>
          <p:cNvSpPr/>
          <p:nvPr/>
        </p:nvSpPr>
        <p:spPr>
          <a:xfrm>
            <a:off x="1016000" y="1714500"/>
            <a:ext cx="6667500" cy="381000"/>
          </a:xfrm>
          <a:prstGeom prst="rect">
            <a:avLst/>
          </a:prstGeom>
          <a:noFill/>
          <a:ln/>
        </p:spPr>
        <p:txBody>
          <a:bodyPr wrap="none" lIns="0" tIns="0" rIns="0" bIns="0" rtlCol="0" anchor="ctr"/>
          <a:lstStyle/>
          <a:p>
            <a:pPr>
              <a:lnSpc>
                <a:spcPct val="100000"/>
              </a:lnSpc>
            </a:pPr>
            <a:r>
              <a:rPr lang="en-US" sz="1800" b="1" dirty="0">
                <a:solidFill>
                  <a:srgbClr val="1B3A5C"/>
                </a:solidFill>
                <a:latin typeface="Liter" pitchFamily="34" charset="0"/>
                <a:ea typeface="Liter" pitchFamily="34" charset="-122"/>
                <a:cs typeface="Liter" pitchFamily="34" charset="-120"/>
              </a:rPr>
              <a:t>Ràng buộc tạo chiến dịch</a:t>
            </a:r>
            <a:endParaRPr lang="en-US" sz="1600" dirty="0"/>
          </a:p>
        </p:txBody>
      </p:sp>
      <p:sp>
        <p:nvSpPr>
          <p:cNvPr id="10" name="Shape 8"/>
          <p:cNvSpPr/>
          <p:nvPr/>
        </p:nvSpPr>
        <p:spPr>
          <a:xfrm>
            <a:off x="1016000" y="2184400"/>
            <a:ext cx="6667500" cy="12700"/>
          </a:xfrm>
          <a:prstGeom prst="rect">
            <a:avLst/>
          </a:prstGeom>
          <a:solidFill>
            <a:srgbClr val="E2E8F0"/>
          </a:solidFill>
          <a:ln/>
        </p:spPr>
      </p:sp>
      <p:sp>
        <p:nvSpPr>
          <p:cNvPr id="11" name="Text 9"/>
          <p:cNvSpPr/>
          <p:nvPr/>
        </p:nvSpPr>
        <p:spPr>
          <a:xfrm>
            <a:off x="1016000" y="2349500"/>
            <a:ext cx="6667500" cy="5651500"/>
          </a:xfrm>
          <a:prstGeom prst="rect">
            <a:avLst/>
          </a:prstGeom>
          <a:noFill/>
          <a:ln/>
        </p:spPr>
        <p:txBody>
          <a:bodyPr wrap="square" lIns="0" tIns="0" rIns="0" bIns="0" rtlCol="0" anchor="t"/>
          <a:lstStyle/>
          <a:p>
            <a:pPr>
              <a:lnSpc>
                <a:spcPct val="180000"/>
              </a:lnSpc>
            </a:pPr>
            <a:r>
              <a:rPr lang="en-US" sz="1600" dirty="0">
                <a:solidFill>
                  <a:srgbClr val="3B82F6"/>
                </a:solidFill>
                <a:latin typeface="Quattrocento Sans" pitchFamily="34" charset="0"/>
                <a:ea typeface="Quattrocento Sans" pitchFamily="34" charset="-122"/>
                <a:cs typeface="Quattrocento Sans" pitchFamily="34" charset="-120"/>
              </a:rPr>
              <a:t>●</a:t>
            </a:r>
            <a:r>
              <a:rPr lang="en-US" sz="1600" dirty="0">
                <a:solidFill>
                  <a:srgbClr val="1E293B"/>
                </a:solidFill>
                <a:latin typeface="Quattrocento Sans" pitchFamily="34" charset="0"/>
                <a:ea typeface="Quattrocento Sans" pitchFamily="34" charset="-122"/>
                <a:cs typeface="Quattrocento Sans" pitchFamily="34" charset="-120"/>
              </a:rPr>
              <a:t> Không cho phép tên chiến dịch </a:t>
            </a:r>
            <a:r>
              <a:rPr lang="en-US" sz="1600" b="1" dirty="0">
                <a:solidFill>
                  <a:srgbClr val="1E293B"/>
                </a:solidFill>
                <a:latin typeface="Quattrocento Sans" pitchFamily="34" charset="0"/>
                <a:ea typeface="Quattrocento Sans" pitchFamily="34" charset="-122"/>
                <a:cs typeface="Quattrocento Sans" pitchFamily="34" charset="-120"/>
              </a:rPr>
              <a:t>rỗng</a:t>
            </a:r>
            <a:endParaRPr lang="en-US" sz="1600" dirty="0"/>
          </a:p>
          <a:p>
            <a:pPr>
              <a:lnSpc>
                <a:spcPct val="180000"/>
              </a:lnSpc>
            </a:pPr>
            <a:r>
              <a:rPr lang="en-US" sz="1600" dirty="0">
                <a:solidFill>
                  <a:srgbClr val="3B82F6"/>
                </a:solidFill>
                <a:latin typeface="Quattrocento Sans" pitchFamily="34" charset="0"/>
                <a:ea typeface="Quattrocento Sans" pitchFamily="34" charset="-122"/>
                <a:cs typeface="Quattrocento Sans" pitchFamily="34" charset="-120"/>
              </a:rPr>
              <a:t>●</a:t>
            </a:r>
            <a:r>
              <a:rPr lang="en-US" sz="1600" dirty="0">
                <a:solidFill>
                  <a:srgbClr val="1E293B"/>
                </a:solidFill>
                <a:latin typeface="Quattrocento Sans" pitchFamily="34" charset="0"/>
                <a:ea typeface="Quattrocento Sans" pitchFamily="34" charset="-122"/>
                <a:cs typeface="Quattrocento Sans" pitchFamily="34" charset="-120"/>
              </a:rPr>
              <a:t> Tên chiến dịch không vượt quá </a:t>
            </a:r>
            <a:r>
              <a:rPr lang="en-US" sz="1600" b="1" dirty="0">
                <a:solidFill>
                  <a:srgbClr val="1E293B"/>
                </a:solidFill>
                <a:latin typeface="Quattrocento Sans" pitchFamily="34" charset="0"/>
                <a:ea typeface="Quattrocento Sans" pitchFamily="34" charset="-122"/>
                <a:cs typeface="Quattrocento Sans" pitchFamily="34" charset="-120"/>
              </a:rPr>
              <a:t>32 ký tự</a:t>
            </a:r>
            <a:endParaRPr lang="en-US" sz="1600" dirty="0"/>
          </a:p>
          <a:p>
            <a:pPr>
              <a:lnSpc>
                <a:spcPct val="180000"/>
              </a:lnSpc>
            </a:pPr>
            <a:r>
              <a:rPr lang="en-US" sz="1600" dirty="0">
                <a:solidFill>
                  <a:srgbClr val="3B82F6"/>
                </a:solidFill>
                <a:latin typeface="Quattrocento Sans" pitchFamily="34" charset="0"/>
                <a:ea typeface="Quattrocento Sans" pitchFamily="34" charset="-122"/>
                <a:cs typeface="Quattrocento Sans" pitchFamily="34" charset="-120"/>
              </a:rPr>
              <a:t>●</a:t>
            </a:r>
            <a:r>
              <a:rPr lang="en-US" sz="1600" dirty="0">
                <a:solidFill>
                  <a:srgbClr val="1E293B"/>
                </a:solidFill>
                <a:latin typeface="Quattrocento Sans" pitchFamily="34" charset="0"/>
                <a:ea typeface="Quattrocento Sans" pitchFamily="34" charset="-122"/>
                <a:cs typeface="Quattrocento Sans" pitchFamily="34" charset="-120"/>
              </a:rPr>
              <a:t> </a:t>
            </a:r>
            <a:r>
              <a:rPr lang="en-US" sz="1600" dirty="0" err="1">
                <a:solidFill>
                  <a:srgbClr val="1E293B"/>
                </a:solidFill>
                <a:latin typeface="Quattrocento Sans" pitchFamily="34" charset="0"/>
                <a:ea typeface="Quattrocento Sans" pitchFamily="34" charset="-122"/>
                <a:cs typeface="Quattrocento Sans" pitchFamily="34" charset="-120"/>
              </a:rPr>
              <a:t>Mỗi</a:t>
            </a:r>
            <a:r>
              <a:rPr lang="en-US" sz="1600" dirty="0">
                <a:solidFill>
                  <a:srgbClr val="1E293B"/>
                </a:solidFill>
                <a:latin typeface="Quattrocento Sans" pitchFamily="34" charset="0"/>
                <a:ea typeface="Quattrocento Sans" pitchFamily="34" charset="-122"/>
                <a:cs typeface="Quattrocento Sans" pitchFamily="34" charset="-120"/>
              </a:rPr>
              <a:t> </a:t>
            </a:r>
            <a:r>
              <a:rPr lang="en-US" sz="1600" dirty="0" err="1">
                <a:solidFill>
                  <a:srgbClr val="1E293B"/>
                </a:solidFill>
                <a:latin typeface="Quattrocento Sans" pitchFamily="34" charset="0"/>
                <a:ea typeface="Quattrocento Sans" pitchFamily="34" charset="-122"/>
                <a:cs typeface="Quattrocento Sans" pitchFamily="34" charset="-120"/>
              </a:rPr>
              <a:t>người</a:t>
            </a:r>
            <a:r>
              <a:rPr lang="en-US" sz="1600" dirty="0">
                <a:solidFill>
                  <a:srgbClr val="1E293B"/>
                </a:solidFill>
                <a:latin typeface="Quattrocento Sans" pitchFamily="34" charset="0"/>
                <a:ea typeface="Quattrocento Sans" pitchFamily="34" charset="-122"/>
                <a:cs typeface="Quattrocento Sans" pitchFamily="34" charset="-120"/>
              </a:rPr>
              <a:t> chỉ được tạo tối đa </a:t>
            </a:r>
            <a:r>
              <a:rPr lang="en-US" sz="1600" b="1" dirty="0">
                <a:solidFill>
                  <a:srgbClr val="1E293B"/>
                </a:solidFill>
                <a:latin typeface="Quattrocento Sans" pitchFamily="34" charset="0"/>
                <a:ea typeface="Quattrocento Sans" pitchFamily="34" charset="-122"/>
                <a:cs typeface="Quattrocento Sans" pitchFamily="34" charset="-120"/>
              </a:rPr>
              <a:t>5 chiến dịch</a:t>
            </a:r>
            <a:r>
              <a:rPr lang="en-US" sz="1600" dirty="0">
                <a:solidFill>
                  <a:srgbClr val="1E293B"/>
                </a:solidFill>
                <a:latin typeface="Quattrocento Sans" pitchFamily="34" charset="0"/>
                <a:ea typeface="Quattrocento Sans" pitchFamily="34" charset="-122"/>
                <a:cs typeface="Quattrocento Sans" pitchFamily="34" charset="-120"/>
              </a:rPr>
              <a:t> đang hoạt động</a:t>
            </a:r>
            <a:endParaRPr lang="en-US" sz="1600" dirty="0"/>
          </a:p>
          <a:p>
            <a:pPr>
              <a:lnSpc>
                <a:spcPct val="180000"/>
              </a:lnSpc>
              <a:spcBef>
                <a:spcPts val="1600"/>
              </a:spcBef>
            </a:pPr>
            <a:r>
              <a:rPr lang="en-US" sz="1600" b="1" dirty="0">
                <a:solidFill>
                  <a:srgbClr val="1B3A5C"/>
                </a:solidFill>
                <a:latin typeface="Quattrocento Sans" pitchFamily="34" charset="0"/>
                <a:ea typeface="Quattrocento Sans" pitchFamily="34" charset="-122"/>
                <a:cs typeface="Quattrocento Sans" pitchFamily="34" charset="-120"/>
              </a:rPr>
              <a:t>Ràng buộc góp vốn:</a:t>
            </a:r>
            <a:endParaRPr lang="en-US" sz="1600" dirty="0"/>
          </a:p>
          <a:p>
            <a:pPr>
              <a:lnSpc>
                <a:spcPct val="180000"/>
              </a:lnSpc>
            </a:pPr>
            <a:r>
              <a:rPr lang="en-US" sz="1600" dirty="0">
                <a:solidFill>
                  <a:srgbClr val="3B82F6"/>
                </a:solidFill>
                <a:latin typeface="Quattrocento Sans" pitchFamily="34" charset="0"/>
                <a:ea typeface="Quattrocento Sans" pitchFamily="34" charset="-122"/>
                <a:cs typeface="Quattrocento Sans" pitchFamily="34" charset="-120"/>
              </a:rPr>
              <a:t>●</a:t>
            </a:r>
            <a:r>
              <a:rPr lang="en-US" sz="1600" dirty="0">
                <a:solidFill>
                  <a:srgbClr val="1E293B"/>
                </a:solidFill>
                <a:latin typeface="Quattrocento Sans" pitchFamily="34" charset="0"/>
                <a:ea typeface="Quattrocento Sans" pitchFamily="34" charset="-122"/>
                <a:cs typeface="Quattrocento Sans" pitchFamily="34" charset="-120"/>
              </a:rPr>
              <a:t> Không cho phép góp vốn khi chiến dịch đã </a:t>
            </a:r>
            <a:r>
              <a:rPr lang="en-US" sz="1600" b="1" dirty="0">
                <a:solidFill>
                  <a:srgbClr val="1E293B"/>
                </a:solidFill>
                <a:latin typeface="Quattrocento Sans" pitchFamily="34" charset="0"/>
                <a:ea typeface="Quattrocento Sans" pitchFamily="34" charset="-122"/>
                <a:cs typeface="Quattrocento Sans" pitchFamily="34" charset="-120"/>
              </a:rPr>
              <a:t>hết hạn</a:t>
            </a:r>
            <a:endParaRPr lang="en-US" sz="1600" dirty="0"/>
          </a:p>
        </p:txBody>
      </p:sp>
      <p:sp>
        <p:nvSpPr>
          <p:cNvPr id="12" name="Shape 10"/>
          <p:cNvSpPr/>
          <p:nvPr/>
        </p:nvSpPr>
        <p:spPr>
          <a:xfrm>
            <a:off x="8318500" y="1524000"/>
            <a:ext cx="7175500" cy="6731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13" name="Text 11"/>
          <p:cNvSpPr/>
          <p:nvPr/>
        </p:nvSpPr>
        <p:spPr>
          <a:xfrm>
            <a:off x="8572500" y="1714500"/>
            <a:ext cx="6667500" cy="381000"/>
          </a:xfrm>
          <a:prstGeom prst="rect">
            <a:avLst/>
          </a:prstGeom>
          <a:noFill/>
          <a:ln/>
        </p:spPr>
        <p:txBody>
          <a:bodyPr wrap="none" lIns="0" tIns="0" rIns="0" bIns="0" rtlCol="0" anchor="ctr"/>
          <a:lstStyle/>
          <a:p>
            <a:pPr>
              <a:lnSpc>
                <a:spcPct val="100000"/>
              </a:lnSpc>
            </a:pPr>
            <a:r>
              <a:rPr lang="en-US" sz="1800" b="1" dirty="0">
                <a:solidFill>
                  <a:srgbClr val="1B3A5C"/>
                </a:solidFill>
                <a:latin typeface="Liter" pitchFamily="34" charset="0"/>
                <a:ea typeface="Liter" pitchFamily="34" charset="-122"/>
                <a:cs typeface="Liter" pitchFamily="34" charset="-120"/>
              </a:rPr>
              <a:t>Ràng buộc rút tiền và hoàn tiền</a:t>
            </a:r>
            <a:endParaRPr lang="en-US" sz="1600" dirty="0"/>
          </a:p>
        </p:txBody>
      </p:sp>
      <p:sp>
        <p:nvSpPr>
          <p:cNvPr id="14" name="Shape 12"/>
          <p:cNvSpPr/>
          <p:nvPr/>
        </p:nvSpPr>
        <p:spPr>
          <a:xfrm>
            <a:off x="8572500" y="2184400"/>
            <a:ext cx="6667500" cy="12700"/>
          </a:xfrm>
          <a:prstGeom prst="rect">
            <a:avLst/>
          </a:prstGeom>
          <a:solidFill>
            <a:srgbClr val="E2E8F0"/>
          </a:solidFill>
          <a:ln/>
        </p:spPr>
      </p:sp>
      <p:sp>
        <p:nvSpPr>
          <p:cNvPr id="15" name="Text 13"/>
          <p:cNvSpPr/>
          <p:nvPr/>
        </p:nvSpPr>
        <p:spPr>
          <a:xfrm>
            <a:off x="8572500" y="2349500"/>
            <a:ext cx="6667500" cy="5651500"/>
          </a:xfrm>
          <a:prstGeom prst="rect">
            <a:avLst/>
          </a:prstGeom>
          <a:noFill/>
          <a:ln/>
        </p:spPr>
        <p:txBody>
          <a:bodyPr wrap="square" lIns="0" tIns="0" rIns="0" bIns="0" rtlCol="0" anchor="t"/>
          <a:lstStyle/>
          <a:p>
            <a:pPr>
              <a:lnSpc>
                <a:spcPct val="180000"/>
              </a:lnSpc>
            </a:pPr>
            <a:r>
              <a:rPr lang="en-US" sz="1600" b="1" dirty="0">
                <a:solidFill>
                  <a:srgbClr val="1B3A5C"/>
                </a:solidFill>
                <a:latin typeface="Quattrocento Sans" pitchFamily="34" charset="0"/>
                <a:ea typeface="Quattrocento Sans" pitchFamily="34" charset="-122"/>
                <a:cs typeface="Quattrocento Sans" pitchFamily="34" charset="-120"/>
              </a:rPr>
              <a:t>Rút tiền (claim):</a:t>
            </a:r>
            <a:endParaRPr lang="en-US" sz="1600" dirty="0"/>
          </a:p>
          <a:p>
            <a:pPr>
              <a:lnSpc>
                <a:spcPct val="180000"/>
              </a:lnSpc>
            </a:pPr>
            <a:r>
              <a:rPr lang="en-US" sz="1600" dirty="0">
                <a:solidFill>
                  <a:srgbClr val="3B82F6"/>
                </a:solidFill>
                <a:latin typeface="Quattrocento Sans" pitchFamily="34" charset="0"/>
                <a:ea typeface="Quattrocento Sans" pitchFamily="34" charset="-122"/>
                <a:cs typeface="Quattrocento Sans" pitchFamily="34" charset="-120"/>
              </a:rPr>
              <a:t>●</a:t>
            </a:r>
            <a:r>
              <a:rPr lang="en-US" sz="1600" dirty="0">
                <a:solidFill>
                  <a:srgbClr val="1E293B"/>
                </a:solidFill>
                <a:latin typeface="Quattrocento Sans" pitchFamily="34" charset="0"/>
                <a:ea typeface="Quattrocento Sans" pitchFamily="34" charset="-122"/>
                <a:cs typeface="Quattrocento Sans" pitchFamily="34" charset="-120"/>
              </a:rPr>
              <a:t> </a:t>
            </a:r>
            <a:r>
              <a:rPr lang="en-US" sz="1600" dirty="0" err="1">
                <a:solidFill>
                  <a:srgbClr val="1E293B"/>
                </a:solidFill>
                <a:latin typeface="Quattrocento Sans" pitchFamily="34" charset="0"/>
                <a:ea typeface="Quattrocento Sans" pitchFamily="34" charset="-122"/>
                <a:cs typeface="Quattrocento Sans" pitchFamily="34" charset="-120"/>
              </a:rPr>
              <a:t>Chỉ</a:t>
            </a:r>
            <a:r>
              <a:rPr lang="en-US" sz="1600" dirty="0">
                <a:solidFill>
                  <a:srgbClr val="1E293B"/>
                </a:solidFill>
                <a:latin typeface="Quattrocento Sans" pitchFamily="34" charset="0"/>
                <a:ea typeface="Quattrocento Sans" pitchFamily="34" charset="-122"/>
                <a:cs typeface="Quattrocento Sans" pitchFamily="34" charset="-120"/>
              </a:rPr>
              <a:t> </a:t>
            </a:r>
            <a:r>
              <a:rPr lang="en-US" sz="1600" b="1" dirty="0" err="1">
                <a:solidFill>
                  <a:srgbClr val="1E293B"/>
                </a:solidFill>
                <a:latin typeface="Quattrocento Sans" pitchFamily="34" charset="0"/>
                <a:ea typeface="Quattrocento Sans" pitchFamily="34" charset="-122"/>
                <a:cs typeface="Quattrocento Sans" pitchFamily="34" charset="-120"/>
              </a:rPr>
              <a:t>người</a:t>
            </a:r>
            <a:r>
              <a:rPr lang="en-US" sz="1600" b="1" dirty="0">
                <a:solidFill>
                  <a:srgbClr val="1E293B"/>
                </a:solidFill>
                <a:latin typeface="Quattrocento Sans" pitchFamily="34" charset="0"/>
                <a:ea typeface="Quattrocento Sans" pitchFamily="34" charset="-122"/>
                <a:cs typeface="Quattrocento Sans" pitchFamily="34" charset="-120"/>
              </a:rPr>
              <a:t> tạo</a:t>
            </a:r>
            <a:r>
              <a:rPr lang="en-US" sz="1600" dirty="0">
                <a:solidFill>
                  <a:srgbClr val="1E293B"/>
                </a:solidFill>
                <a:latin typeface="Quattrocento Sans" pitchFamily="34" charset="0"/>
                <a:ea typeface="Quattrocento Sans" pitchFamily="34" charset="-122"/>
                <a:cs typeface="Quattrocento Sans" pitchFamily="34" charset="-120"/>
              </a:rPr>
              <a:t> chiến dịch được rút tiền</a:t>
            </a:r>
            <a:endParaRPr lang="en-US" sz="1600" dirty="0"/>
          </a:p>
          <a:p>
            <a:pPr>
              <a:lnSpc>
                <a:spcPct val="180000"/>
              </a:lnSpc>
            </a:pPr>
            <a:r>
              <a:rPr lang="en-US" sz="1600" dirty="0">
                <a:solidFill>
                  <a:srgbClr val="3B82F6"/>
                </a:solidFill>
                <a:latin typeface="Quattrocento Sans" pitchFamily="34" charset="0"/>
                <a:ea typeface="Quattrocento Sans" pitchFamily="34" charset="-122"/>
                <a:cs typeface="Quattrocento Sans" pitchFamily="34" charset="-120"/>
              </a:rPr>
              <a:t>●</a:t>
            </a:r>
            <a:r>
              <a:rPr lang="en-US" sz="1600" dirty="0">
                <a:solidFill>
                  <a:srgbClr val="1E293B"/>
                </a:solidFill>
                <a:latin typeface="Quattrocento Sans" pitchFamily="34" charset="0"/>
                <a:ea typeface="Quattrocento Sans" pitchFamily="34" charset="-122"/>
                <a:cs typeface="Quattrocento Sans" pitchFamily="34" charset="-120"/>
              </a:rPr>
              <a:t> Không rút khi chưa </a:t>
            </a:r>
            <a:r>
              <a:rPr lang="en-US" sz="1600" b="1" dirty="0">
                <a:solidFill>
                  <a:srgbClr val="1E293B"/>
                </a:solidFill>
                <a:latin typeface="Quattrocento Sans" pitchFamily="34" charset="0"/>
                <a:ea typeface="Quattrocento Sans" pitchFamily="34" charset="-122"/>
                <a:cs typeface="Quattrocento Sans" pitchFamily="34" charset="-120"/>
              </a:rPr>
              <a:t>đạt mục tiêu</a:t>
            </a:r>
            <a:endParaRPr lang="en-US" sz="1600" dirty="0"/>
          </a:p>
          <a:p>
            <a:pPr>
              <a:lnSpc>
                <a:spcPct val="180000"/>
              </a:lnSpc>
            </a:pPr>
            <a:r>
              <a:rPr lang="en-US" sz="1600" dirty="0">
                <a:solidFill>
                  <a:srgbClr val="3B82F6"/>
                </a:solidFill>
                <a:latin typeface="Quattrocento Sans" pitchFamily="34" charset="0"/>
                <a:ea typeface="Quattrocento Sans" pitchFamily="34" charset="-122"/>
                <a:cs typeface="Quattrocento Sans" pitchFamily="34" charset="-120"/>
              </a:rPr>
              <a:t>●</a:t>
            </a:r>
            <a:r>
              <a:rPr lang="en-US" sz="1600" dirty="0">
                <a:solidFill>
                  <a:srgbClr val="1E293B"/>
                </a:solidFill>
                <a:latin typeface="Quattrocento Sans" pitchFamily="34" charset="0"/>
                <a:ea typeface="Quattrocento Sans" pitchFamily="34" charset="-122"/>
                <a:cs typeface="Quattrocento Sans" pitchFamily="34" charset="-120"/>
              </a:rPr>
              <a:t> Không cho phép rút tiền </a:t>
            </a:r>
            <a:r>
              <a:rPr lang="en-US" sz="1600" b="1" dirty="0">
                <a:solidFill>
                  <a:srgbClr val="1E293B"/>
                </a:solidFill>
                <a:latin typeface="Quattrocento Sans" pitchFamily="34" charset="0"/>
                <a:ea typeface="Quattrocento Sans" pitchFamily="34" charset="-122"/>
                <a:cs typeface="Quattrocento Sans" pitchFamily="34" charset="-120"/>
              </a:rPr>
              <a:t>nhiều lần</a:t>
            </a:r>
            <a:endParaRPr lang="en-US" sz="1600" dirty="0"/>
          </a:p>
          <a:p>
            <a:pPr>
              <a:lnSpc>
                <a:spcPct val="180000"/>
              </a:lnSpc>
              <a:spcBef>
                <a:spcPts val="1600"/>
              </a:spcBef>
            </a:pPr>
            <a:r>
              <a:rPr lang="en-US" sz="1600" b="1" dirty="0">
                <a:solidFill>
                  <a:srgbClr val="1B3A5C"/>
                </a:solidFill>
                <a:latin typeface="Quattrocento Sans" pitchFamily="34" charset="0"/>
                <a:ea typeface="Quattrocento Sans" pitchFamily="34" charset="-122"/>
                <a:cs typeface="Quattrocento Sans" pitchFamily="34" charset="-120"/>
              </a:rPr>
              <a:t>Hoàn tiền (refund):</a:t>
            </a:r>
            <a:endParaRPr lang="en-US" sz="1600" dirty="0"/>
          </a:p>
          <a:p>
            <a:pPr>
              <a:lnSpc>
                <a:spcPct val="180000"/>
              </a:lnSpc>
            </a:pPr>
            <a:r>
              <a:rPr lang="en-US" sz="1600" dirty="0">
                <a:solidFill>
                  <a:srgbClr val="3B82F6"/>
                </a:solidFill>
                <a:latin typeface="Quattrocento Sans" pitchFamily="34" charset="0"/>
                <a:ea typeface="Quattrocento Sans" pitchFamily="34" charset="-122"/>
                <a:cs typeface="Quattrocento Sans" pitchFamily="34" charset="-120"/>
              </a:rPr>
              <a:t>●</a:t>
            </a:r>
            <a:r>
              <a:rPr lang="en-US" sz="1600" dirty="0">
                <a:solidFill>
                  <a:srgbClr val="1E293B"/>
                </a:solidFill>
                <a:latin typeface="Quattrocento Sans" pitchFamily="34" charset="0"/>
                <a:ea typeface="Quattrocento Sans" pitchFamily="34" charset="-122"/>
                <a:cs typeface="Quattrocento Sans" pitchFamily="34" charset="-120"/>
              </a:rPr>
              <a:t> Chỉ hoàn tiền khi chiến dịch </a:t>
            </a:r>
            <a:r>
              <a:rPr lang="en-US" sz="1600" b="1" dirty="0">
                <a:solidFill>
                  <a:srgbClr val="1E293B"/>
                </a:solidFill>
                <a:latin typeface="Quattrocento Sans" pitchFamily="34" charset="0"/>
                <a:ea typeface="Quattrocento Sans" pitchFamily="34" charset="-122"/>
                <a:cs typeface="Quattrocento Sans" pitchFamily="34" charset="-120"/>
              </a:rPr>
              <a:t>đã kết thúc</a:t>
            </a:r>
            <a:endParaRPr lang="en-US" sz="1600" dirty="0"/>
          </a:p>
          <a:p>
            <a:pPr>
              <a:lnSpc>
                <a:spcPct val="180000"/>
              </a:lnSpc>
            </a:pPr>
            <a:r>
              <a:rPr lang="en-US" sz="1600" dirty="0">
                <a:solidFill>
                  <a:srgbClr val="3B82F6"/>
                </a:solidFill>
                <a:latin typeface="Quattrocento Sans" pitchFamily="34" charset="0"/>
                <a:ea typeface="Quattrocento Sans" pitchFamily="34" charset="-122"/>
                <a:cs typeface="Quattrocento Sans" pitchFamily="34" charset="-120"/>
              </a:rPr>
              <a:t>●</a:t>
            </a:r>
            <a:r>
              <a:rPr lang="en-US" sz="1600" dirty="0">
                <a:solidFill>
                  <a:srgbClr val="1E293B"/>
                </a:solidFill>
                <a:latin typeface="Quattrocento Sans" pitchFamily="34" charset="0"/>
                <a:ea typeface="Quattrocento Sans" pitchFamily="34" charset="-122"/>
                <a:cs typeface="Quattrocento Sans" pitchFamily="34" charset="-120"/>
              </a:rPr>
              <a:t> Không hoàn tiền nếu đã </a:t>
            </a:r>
            <a:r>
              <a:rPr lang="en-US" sz="1600" b="1" dirty="0">
                <a:solidFill>
                  <a:srgbClr val="1E293B"/>
                </a:solidFill>
                <a:latin typeface="Quattrocento Sans" pitchFamily="34" charset="0"/>
                <a:ea typeface="Quattrocento Sans" pitchFamily="34" charset="-122"/>
                <a:cs typeface="Quattrocento Sans" pitchFamily="34" charset="-120"/>
              </a:rPr>
              <a:t>đạt mục tiêu</a:t>
            </a:r>
            <a:endParaRPr lang="en-US" sz="1600" dirty="0"/>
          </a:p>
        </p:txBody>
      </p:sp>
      <p:sp>
        <p:nvSpPr>
          <p:cNvPr id="16" name="Text 14"/>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400" dirty="0">
                <a:solidFill>
                  <a:srgbClr val="64748B"/>
                </a:solidFill>
                <a:latin typeface="QuattrocentoSans" pitchFamily="34" charset="0"/>
                <a:ea typeface="QuattrocentoSans" pitchFamily="34" charset="-122"/>
                <a:cs typeface="QuattrocentoSans" pitchFamily="34" charset="-120"/>
              </a:rPr>
              <a:t>13</a:t>
            </a:r>
            <a:endParaRPr lang="en-US" sz="14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8890000" y="0"/>
            <a:ext cx="7366000" cy="9144000"/>
          </a:xfrm>
          <a:prstGeom prst="rect">
            <a:avLst/>
          </a:prstGeom>
          <a:gradFill flip="none" rotWithShape="1">
            <a:gsLst>
              <a:gs pos="0">
                <a:srgbClr val="1B3A5C"/>
              </a:gs>
              <a:gs pos="100000">
                <a:srgbClr val="243B5D"/>
              </a:gs>
            </a:gsLst>
            <a:lin ang="0" scaled="1"/>
          </a:gradFill>
          <a:ln/>
        </p:spPr>
      </p:sp>
      <p:pic>
        <p:nvPicPr>
          <p:cNvPr id="3" name="Image 0" descr="https://kimi-img.moonshot.cn/pub/slides/okc/d5rtvzlfo7tzy/mnt/agents/output/blockchain-crowdfunding/images/5_Programming_Code_Abstract_Technology.png"/>
          <p:cNvPicPr>
            <a:picLocks noChangeAspect="1"/>
          </p:cNvPicPr>
          <p:nvPr/>
        </p:nvPicPr>
        <p:blipFill>
          <a:blip r:embed="rId3">
            <a:alphaModFix amt="20000"/>
          </a:blip>
          <a:srcRect l="17909" r="17909"/>
          <a:stretch/>
        </p:blipFill>
        <p:spPr>
          <a:xfrm>
            <a:off x="9144000" y="1270000"/>
            <a:ext cx="6350000" cy="6604000"/>
          </a:xfrm>
          <a:prstGeom prst="roundRect">
            <a:avLst>
              <a:gd name="adj" fmla="val 8000"/>
            </a:avLst>
          </a:prstGeom>
        </p:spPr>
      </p:pic>
      <p:sp>
        <p:nvSpPr>
          <p:cNvPr id="4" name="Text 1"/>
          <p:cNvSpPr/>
          <p:nvPr/>
        </p:nvSpPr>
        <p:spPr>
          <a:xfrm>
            <a:off x="1016000" y="2540000"/>
            <a:ext cx="2540000" cy="355600"/>
          </a:xfrm>
          <a:prstGeom prst="rect">
            <a:avLst/>
          </a:prstGeom>
          <a:noFill/>
          <a:ln/>
        </p:spPr>
        <p:txBody>
          <a:bodyPr wrap="none" lIns="0" tIns="0" rIns="0" bIns="0" rtlCol="0" anchor="ctr"/>
          <a:lstStyle/>
          <a:p>
            <a:pPr>
              <a:lnSpc>
                <a:spcPct val="100000"/>
              </a:lnSpc>
            </a:pPr>
            <a:r>
              <a:rPr lang="vi-VN" sz="1300" kern="0" spc="400" dirty="0">
                <a:solidFill>
                  <a:srgbClr val="FFFFFF">
                    <a:alpha val="50196"/>
                  </a:srgbClr>
                </a:solidFill>
                <a:latin typeface="Liter" pitchFamily="34" charset="0"/>
                <a:ea typeface="Liter" pitchFamily="34" charset="-122"/>
                <a:cs typeface="Liter" pitchFamily="34" charset="-120"/>
              </a:rPr>
              <a:t>02</a:t>
            </a:r>
            <a:endParaRPr lang="en-US" sz="1300" dirty="0"/>
          </a:p>
        </p:txBody>
      </p:sp>
      <p:sp>
        <p:nvSpPr>
          <p:cNvPr id="5" name="Shape 2"/>
          <p:cNvSpPr/>
          <p:nvPr/>
        </p:nvSpPr>
        <p:spPr>
          <a:xfrm>
            <a:off x="1016000" y="3048000"/>
            <a:ext cx="762000" cy="50800"/>
          </a:xfrm>
          <a:prstGeom prst="rect">
            <a:avLst/>
          </a:prstGeom>
          <a:solidFill>
            <a:srgbClr val="3B82F6"/>
          </a:solidFill>
          <a:ln/>
        </p:spPr>
      </p:sp>
      <p:sp>
        <p:nvSpPr>
          <p:cNvPr id="6" name="Text 3"/>
          <p:cNvSpPr/>
          <p:nvPr/>
        </p:nvSpPr>
        <p:spPr>
          <a:xfrm>
            <a:off x="1016000" y="3365500"/>
            <a:ext cx="7366000" cy="1651000"/>
          </a:xfrm>
          <a:prstGeom prst="rect">
            <a:avLst/>
          </a:prstGeom>
          <a:noFill/>
          <a:ln/>
        </p:spPr>
        <p:txBody>
          <a:bodyPr wrap="square" lIns="0" tIns="0" rIns="0" bIns="0" rtlCol="0" anchor="t"/>
          <a:lstStyle/>
          <a:p>
            <a:pPr>
              <a:lnSpc>
                <a:spcPct val="130000"/>
              </a:lnSpc>
            </a:pPr>
            <a:r>
              <a:rPr lang="en-US" sz="4200" dirty="0">
                <a:solidFill>
                  <a:srgbClr val="FFFFFF"/>
                </a:solidFill>
                <a:latin typeface="Liter" pitchFamily="34" charset="0"/>
                <a:ea typeface="Liter" pitchFamily="34" charset="-122"/>
                <a:cs typeface="Liter" pitchFamily="34" charset="-120"/>
              </a:rPr>
              <a:t>Xây dựng và</a:t>
            </a:r>
            <a:endParaRPr lang="en-US" sz="4000" dirty="0"/>
          </a:p>
          <a:p>
            <a:pPr>
              <a:lnSpc>
                <a:spcPct val="130000"/>
              </a:lnSpc>
            </a:pPr>
            <a:r>
              <a:rPr lang="en-US" sz="4200" dirty="0">
                <a:solidFill>
                  <a:srgbClr val="FFFFFF"/>
                </a:solidFill>
                <a:latin typeface="Liter" pitchFamily="34" charset="0"/>
                <a:ea typeface="Liter" pitchFamily="34" charset="-122"/>
                <a:cs typeface="Liter" pitchFamily="34" charset="-120"/>
              </a:rPr>
              <a:t>triển khai hệ thống</a:t>
            </a:r>
            <a:endParaRPr lang="en-US" sz="4000" dirty="0"/>
          </a:p>
        </p:txBody>
      </p:sp>
      <p:sp>
        <p:nvSpPr>
          <p:cNvPr id="7" name="Text 4"/>
          <p:cNvSpPr/>
          <p:nvPr/>
        </p:nvSpPr>
        <p:spPr>
          <a:xfrm>
            <a:off x="1016000" y="5334000"/>
            <a:ext cx="6350000" cy="1016000"/>
          </a:xfrm>
          <a:prstGeom prst="rect">
            <a:avLst/>
          </a:prstGeom>
          <a:noFill/>
          <a:ln/>
        </p:spPr>
        <p:txBody>
          <a:bodyPr wrap="square" lIns="0" tIns="0" rIns="0" bIns="0" rtlCol="0" anchor="t"/>
          <a:lstStyle/>
          <a:p>
            <a:pPr>
              <a:lnSpc>
                <a:spcPct val="160000"/>
              </a:lnSpc>
            </a:pPr>
            <a:r>
              <a:rPr lang="en-US" sz="1800" dirty="0">
                <a:solidFill>
                  <a:srgbClr val="FFFFFF">
                    <a:alpha val="66667"/>
                  </a:srgbClr>
                </a:solidFill>
                <a:latin typeface="Quattrocento Sans" pitchFamily="34" charset="0"/>
                <a:ea typeface="Quattrocento Sans" pitchFamily="34" charset="-122"/>
                <a:cs typeface="Quattrocento Sans" pitchFamily="34" charset="-120"/>
              </a:rPr>
              <a:t>Hiện thực hóa Smart Contract và giao </a:t>
            </a:r>
            <a:r>
              <a:rPr lang="en-US" sz="1800" dirty="0" err="1">
                <a:solidFill>
                  <a:srgbClr val="FFFFFF">
                    <a:alpha val="66667"/>
                  </a:srgbClr>
                </a:solidFill>
                <a:latin typeface="Quattrocento Sans" pitchFamily="34" charset="0"/>
                <a:ea typeface="Quattrocento Sans" pitchFamily="34" charset="-122"/>
                <a:cs typeface="Quattrocento Sans" pitchFamily="34" charset="-120"/>
              </a:rPr>
              <a:t>diện</a:t>
            </a:r>
            <a:r>
              <a:rPr lang="en-US" sz="1800" dirty="0">
                <a:solidFill>
                  <a:srgbClr val="FFFFFF">
                    <a:alpha val="66667"/>
                  </a:srgbClr>
                </a:solidFill>
                <a:latin typeface="Quattrocento Sans" pitchFamily="34" charset="0"/>
                <a:ea typeface="Quattrocento Sans" pitchFamily="34" charset="-122"/>
                <a:cs typeface="Quattrocento Sans" pitchFamily="34" charset="-120"/>
              </a:rPr>
              <a:t> </a:t>
            </a:r>
            <a:r>
              <a:rPr lang="en-US" sz="1800" dirty="0" err="1">
                <a:solidFill>
                  <a:srgbClr val="FFFFFF">
                    <a:alpha val="66667"/>
                  </a:srgbClr>
                </a:solidFill>
                <a:latin typeface="Quattrocento Sans" pitchFamily="34" charset="0"/>
                <a:ea typeface="Quattrocento Sans" pitchFamily="34" charset="-122"/>
                <a:cs typeface="Quattrocento Sans" pitchFamily="34" charset="-120"/>
              </a:rPr>
              <a:t>người</a:t>
            </a:r>
            <a:r>
              <a:rPr lang="en-US" sz="1800" dirty="0">
                <a:solidFill>
                  <a:srgbClr val="FFFFFF">
                    <a:alpha val="66667"/>
                  </a:srgbClr>
                </a:solidFill>
                <a:latin typeface="Quattrocento Sans" pitchFamily="34" charset="0"/>
                <a:ea typeface="Quattrocento Sans" pitchFamily="34" charset="-122"/>
                <a:cs typeface="Quattrocento Sans" pitchFamily="34" charset="-120"/>
              </a:rPr>
              <a:t> dùng,</a:t>
            </a:r>
            <a:endParaRPr lang="en-US" sz="1600" dirty="0"/>
          </a:p>
          <a:p>
            <a:pPr>
              <a:lnSpc>
                <a:spcPct val="160000"/>
              </a:lnSpc>
            </a:pPr>
            <a:r>
              <a:rPr lang="en-US" sz="1800" dirty="0">
                <a:solidFill>
                  <a:srgbClr val="FFFFFF">
                    <a:alpha val="66667"/>
                  </a:srgbClr>
                </a:solidFill>
                <a:latin typeface="Quattrocento Sans" pitchFamily="34" charset="0"/>
                <a:ea typeface="Quattrocento Sans" pitchFamily="34" charset="-122"/>
                <a:cs typeface="Quattrocento Sans" pitchFamily="34" charset="-120"/>
              </a:rPr>
              <a:t>triển khai trên Ethereum Testnet</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B3A5C"/>
          </a:solidFill>
          <a:ln/>
        </p:spPr>
      </p:sp>
      <p:sp>
        <p:nvSpPr>
          <p:cNvPr id="3" name="Text 1"/>
          <p:cNvSpPr/>
          <p:nvPr/>
        </p:nvSpPr>
        <p:spPr>
          <a:xfrm>
            <a:off x="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94A3B8"/>
                </a:solidFill>
                <a:latin typeface="Liter" pitchFamily="34" charset="0"/>
                <a:ea typeface="Liter" pitchFamily="34" charset="-122"/>
                <a:cs typeface="Liter" pitchFamily="34" charset="-120"/>
              </a:rPr>
              <a:t>PHÂN TÍCH VÀ THIẾT KẾ</a:t>
            </a:r>
            <a:endParaRPr lang="en-US" sz="1300" dirty="0"/>
          </a:p>
        </p:txBody>
      </p:sp>
      <p:sp>
        <p:nvSpPr>
          <p:cNvPr id="4" name="Text 2"/>
          <p:cNvSpPr/>
          <p:nvPr/>
        </p:nvSpPr>
        <p:spPr>
          <a:xfrm>
            <a:off x="812800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FFFFFF"/>
                </a:solidFill>
                <a:latin typeface="Liter" pitchFamily="34" charset="0"/>
                <a:ea typeface="Liter" pitchFamily="34" charset="-122"/>
                <a:cs typeface="Liter" pitchFamily="34" charset="-120"/>
              </a:rPr>
              <a:t>XÂY DỰNG VÀ TRIỂN KHAI</a:t>
            </a:r>
            <a:endParaRPr lang="en-US" sz="1300" dirty="0"/>
          </a:p>
        </p:txBody>
      </p:sp>
      <p:sp>
        <p:nvSpPr>
          <p:cNvPr id="5" name="Shape 3"/>
          <p:cNvSpPr/>
          <p:nvPr/>
        </p:nvSpPr>
        <p:spPr>
          <a:xfrm>
            <a:off x="8128000" y="558800"/>
            <a:ext cx="8128000" cy="50800"/>
          </a:xfrm>
          <a:prstGeom prst="rect">
            <a:avLst/>
          </a:prstGeom>
          <a:solidFill>
            <a:srgbClr val="3B82F6"/>
          </a:solidFill>
          <a:ln/>
        </p:spPr>
      </p:sp>
      <p:sp>
        <p:nvSpPr>
          <p:cNvPr id="6" name="Shape 4"/>
          <p:cNvSpPr/>
          <p:nvPr/>
        </p:nvSpPr>
        <p:spPr>
          <a:xfrm>
            <a:off x="762000" y="863600"/>
            <a:ext cx="63500" cy="406400"/>
          </a:xfrm>
          <a:prstGeom prst="rect">
            <a:avLst/>
          </a:prstGeom>
          <a:solidFill>
            <a:srgbClr val="3B82F6"/>
          </a:solidFill>
          <a:ln/>
        </p:spPr>
      </p:sp>
      <p:sp>
        <p:nvSpPr>
          <p:cNvPr id="7" name="Text 5"/>
          <p:cNvSpPr/>
          <p:nvPr/>
        </p:nvSpPr>
        <p:spPr>
          <a:xfrm>
            <a:off x="990600" y="825500"/>
            <a:ext cx="10160000" cy="482600"/>
          </a:xfrm>
          <a:prstGeom prst="rect">
            <a:avLst/>
          </a:prstGeom>
          <a:noFill/>
          <a:ln/>
        </p:spPr>
        <p:txBody>
          <a:bodyPr wrap="none" lIns="0" tIns="0" rIns="0" bIns="0" rtlCol="0" anchor="ctr"/>
          <a:lstStyle/>
          <a:p>
            <a:pPr>
              <a:lnSpc>
                <a:spcPct val="130000"/>
              </a:lnSpc>
            </a:pPr>
            <a:r>
              <a:rPr lang="en-US" sz="2800" dirty="0">
                <a:solidFill>
                  <a:srgbClr val="1B3A5C"/>
                </a:solidFill>
                <a:latin typeface="Liter" pitchFamily="34" charset="0"/>
                <a:ea typeface="Liter" pitchFamily="34" charset="-122"/>
                <a:cs typeface="Liter" pitchFamily="34" charset="-120"/>
              </a:rPr>
              <a:t>3.1 Giới thiệu</a:t>
            </a:r>
            <a:endParaRPr lang="en-US" sz="2800" dirty="0"/>
          </a:p>
        </p:txBody>
      </p:sp>
      <p:sp>
        <p:nvSpPr>
          <p:cNvPr id="8" name="Shape 6"/>
          <p:cNvSpPr/>
          <p:nvPr/>
        </p:nvSpPr>
        <p:spPr>
          <a:xfrm>
            <a:off x="762000" y="1587500"/>
            <a:ext cx="14732000" cy="2032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9" name="Text 7"/>
          <p:cNvSpPr/>
          <p:nvPr/>
        </p:nvSpPr>
        <p:spPr>
          <a:xfrm>
            <a:off x="1079500" y="1778000"/>
            <a:ext cx="14097000" cy="1651000"/>
          </a:xfrm>
          <a:prstGeom prst="rect">
            <a:avLst/>
          </a:prstGeom>
          <a:noFill/>
          <a:ln/>
        </p:spPr>
        <p:txBody>
          <a:bodyPr wrap="square" lIns="0" tIns="0" rIns="0" bIns="0" rtlCol="0" anchor="t"/>
          <a:lstStyle/>
          <a:p>
            <a:pPr>
              <a:lnSpc>
                <a:spcPct val="180000"/>
              </a:lnSpc>
            </a:pPr>
            <a:r>
              <a:rPr lang="en-US" sz="1800" dirty="0">
                <a:solidFill>
                  <a:srgbClr val="1E293B"/>
                </a:solidFill>
                <a:latin typeface="QuattrocentoSans" pitchFamily="34" charset="0"/>
                <a:ea typeface="QuattrocentoSans" pitchFamily="34" charset="-122"/>
                <a:cs typeface="QuattrocentoSans" pitchFamily="34" charset="-120"/>
              </a:rPr>
              <a:t>Sau khi hoàn thành phân tích yêu cầu và thiết kế hệ thống, bước tiếp theo là </a:t>
            </a:r>
            <a:r>
              <a:rPr lang="en-US" sz="1800" b="1" dirty="0">
                <a:solidFill>
                  <a:srgbClr val="1E293B"/>
                </a:solidFill>
                <a:latin typeface="QuattrocentoSans" pitchFamily="34" charset="0"/>
                <a:ea typeface="QuattrocentoSans" pitchFamily="34" charset="-122"/>
                <a:cs typeface="QuattrocentoSans" pitchFamily="34" charset="-120"/>
              </a:rPr>
              <a:t>tiến hành xây dựng và triển khai</a:t>
            </a:r>
            <a:r>
              <a:rPr lang="en-US" sz="1800" dirty="0">
                <a:solidFill>
                  <a:srgbClr val="1E293B"/>
                </a:solidFill>
                <a:latin typeface="QuattrocentoSans" pitchFamily="34" charset="0"/>
                <a:ea typeface="QuattrocentoSans" pitchFamily="34" charset="-122"/>
                <a:cs typeface="QuattrocentoSans" pitchFamily="34" charset="-120"/>
              </a:rPr>
              <a:t> ứng dụng DApp gây quỹ trên nền tảng Blockchain. Đây là giai đoạn quan trọng nhằm </a:t>
            </a:r>
            <a:r>
              <a:rPr lang="en-US" sz="1800" b="1" dirty="0">
                <a:solidFill>
                  <a:srgbClr val="1E293B"/>
                </a:solidFill>
                <a:latin typeface="QuattrocentoSans" pitchFamily="34" charset="0"/>
                <a:ea typeface="QuattrocentoSans" pitchFamily="34" charset="-122"/>
                <a:cs typeface="QuattrocentoSans" pitchFamily="34" charset="-120"/>
              </a:rPr>
              <a:t>hiện thực hóa các ý tưởng và mô hình</a:t>
            </a:r>
            <a:r>
              <a:rPr lang="en-US" sz="1800" dirty="0">
                <a:solidFill>
                  <a:srgbClr val="1E293B"/>
                </a:solidFill>
                <a:latin typeface="QuattrocentoSans" pitchFamily="34" charset="0"/>
                <a:ea typeface="QuattrocentoSans" pitchFamily="34" charset="-122"/>
                <a:cs typeface="QuattrocentoSans" pitchFamily="34" charset="-120"/>
              </a:rPr>
              <a:t> đã đề ra ở chương trước.</a:t>
            </a:r>
            <a:endParaRPr lang="en-US" sz="1800" dirty="0"/>
          </a:p>
        </p:txBody>
      </p:sp>
      <p:sp>
        <p:nvSpPr>
          <p:cNvPr id="10" name="Text 8"/>
          <p:cNvSpPr/>
          <p:nvPr/>
        </p:nvSpPr>
        <p:spPr>
          <a:xfrm>
            <a:off x="762000" y="4000500"/>
            <a:ext cx="5080000" cy="381000"/>
          </a:xfrm>
          <a:prstGeom prst="rect">
            <a:avLst/>
          </a:prstGeom>
          <a:noFill/>
          <a:ln/>
        </p:spPr>
        <p:txBody>
          <a:bodyPr wrap="none" lIns="0" tIns="0" rIns="0" bIns="0" rtlCol="0" anchor="ctr"/>
          <a:lstStyle/>
          <a:p>
            <a:pPr>
              <a:lnSpc>
                <a:spcPct val="100000"/>
              </a:lnSpc>
            </a:pPr>
            <a:r>
              <a:rPr lang="en-US" sz="2000" b="1" dirty="0">
                <a:solidFill>
                  <a:srgbClr val="1B3A5C"/>
                </a:solidFill>
                <a:latin typeface="Liter" pitchFamily="34" charset="0"/>
                <a:ea typeface="Liter" pitchFamily="34" charset="-122"/>
                <a:cs typeface="Liter" pitchFamily="34" charset="-120"/>
              </a:rPr>
              <a:t>Các bước thực hiện chính</a:t>
            </a:r>
            <a:endParaRPr lang="en-US" sz="1600" dirty="0"/>
          </a:p>
        </p:txBody>
      </p:sp>
      <p:sp>
        <p:nvSpPr>
          <p:cNvPr id="11" name="Shape 9"/>
          <p:cNvSpPr/>
          <p:nvPr/>
        </p:nvSpPr>
        <p:spPr>
          <a:xfrm>
            <a:off x="762000" y="4635500"/>
            <a:ext cx="3429000" cy="3302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12" name="Text 10"/>
          <p:cNvSpPr/>
          <p:nvPr/>
        </p:nvSpPr>
        <p:spPr>
          <a:xfrm>
            <a:off x="952500" y="4826000"/>
            <a:ext cx="698500" cy="508000"/>
          </a:xfrm>
          <a:prstGeom prst="rect">
            <a:avLst/>
          </a:prstGeom>
          <a:noFill/>
          <a:ln/>
        </p:spPr>
        <p:txBody>
          <a:bodyPr wrap="none" lIns="0" tIns="0" rIns="0" bIns="0" rtlCol="0" anchor="ctr"/>
          <a:lstStyle/>
          <a:p>
            <a:pPr algn="ctr">
              <a:lnSpc>
                <a:spcPct val="100000"/>
              </a:lnSpc>
            </a:pPr>
            <a:r>
              <a:rPr lang="en-US" sz="3200" dirty="0">
                <a:solidFill>
                  <a:srgbClr val="3B82F6"/>
                </a:solidFill>
                <a:latin typeface="Liter" pitchFamily="34" charset="0"/>
                <a:ea typeface="Liter" pitchFamily="34" charset="-122"/>
                <a:cs typeface="Liter" pitchFamily="34" charset="-120"/>
              </a:rPr>
              <a:t>01</a:t>
            </a:r>
            <a:endParaRPr lang="en-US" sz="1600" dirty="0"/>
          </a:p>
        </p:txBody>
      </p:sp>
      <p:sp>
        <p:nvSpPr>
          <p:cNvPr id="13" name="Text 11"/>
          <p:cNvSpPr/>
          <p:nvPr/>
        </p:nvSpPr>
        <p:spPr>
          <a:xfrm>
            <a:off x="952500" y="5397500"/>
            <a:ext cx="3048000" cy="355600"/>
          </a:xfrm>
          <a:prstGeom prst="rect">
            <a:avLst/>
          </a:prstGeom>
          <a:noFill/>
          <a:ln/>
        </p:spPr>
        <p:txBody>
          <a:bodyPr wrap="none" lIns="0" tIns="0" rIns="0" bIns="0" rtlCol="0" anchor="ctr"/>
          <a:lstStyle/>
          <a:p>
            <a:pPr>
              <a:lnSpc>
                <a:spcPct val="100000"/>
              </a:lnSpc>
            </a:pPr>
            <a:r>
              <a:rPr lang="en-US" sz="1600" b="1" dirty="0">
                <a:solidFill>
                  <a:srgbClr val="1B3A5C"/>
                </a:solidFill>
                <a:latin typeface="Liter" pitchFamily="34" charset="0"/>
                <a:ea typeface="Liter" pitchFamily="34" charset="-122"/>
                <a:cs typeface="Liter" pitchFamily="34" charset="-120"/>
              </a:rPr>
              <a:t>Smart Contract</a:t>
            </a:r>
            <a:endParaRPr lang="en-US" sz="1600" dirty="0"/>
          </a:p>
        </p:txBody>
      </p:sp>
      <p:sp>
        <p:nvSpPr>
          <p:cNvPr id="14" name="Text 12"/>
          <p:cNvSpPr/>
          <p:nvPr/>
        </p:nvSpPr>
        <p:spPr>
          <a:xfrm>
            <a:off x="952500" y="5816600"/>
            <a:ext cx="3048000" cy="1905000"/>
          </a:xfrm>
          <a:prstGeom prst="rect">
            <a:avLst/>
          </a:prstGeom>
          <a:noFill/>
          <a:ln/>
        </p:spPr>
        <p:txBody>
          <a:bodyPr wrap="square" lIns="0" tIns="0" rIns="0" bIns="0" rtlCol="0" anchor="t"/>
          <a:lstStyle/>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Viết bằng Solidity</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Triển khai trên Ethereum</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a:t>
            </a:r>
            <a:r>
              <a:rPr lang="vi-VN" sz="1400" dirty="0">
                <a:solidFill>
                  <a:srgbClr val="1E293B"/>
                </a:solidFill>
                <a:latin typeface="Quattrocento Sans" pitchFamily="34" charset="0"/>
                <a:ea typeface="Quattrocento Sans" pitchFamily="34" charset="-122"/>
                <a:cs typeface="Quattrocento Sans" pitchFamily="34" charset="-120"/>
              </a:rPr>
              <a:t>Qua VSCode</a:t>
            </a:r>
            <a:endParaRPr lang="en-US" sz="1600" dirty="0"/>
          </a:p>
        </p:txBody>
      </p:sp>
      <p:sp>
        <p:nvSpPr>
          <p:cNvPr id="15" name="Shape 13"/>
          <p:cNvSpPr/>
          <p:nvPr/>
        </p:nvSpPr>
        <p:spPr>
          <a:xfrm>
            <a:off x="4533900" y="4635500"/>
            <a:ext cx="3429000" cy="3302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16" name="Text 14"/>
          <p:cNvSpPr/>
          <p:nvPr/>
        </p:nvSpPr>
        <p:spPr>
          <a:xfrm>
            <a:off x="4724400" y="4826000"/>
            <a:ext cx="825500" cy="508000"/>
          </a:xfrm>
          <a:prstGeom prst="rect">
            <a:avLst/>
          </a:prstGeom>
          <a:noFill/>
          <a:ln/>
        </p:spPr>
        <p:txBody>
          <a:bodyPr wrap="none" lIns="0" tIns="0" rIns="0" bIns="0" rtlCol="0" anchor="ctr"/>
          <a:lstStyle/>
          <a:p>
            <a:pPr algn="ctr">
              <a:lnSpc>
                <a:spcPct val="100000"/>
              </a:lnSpc>
            </a:pPr>
            <a:r>
              <a:rPr lang="en-US" sz="3200" dirty="0">
                <a:solidFill>
                  <a:srgbClr val="3B82F6"/>
                </a:solidFill>
                <a:latin typeface="Liter" pitchFamily="34" charset="0"/>
                <a:ea typeface="Liter" pitchFamily="34" charset="-122"/>
                <a:cs typeface="Liter" pitchFamily="34" charset="-120"/>
              </a:rPr>
              <a:t>02</a:t>
            </a:r>
            <a:endParaRPr lang="en-US" sz="1600" dirty="0"/>
          </a:p>
        </p:txBody>
      </p:sp>
      <p:sp>
        <p:nvSpPr>
          <p:cNvPr id="17" name="Text 15"/>
          <p:cNvSpPr/>
          <p:nvPr/>
        </p:nvSpPr>
        <p:spPr>
          <a:xfrm>
            <a:off x="4724400" y="5397500"/>
            <a:ext cx="3048000" cy="355600"/>
          </a:xfrm>
          <a:prstGeom prst="rect">
            <a:avLst/>
          </a:prstGeom>
          <a:noFill/>
          <a:ln/>
        </p:spPr>
        <p:txBody>
          <a:bodyPr wrap="none" lIns="0" tIns="0" rIns="0" bIns="0" rtlCol="0" anchor="ctr"/>
          <a:lstStyle/>
          <a:p>
            <a:pPr>
              <a:lnSpc>
                <a:spcPct val="100000"/>
              </a:lnSpc>
            </a:pPr>
            <a:r>
              <a:rPr lang="en-US" sz="1600" b="1" dirty="0">
                <a:solidFill>
                  <a:srgbClr val="1B3A5C"/>
                </a:solidFill>
                <a:latin typeface="Liter" pitchFamily="34" charset="0"/>
                <a:ea typeface="Liter" pitchFamily="34" charset="-122"/>
                <a:cs typeface="Liter" pitchFamily="34" charset="-120"/>
              </a:rPr>
              <a:t>Giao </a:t>
            </a:r>
            <a:r>
              <a:rPr lang="en-US" sz="1600" b="1" dirty="0" err="1">
                <a:solidFill>
                  <a:srgbClr val="1B3A5C"/>
                </a:solidFill>
                <a:latin typeface="Liter" pitchFamily="34" charset="0"/>
                <a:ea typeface="Liter" pitchFamily="34" charset="-122"/>
                <a:cs typeface="Liter" pitchFamily="34" charset="-120"/>
              </a:rPr>
              <a:t>diện</a:t>
            </a:r>
            <a:r>
              <a:rPr lang="en-US" sz="1600" b="1" dirty="0">
                <a:solidFill>
                  <a:srgbClr val="1B3A5C"/>
                </a:solidFill>
                <a:latin typeface="Liter" pitchFamily="34" charset="0"/>
                <a:ea typeface="Liter" pitchFamily="34" charset="-122"/>
                <a:cs typeface="Liter" pitchFamily="34" charset="-120"/>
              </a:rPr>
              <a:t> </a:t>
            </a:r>
            <a:r>
              <a:rPr lang="en-US" sz="1600" b="1" dirty="0" err="1">
                <a:solidFill>
                  <a:srgbClr val="1B3A5C"/>
                </a:solidFill>
                <a:latin typeface="Liter" pitchFamily="34" charset="0"/>
                <a:ea typeface="Liter" pitchFamily="34" charset="-122"/>
                <a:cs typeface="Liter" pitchFamily="34" charset="-120"/>
              </a:rPr>
              <a:t>người</a:t>
            </a:r>
            <a:r>
              <a:rPr lang="en-US" sz="1600" b="1" dirty="0">
                <a:solidFill>
                  <a:srgbClr val="1B3A5C"/>
                </a:solidFill>
                <a:latin typeface="Liter" pitchFamily="34" charset="0"/>
                <a:ea typeface="Liter" pitchFamily="34" charset="-122"/>
                <a:cs typeface="Liter" pitchFamily="34" charset="-120"/>
              </a:rPr>
              <a:t> dùng</a:t>
            </a:r>
            <a:endParaRPr lang="en-US" sz="1600" dirty="0"/>
          </a:p>
        </p:txBody>
      </p:sp>
      <p:sp>
        <p:nvSpPr>
          <p:cNvPr id="18" name="Text 16"/>
          <p:cNvSpPr/>
          <p:nvPr/>
        </p:nvSpPr>
        <p:spPr>
          <a:xfrm>
            <a:off x="4724400" y="5816600"/>
            <a:ext cx="3048000" cy="1905000"/>
          </a:xfrm>
          <a:prstGeom prst="rect">
            <a:avLst/>
          </a:prstGeom>
          <a:noFill/>
          <a:ln/>
        </p:spPr>
        <p:txBody>
          <a:bodyPr wrap="square" lIns="0" tIns="0" rIns="0" bIns="0" rtlCol="0" anchor="t"/>
          <a:lstStyle/>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Phát triển bằng NextJS</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Framework React hiện đại</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SSR và SSG</a:t>
            </a:r>
            <a:endParaRPr lang="en-US" sz="1600" dirty="0"/>
          </a:p>
        </p:txBody>
      </p:sp>
      <p:sp>
        <p:nvSpPr>
          <p:cNvPr id="19" name="Shape 17"/>
          <p:cNvSpPr/>
          <p:nvPr/>
        </p:nvSpPr>
        <p:spPr>
          <a:xfrm>
            <a:off x="8305800" y="4635500"/>
            <a:ext cx="3429000" cy="3302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20" name="Text 18"/>
          <p:cNvSpPr/>
          <p:nvPr/>
        </p:nvSpPr>
        <p:spPr>
          <a:xfrm>
            <a:off x="8496300" y="4826000"/>
            <a:ext cx="825500" cy="508000"/>
          </a:xfrm>
          <a:prstGeom prst="rect">
            <a:avLst/>
          </a:prstGeom>
          <a:noFill/>
          <a:ln/>
        </p:spPr>
        <p:txBody>
          <a:bodyPr wrap="none" lIns="0" tIns="0" rIns="0" bIns="0" rtlCol="0" anchor="ctr"/>
          <a:lstStyle/>
          <a:p>
            <a:pPr algn="ctr">
              <a:lnSpc>
                <a:spcPct val="100000"/>
              </a:lnSpc>
            </a:pPr>
            <a:r>
              <a:rPr lang="en-US" sz="3200" dirty="0">
                <a:solidFill>
                  <a:srgbClr val="3B82F6"/>
                </a:solidFill>
                <a:latin typeface="Liter" pitchFamily="34" charset="0"/>
                <a:ea typeface="Liter" pitchFamily="34" charset="-122"/>
                <a:cs typeface="Liter" pitchFamily="34" charset="-120"/>
              </a:rPr>
              <a:t>03</a:t>
            </a:r>
            <a:endParaRPr lang="en-US" sz="1600" dirty="0"/>
          </a:p>
        </p:txBody>
      </p:sp>
      <p:sp>
        <p:nvSpPr>
          <p:cNvPr id="21" name="Text 19"/>
          <p:cNvSpPr/>
          <p:nvPr/>
        </p:nvSpPr>
        <p:spPr>
          <a:xfrm>
            <a:off x="8496300" y="5397500"/>
            <a:ext cx="3048000" cy="355600"/>
          </a:xfrm>
          <a:prstGeom prst="rect">
            <a:avLst/>
          </a:prstGeom>
          <a:noFill/>
          <a:ln/>
        </p:spPr>
        <p:txBody>
          <a:bodyPr wrap="none" lIns="0" tIns="0" rIns="0" bIns="0" rtlCol="0" anchor="ctr"/>
          <a:lstStyle/>
          <a:p>
            <a:pPr>
              <a:lnSpc>
                <a:spcPct val="100000"/>
              </a:lnSpc>
            </a:pPr>
            <a:r>
              <a:rPr lang="en-US" sz="1600" b="1" dirty="0">
                <a:solidFill>
                  <a:srgbClr val="1B3A5C"/>
                </a:solidFill>
                <a:latin typeface="Liter" pitchFamily="34" charset="0"/>
                <a:ea typeface="Liter" pitchFamily="34" charset="-122"/>
                <a:cs typeface="Liter" pitchFamily="34" charset="-120"/>
              </a:rPr>
              <a:t>Kết nối Blockchain</a:t>
            </a:r>
            <a:endParaRPr lang="en-US" sz="1600" dirty="0"/>
          </a:p>
        </p:txBody>
      </p:sp>
      <p:sp>
        <p:nvSpPr>
          <p:cNvPr id="22" name="Text 20"/>
          <p:cNvSpPr/>
          <p:nvPr/>
        </p:nvSpPr>
        <p:spPr>
          <a:xfrm>
            <a:off x="8496300" y="5816600"/>
            <a:ext cx="3048000" cy="1905000"/>
          </a:xfrm>
          <a:prstGeom prst="rect">
            <a:avLst/>
          </a:prstGeom>
          <a:noFill/>
          <a:ln/>
        </p:spPr>
        <p:txBody>
          <a:bodyPr wrap="square" lIns="0" tIns="0" rIns="0" bIns="0" rtlCol="0" anchor="t"/>
          <a:lstStyle/>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Ví MetaMask</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Thư viện ethers.js</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Tương tác với Smart Contract</a:t>
            </a:r>
            <a:endParaRPr lang="en-US" sz="1600" dirty="0"/>
          </a:p>
        </p:txBody>
      </p:sp>
      <p:sp>
        <p:nvSpPr>
          <p:cNvPr id="23" name="Shape 21"/>
          <p:cNvSpPr/>
          <p:nvPr/>
        </p:nvSpPr>
        <p:spPr>
          <a:xfrm>
            <a:off x="12077700" y="4635500"/>
            <a:ext cx="3429000" cy="3302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24" name="Text 22"/>
          <p:cNvSpPr/>
          <p:nvPr/>
        </p:nvSpPr>
        <p:spPr>
          <a:xfrm>
            <a:off x="12268200" y="4826000"/>
            <a:ext cx="825500" cy="508000"/>
          </a:xfrm>
          <a:prstGeom prst="rect">
            <a:avLst/>
          </a:prstGeom>
          <a:noFill/>
          <a:ln/>
        </p:spPr>
        <p:txBody>
          <a:bodyPr wrap="none" lIns="0" tIns="0" rIns="0" bIns="0" rtlCol="0" anchor="ctr"/>
          <a:lstStyle/>
          <a:p>
            <a:pPr algn="ctr">
              <a:lnSpc>
                <a:spcPct val="100000"/>
              </a:lnSpc>
            </a:pPr>
            <a:r>
              <a:rPr lang="en-US" sz="3200" dirty="0">
                <a:solidFill>
                  <a:srgbClr val="3B82F6"/>
                </a:solidFill>
                <a:latin typeface="Liter" pitchFamily="34" charset="0"/>
                <a:ea typeface="Liter" pitchFamily="34" charset="-122"/>
                <a:cs typeface="Liter" pitchFamily="34" charset="-120"/>
              </a:rPr>
              <a:t>04</a:t>
            </a:r>
            <a:endParaRPr lang="en-US" sz="1600" dirty="0"/>
          </a:p>
        </p:txBody>
      </p:sp>
      <p:sp>
        <p:nvSpPr>
          <p:cNvPr id="25" name="Text 23"/>
          <p:cNvSpPr/>
          <p:nvPr/>
        </p:nvSpPr>
        <p:spPr>
          <a:xfrm>
            <a:off x="12268200" y="5397500"/>
            <a:ext cx="3048000" cy="355600"/>
          </a:xfrm>
          <a:prstGeom prst="rect">
            <a:avLst/>
          </a:prstGeom>
          <a:noFill/>
          <a:ln/>
        </p:spPr>
        <p:txBody>
          <a:bodyPr wrap="none" lIns="0" tIns="0" rIns="0" bIns="0" rtlCol="0" anchor="ctr"/>
          <a:lstStyle/>
          <a:p>
            <a:pPr>
              <a:lnSpc>
                <a:spcPct val="100000"/>
              </a:lnSpc>
            </a:pPr>
            <a:r>
              <a:rPr lang="en-US" sz="1600" b="1" dirty="0">
                <a:solidFill>
                  <a:srgbClr val="1B3A5C"/>
                </a:solidFill>
                <a:latin typeface="Liter" pitchFamily="34" charset="0"/>
                <a:ea typeface="Liter" pitchFamily="34" charset="-122"/>
                <a:cs typeface="Liter" pitchFamily="34" charset="-120"/>
              </a:rPr>
              <a:t>Triển khai</a:t>
            </a:r>
            <a:endParaRPr lang="en-US" sz="1600" dirty="0"/>
          </a:p>
        </p:txBody>
      </p:sp>
      <p:sp>
        <p:nvSpPr>
          <p:cNvPr id="26" name="Text 24"/>
          <p:cNvSpPr/>
          <p:nvPr/>
        </p:nvSpPr>
        <p:spPr>
          <a:xfrm>
            <a:off x="12268200" y="5816600"/>
            <a:ext cx="3048000" cy="1905000"/>
          </a:xfrm>
          <a:prstGeom prst="rect">
            <a:avLst/>
          </a:prstGeom>
          <a:noFill/>
          <a:ln/>
        </p:spPr>
        <p:txBody>
          <a:bodyPr wrap="square" lIns="0" tIns="0" rIns="0" bIns="0" rtlCol="0" anchor="t"/>
          <a:lstStyle/>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Sepolia Testnet</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Hardhat framework</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Infura RPC provider</a:t>
            </a:r>
            <a:endParaRPr lang="en-US" sz="1600" dirty="0"/>
          </a:p>
        </p:txBody>
      </p:sp>
      <p:sp>
        <p:nvSpPr>
          <p:cNvPr id="27" name="Text 25"/>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400" dirty="0">
                <a:solidFill>
                  <a:srgbClr val="64748B"/>
                </a:solidFill>
                <a:latin typeface="QuattrocentoSans" pitchFamily="34" charset="0"/>
                <a:ea typeface="QuattrocentoSans" pitchFamily="34" charset="-122"/>
                <a:cs typeface="QuattrocentoSans" pitchFamily="34" charset="-120"/>
              </a:rPr>
              <a:t>16</a:t>
            </a:r>
            <a:endParaRPr lang="en-US" sz="14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B3A5C"/>
          </a:solidFill>
          <a:ln/>
        </p:spPr>
      </p:sp>
      <p:sp>
        <p:nvSpPr>
          <p:cNvPr id="3" name="Text 1"/>
          <p:cNvSpPr/>
          <p:nvPr/>
        </p:nvSpPr>
        <p:spPr>
          <a:xfrm>
            <a:off x="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94A3B8"/>
                </a:solidFill>
                <a:latin typeface="Liter" pitchFamily="34" charset="0"/>
                <a:ea typeface="Liter" pitchFamily="34" charset="-122"/>
                <a:cs typeface="Liter" pitchFamily="34" charset="-120"/>
              </a:rPr>
              <a:t>PHÂN TÍCH VÀ THIẾT KẾ</a:t>
            </a:r>
            <a:endParaRPr lang="en-US" sz="1300" dirty="0"/>
          </a:p>
        </p:txBody>
      </p:sp>
      <p:sp>
        <p:nvSpPr>
          <p:cNvPr id="4" name="Text 2"/>
          <p:cNvSpPr/>
          <p:nvPr/>
        </p:nvSpPr>
        <p:spPr>
          <a:xfrm>
            <a:off x="812800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FFFFFF"/>
                </a:solidFill>
                <a:latin typeface="Liter" pitchFamily="34" charset="0"/>
                <a:ea typeface="Liter" pitchFamily="34" charset="-122"/>
                <a:cs typeface="Liter" pitchFamily="34" charset="-120"/>
              </a:rPr>
              <a:t>XÂY DỰNG VÀ TRIỂN KHAI</a:t>
            </a:r>
            <a:endParaRPr lang="en-US" sz="1300" dirty="0"/>
          </a:p>
        </p:txBody>
      </p:sp>
      <p:sp>
        <p:nvSpPr>
          <p:cNvPr id="5" name="Shape 3"/>
          <p:cNvSpPr/>
          <p:nvPr/>
        </p:nvSpPr>
        <p:spPr>
          <a:xfrm>
            <a:off x="8128000" y="558800"/>
            <a:ext cx="8128000" cy="50800"/>
          </a:xfrm>
          <a:prstGeom prst="rect">
            <a:avLst/>
          </a:prstGeom>
          <a:solidFill>
            <a:srgbClr val="3B82F6"/>
          </a:solidFill>
          <a:ln/>
        </p:spPr>
      </p:sp>
      <p:sp>
        <p:nvSpPr>
          <p:cNvPr id="6" name="Shape 4"/>
          <p:cNvSpPr/>
          <p:nvPr/>
        </p:nvSpPr>
        <p:spPr>
          <a:xfrm>
            <a:off x="762000" y="863600"/>
            <a:ext cx="63500" cy="406400"/>
          </a:xfrm>
          <a:prstGeom prst="rect">
            <a:avLst/>
          </a:prstGeom>
          <a:solidFill>
            <a:srgbClr val="3B82F6"/>
          </a:solidFill>
          <a:ln/>
        </p:spPr>
      </p:sp>
      <p:sp>
        <p:nvSpPr>
          <p:cNvPr id="7" name="Text 5"/>
          <p:cNvSpPr/>
          <p:nvPr/>
        </p:nvSpPr>
        <p:spPr>
          <a:xfrm>
            <a:off x="990600" y="825500"/>
            <a:ext cx="10160000" cy="482600"/>
          </a:xfrm>
          <a:prstGeom prst="rect">
            <a:avLst/>
          </a:prstGeom>
          <a:noFill/>
          <a:ln/>
        </p:spPr>
        <p:txBody>
          <a:bodyPr wrap="none" lIns="0" tIns="0" rIns="0" bIns="0" rtlCol="0" anchor="ctr"/>
          <a:lstStyle/>
          <a:p>
            <a:pPr>
              <a:lnSpc>
                <a:spcPct val="130000"/>
              </a:lnSpc>
            </a:pPr>
            <a:r>
              <a:rPr lang="en-US" sz="2800" dirty="0">
                <a:solidFill>
                  <a:srgbClr val="1B3A5C"/>
                </a:solidFill>
                <a:latin typeface="Liter" pitchFamily="34" charset="0"/>
                <a:ea typeface="Liter" pitchFamily="34" charset="-122"/>
                <a:cs typeface="Liter" pitchFamily="34" charset="-120"/>
              </a:rPr>
              <a:t>3.2 Xây dựng Smart Contract</a:t>
            </a:r>
            <a:endParaRPr lang="en-US" sz="2800" dirty="0"/>
          </a:p>
        </p:txBody>
      </p:sp>
      <p:sp>
        <p:nvSpPr>
          <p:cNvPr id="8" name="Shape 6"/>
          <p:cNvSpPr/>
          <p:nvPr/>
        </p:nvSpPr>
        <p:spPr>
          <a:xfrm>
            <a:off x="762000" y="1587500"/>
            <a:ext cx="7175500" cy="3556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9" name="Shape 7"/>
          <p:cNvSpPr/>
          <p:nvPr/>
        </p:nvSpPr>
        <p:spPr>
          <a:xfrm>
            <a:off x="1073150" y="1803400"/>
            <a:ext cx="342900" cy="457200"/>
          </a:xfrm>
          <a:custGeom>
            <a:avLst/>
            <a:gdLst/>
            <a:ahLst/>
            <a:cxnLst/>
            <a:rect l="l" t="t" r="r" b="b"/>
            <a:pathLst>
              <a:path w="342900" h="457200">
                <a:moveTo>
                  <a:pt x="0" y="57150"/>
                </a:moveTo>
                <a:cubicBezTo>
                  <a:pt x="0" y="25628"/>
                  <a:pt x="25628" y="0"/>
                  <a:pt x="57150" y="0"/>
                </a:cubicBezTo>
                <a:lnTo>
                  <a:pt x="190649" y="0"/>
                </a:lnTo>
                <a:cubicBezTo>
                  <a:pt x="205829" y="0"/>
                  <a:pt x="220385" y="5983"/>
                  <a:pt x="231100" y="16699"/>
                </a:cubicBezTo>
                <a:lnTo>
                  <a:pt x="326201" y="111889"/>
                </a:lnTo>
                <a:cubicBezTo>
                  <a:pt x="336917" y="122605"/>
                  <a:pt x="342900" y="137160"/>
                  <a:pt x="342900" y="152340"/>
                </a:cubicBezTo>
                <a:lnTo>
                  <a:pt x="342900" y="400050"/>
                </a:lnTo>
                <a:cubicBezTo>
                  <a:pt x="342900" y="431572"/>
                  <a:pt x="317272" y="457200"/>
                  <a:pt x="285750" y="457200"/>
                </a:cubicBezTo>
                <a:lnTo>
                  <a:pt x="57150" y="457200"/>
                </a:lnTo>
                <a:cubicBezTo>
                  <a:pt x="25628" y="457200"/>
                  <a:pt x="0" y="431572"/>
                  <a:pt x="0" y="400050"/>
                </a:cubicBezTo>
                <a:lnTo>
                  <a:pt x="0" y="57150"/>
                </a:lnTo>
                <a:close/>
                <a:moveTo>
                  <a:pt x="185738" y="52239"/>
                </a:moveTo>
                <a:lnTo>
                  <a:pt x="185738" y="135731"/>
                </a:lnTo>
                <a:cubicBezTo>
                  <a:pt x="185738" y="147608"/>
                  <a:pt x="195292" y="157163"/>
                  <a:pt x="207169" y="157163"/>
                </a:cubicBezTo>
                <a:lnTo>
                  <a:pt x="290661" y="157163"/>
                </a:lnTo>
                <a:lnTo>
                  <a:pt x="185738" y="52239"/>
                </a:lnTo>
                <a:close/>
                <a:moveTo>
                  <a:pt x="137696" y="263962"/>
                </a:moveTo>
                <a:cubicBezTo>
                  <a:pt x="145375" y="254943"/>
                  <a:pt x="144393" y="241459"/>
                  <a:pt x="135374" y="233779"/>
                </a:cubicBezTo>
                <a:cubicBezTo>
                  <a:pt x="126355" y="226100"/>
                  <a:pt x="112871" y="227082"/>
                  <a:pt x="105192" y="236101"/>
                </a:cubicBezTo>
                <a:lnTo>
                  <a:pt x="62329" y="286107"/>
                </a:lnTo>
                <a:cubicBezTo>
                  <a:pt x="55453" y="294144"/>
                  <a:pt x="55453" y="305931"/>
                  <a:pt x="62329" y="313968"/>
                </a:cubicBezTo>
                <a:lnTo>
                  <a:pt x="105192" y="363974"/>
                </a:lnTo>
                <a:cubicBezTo>
                  <a:pt x="112871" y="372993"/>
                  <a:pt x="126444" y="373975"/>
                  <a:pt x="135374" y="366296"/>
                </a:cubicBezTo>
                <a:cubicBezTo>
                  <a:pt x="144304" y="358616"/>
                  <a:pt x="145375" y="345043"/>
                  <a:pt x="137696" y="336113"/>
                </a:cubicBezTo>
                <a:lnTo>
                  <a:pt x="106799" y="300038"/>
                </a:lnTo>
                <a:lnTo>
                  <a:pt x="137696" y="263962"/>
                </a:lnTo>
                <a:close/>
                <a:moveTo>
                  <a:pt x="237708" y="236101"/>
                </a:moveTo>
                <a:cubicBezTo>
                  <a:pt x="230029" y="227082"/>
                  <a:pt x="216456" y="226100"/>
                  <a:pt x="207526" y="233779"/>
                </a:cubicBezTo>
                <a:cubicBezTo>
                  <a:pt x="198596" y="241459"/>
                  <a:pt x="197525" y="255032"/>
                  <a:pt x="205204" y="263962"/>
                </a:cubicBezTo>
                <a:lnTo>
                  <a:pt x="236101" y="300038"/>
                </a:lnTo>
                <a:lnTo>
                  <a:pt x="205204" y="336113"/>
                </a:lnTo>
                <a:cubicBezTo>
                  <a:pt x="197525" y="345132"/>
                  <a:pt x="198507" y="358616"/>
                  <a:pt x="207526" y="366296"/>
                </a:cubicBezTo>
                <a:cubicBezTo>
                  <a:pt x="216545" y="373975"/>
                  <a:pt x="230029" y="372993"/>
                  <a:pt x="237708" y="363974"/>
                </a:cubicBezTo>
                <a:lnTo>
                  <a:pt x="280571" y="313968"/>
                </a:lnTo>
                <a:cubicBezTo>
                  <a:pt x="287447" y="305931"/>
                  <a:pt x="287447" y="294144"/>
                  <a:pt x="280571" y="286107"/>
                </a:cubicBezTo>
                <a:lnTo>
                  <a:pt x="237708" y="236101"/>
                </a:lnTo>
                <a:close/>
              </a:path>
            </a:pathLst>
          </a:custGeom>
          <a:solidFill>
            <a:srgbClr val="3B82F6"/>
          </a:solidFill>
          <a:ln/>
        </p:spPr>
      </p:sp>
      <p:sp>
        <p:nvSpPr>
          <p:cNvPr id="10" name="Text 8"/>
          <p:cNvSpPr/>
          <p:nvPr/>
        </p:nvSpPr>
        <p:spPr>
          <a:xfrm>
            <a:off x="1625600" y="1778000"/>
            <a:ext cx="6032500" cy="457200"/>
          </a:xfrm>
          <a:prstGeom prst="rect">
            <a:avLst/>
          </a:prstGeom>
          <a:noFill/>
          <a:ln/>
        </p:spPr>
        <p:txBody>
          <a:bodyPr wrap="none" lIns="0" tIns="0" rIns="0" bIns="0" rtlCol="0" anchor="ctr"/>
          <a:lstStyle/>
          <a:p>
            <a:pPr>
              <a:lnSpc>
                <a:spcPct val="100000"/>
              </a:lnSpc>
            </a:pPr>
            <a:r>
              <a:rPr lang="en-US" sz="2000" b="1" dirty="0">
                <a:solidFill>
                  <a:srgbClr val="1B3A5C"/>
                </a:solidFill>
                <a:latin typeface="Liter" pitchFamily="34" charset="0"/>
                <a:ea typeface="Liter" pitchFamily="34" charset="-122"/>
                <a:cs typeface="Liter" pitchFamily="34" charset="-120"/>
              </a:rPr>
              <a:t>Ngôn ngữ Solidity</a:t>
            </a:r>
            <a:endParaRPr lang="en-US" sz="1600" dirty="0"/>
          </a:p>
        </p:txBody>
      </p:sp>
      <p:sp>
        <p:nvSpPr>
          <p:cNvPr id="11" name="Shape 9"/>
          <p:cNvSpPr/>
          <p:nvPr/>
        </p:nvSpPr>
        <p:spPr>
          <a:xfrm>
            <a:off x="1016000" y="2349500"/>
            <a:ext cx="6667500" cy="12700"/>
          </a:xfrm>
          <a:prstGeom prst="rect">
            <a:avLst/>
          </a:prstGeom>
          <a:solidFill>
            <a:srgbClr val="E2E8F0"/>
          </a:solidFill>
          <a:ln/>
        </p:spPr>
      </p:sp>
      <p:sp>
        <p:nvSpPr>
          <p:cNvPr id="12" name="Text 10"/>
          <p:cNvSpPr/>
          <p:nvPr/>
        </p:nvSpPr>
        <p:spPr>
          <a:xfrm>
            <a:off x="1016000" y="2514600"/>
            <a:ext cx="6667500" cy="2413000"/>
          </a:xfrm>
          <a:prstGeom prst="rect">
            <a:avLst/>
          </a:prstGeom>
          <a:noFill/>
          <a:ln/>
        </p:spPr>
        <p:txBody>
          <a:bodyPr wrap="square" lIns="0" tIns="0" rIns="0" bIns="0" rtlCol="0" anchor="t"/>
          <a:lstStyle/>
          <a:p>
            <a:pPr>
              <a:lnSpc>
                <a:spcPct val="180000"/>
              </a:lnSpc>
            </a:pPr>
            <a:r>
              <a:rPr lang="en-US" sz="1600" dirty="0">
                <a:solidFill>
                  <a:srgbClr val="1E293B"/>
                </a:solidFill>
                <a:latin typeface="QuattrocentoSans" pitchFamily="34" charset="0"/>
                <a:ea typeface="QuattrocentoSans" pitchFamily="34" charset="-122"/>
                <a:cs typeface="QuattrocentoSans" pitchFamily="34" charset="-120"/>
              </a:rPr>
              <a:t>• Ngôn ngữ lập trình </a:t>
            </a:r>
            <a:r>
              <a:rPr lang="en-US" sz="1600" b="1" dirty="0">
                <a:solidFill>
                  <a:srgbClr val="1E293B"/>
                </a:solidFill>
                <a:latin typeface="QuattrocentoSans" pitchFamily="34" charset="0"/>
                <a:ea typeface="QuattrocentoSans" pitchFamily="34" charset="-122"/>
                <a:cs typeface="QuattrocentoSans" pitchFamily="34" charset="-120"/>
              </a:rPr>
              <a:t>hướng đối tượng</a:t>
            </a:r>
            <a:endParaRPr lang="en-US" sz="1800" dirty="0"/>
          </a:p>
          <a:p>
            <a:pPr>
              <a:lnSpc>
                <a:spcPct val="180000"/>
              </a:lnSpc>
            </a:pPr>
            <a:r>
              <a:rPr lang="en-US" sz="1600" dirty="0">
                <a:solidFill>
                  <a:srgbClr val="1E293B"/>
                </a:solidFill>
                <a:latin typeface="QuattrocentoSans" pitchFamily="34" charset="0"/>
                <a:ea typeface="QuattrocentoSans" pitchFamily="34" charset="-122"/>
                <a:cs typeface="QuattrocentoSans" pitchFamily="34" charset="-120"/>
              </a:rPr>
              <a:t>• Thiết kế chuyên biệt cho </a:t>
            </a:r>
            <a:r>
              <a:rPr lang="en-US" sz="1600" b="1" dirty="0">
                <a:solidFill>
                  <a:srgbClr val="1E293B"/>
                </a:solidFill>
                <a:latin typeface="QuattrocentoSans" pitchFamily="34" charset="0"/>
                <a:ea typeface="QuattrocentoSans" pitchFamily="34" charset="-122"/>
                <a:cs typeface="QuattrocentoSans" pitchFamily="34" charset="-120"/>
              </a:rPr>
              <a:t>Smart Contract</a:t>
            </a:r>
            <a:r>
              <a:rPr lang="en-US" sz="1600" dirty="0">
                <a:solidFill>
                  <a:srgbClr val="1E293B"/>
                </a:solidFill>
                <a:latin typeface="QuattrocentoSans" pitchFamily="34" charset="0"/>
                <a:ea typeface="QuattrocentoSans" pitchFamily="34" charset="-122"/>
                <a:cs typeface="QuattrocentoSans" pitchFamily="34" charset="-120"/>
              </a:rPr>
              <a:t> trên Ethereum</a:t>
            </a:r>
            <a:endParaRPr lang="en-US" sz="1800" dirty="0"/>
          </a:p>
          <a:p>
            <a:pPr>
              <a:lnSpc>
                <a:spcPct val="180000"/>
              </a:lnSpc>
            </a:pPr>
            <a:r>
              <a:rPr lang="en-US" sz="1600" dirty="0">
                <a:solidFill>
                  <a:srgbClr val="1E293B"/>
                </a:solidFill>
                <a:latin typeface="QuattrocentoSans" pitchFamily="34" charset="0"/>
                <a:ea typeface="QuattrocentoSans" pitchFamily="34" charset="-122"/>
                <a:cs typeface="QuattrocentoSans" pitchFamily="34" charset="-120"/>
              </a:rPr>
              <a:t>• Định nghĩa cấu trúc dữ liệu, hàm xử lý</a:t>
            </a:r>
            <a:endParaRPr lang="en-US" sz="1800" dirty="0"/>
          </a:p>
          <a:p>
            <a:pPr>
              <a:lnSpc>
                <a:spcPct val="180000"/>
              </a:lnSpc>
            </a:pPr>
            <a:r>
              <a:rPr lang="en-US" sz="1600" dirty="0">
                <a:solidFill>
                  <a:srgbClr val="1E293B"/>
                </a:solidFill>
                <a:latin typeface="QuattrocentoSans" pitchFamily="34" charset="0"/>
                <a:ea typeface="QuattrocentoSans" pitchFamily="34" charset="-122"/>
                <a:cs typeface="QuattrocentoSans" pitchFamily="34" charset="-120"/>
              </a:rPr>
              <a:t>• Kiểm soát luồng giao dịch trên Blockchain</a:t>
            </a:r>
            <a:endParaRPr lang="en-US" sz="1800" dirty="0"/>
          </a:p>
        </p:txBody>
      </p:sp>
      <p:sp>
        <p:nvSpPr>
          <p:cNvPr id="13" name="Shape 11"/>
          <p:cNvSpPr/>
          <p:nvPr/>
        </p:nvSpPr>
        <p:spPr>
          <a:xfrm>
            <a:off x="8318500" y="1587500"/>
            <a:ext cx="7175500" cy="3556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14" name="Shape 12"/>
          <p:cNvSpPr/>
          <p:nvPr/>
        </p:nvSpPr>
        <p:spPr>
          <a:xfrm>
            <a:off x="8572500" y="1803400"/>
            <a:ext cx="457200" cy="457200"/>
          </a:xfrm>
          <a:custGeom>
            <a:avLst/>
            <a:gdLst/>
            <a:ahLst/>
            <a:cxnLst/>
            <a:rect l="l" t="t" r="r" b="b"/>
            <a:pathLst>
              <a:path w="457200" h="457200">
                <a:moveTo>
                  <a:pt x="157163" y="50006"/>
                </a:moveTo>
                <a:lnTo>
                  <a:pt x="157163" y="85725"/>
                </a:lnTo>
                <a:lnTo>
                  <a:pt x="300038" y="85725"/>
                </a:lnTo>
                <a:lnTo>
                  <a:pt x="300038" y="50006"/>
                </a:lnTo>
                <a:cubicBezTo>
                  <a:pt x="300038" y="46077"/>
                  <a:pt x="296823" y="42863"/>
                  <a:pt x="292894" y="42863"/>
                </a:cubicBezTo>
                <a:lnTo>
                  <a:pt x="164306" y="42863"/>
                </a:lnTo>
                <a:cubicBezTo>
                  <a:pt x="160377" y="42863"/>
                  <a:pt x="157163" y="46077"/>
                  <a:pt x="157163" y="50006"/>
                </a:cubicBezTo>
                <a:close/>
                <a:moveTo>
                  <a:pt x="114300" y="85725"/>
                </a:moveTo>
                <a:lnTo>
                  <a:pt x="114300" y="50006"/>
                </a:lnTo>
                <a:cubicBezTo>
                  <a:pt x="114300" y="22414"/>
                  <a:pt x="136714" y="0"/>
                  <a:pt x="164306" y="0"/>
                </a:cubicBezTo>
                <a:lnTo>
                  <a:pt x="292894" y="0"/>
                </a:lnTo>
                <a:cubicBezTo>
                  <a:pt x="320486" y="0"/>
                  <a:pt x="342900" y="22414"/>
                  <a:pt x="342900" y="50006"/>
                </a:cubicBezTo>
                <a:lnTo>
                  <a:pt x="342900" y="85725"/>
                </a:lnTo>
                <a:lnTo>
                  <a:pt x="367992" y="85725"/>
                </a:lnTo>
                <a:cubicBezTo>
                  <a:pt x="379333" y="85725"/>
                  <a:pt x="390227" y="90279"/>
                  <a:pt x="398264" y="98316"/>
                </a:cubicBezTo>
                <a:lnTo>
                  <a:pt x="444609" y="144661"/>
                </a:lnTo>
                <a:cubicBezTo>
                  <a:pt x="452646" y="152698"/>
                  <a:pt x="457200" y="163592"/>
                  <a:pt x="457200" y="174933"/>
                </a:cubicBezTo>
                <a:lnTo>
                  <a:pt x="457200" y="242888"/>
                </a:lnTo>
                <a:lnTo>
                  <a:pt x="335756" y="242888"/>
                </a:lnTo>
                <a:lnTo>
                  <a:pt x="335756" y="228600"/>
                </a:lnTo>
                <a:cubicBezTo>
                  <a:pt x="335756" y="216724"/>
                  <a:pt x="326201" y="207169"/>
                  <a:pt x="314325" y="207169"/>
                </a:cubicBezTo>
                <a:cubicBezTo>
                  <a:pt x="302449" y="207169"/>
                  <a:pt x="292894" y="216724"/>
                  <a:pt x="292894" y="228600"/>
                </a:cubicBezTo>
                <a:lnTo>
                  <a:pt x="292894" y="242888"/>
                </a:lnTo>
                <a:lnTo>
                  <a:pt x="164306" y="242888"/>
                </a:lnTo>
                <a:lnTo>
                  <a:pt x="164306" y="228600"/>
                </a:lnTo>
                <a:cubicBezTo>
                  <a:pt x="164306" y="216724"/>
                  <a:pt x="154751" y="207169"/>
                  <a:pt x="142875" y="207169"/>
                </a:cubicBezTo>
                <a:cubicBezTo>
                  <a:pt x="130999" y="207169"/>
                  <a:pt x="121444" y="216724"/>
                  <a:pt x="121444" y="228600"/>
                </a:cubicBezTo>
                <a:lnTo>
                  <a:pt x="121444" y="242888"/>
                </a:lnTo>
                <a:lnTo>
                  <a:pt x="0" y="242888"/>
                </a:lnTo>
                <a:lnTo>
                  <a:pt x="0" y="174933"/>
                </a:lnTo>
                <a:cubicBezTo>
                  <a:pt x="0" y="163592"/>
                  <a:pt x="4554" y="152698"/>
                  <a:pt x="12591" y="144661"/>
                </a:cubicBezTo>
                <a:lnTo>
                  <a:pt x="58936" y="98316"/>
                </a:lnTo>
                <a:cubicBezTo>
                  <a:pt x="66973" y="90279"/>
                  <a:pt x="77867" y="85725"/>
                  <a:pt x="89208" y="85725"/>
                </a:cubicBezTo>
                <a:lnTo>
                  <a:pt x="114300" y="85725"/>
                </a:lnTo>
                <a:close/>
                <a:moveTo>
                  <a:pt x="0" y="371475"/>
                </a:moveTo>
                <a:lnTo>
                  <a:pt x="0" y="285750"/>
                </a:lnTo>
                <a:lnTo>
                  <a:pt x="121444" y="285750"/>
                </a:lnTo>
                <a:lnTo>
                  <a:pt x="121444" y="300038"/>
                </a:lnTo>
                <a:cubicBezTo>
                  <a:pt x="121444" y="311914"/>
                  <a:pt x="130999" y="321469"/>
                  <a:pt x="142875" y="321469"/>
                </a:cubicBezTo>
                <a:cubicBezTo>
                  <a:pt x="154751" y="321469"/>
                  <a:pt x="164306" y="311914"/>
                  <a:pt x="164306" y="300038"/>
                </a:cubicBezTo>
                <a:lnTo>
                  <a:pt x="164306" y="285750"/>
                </a:lnTo>
                <a:lnTo>
                  <a:pt x="292894" y="285750"/>
                </a:lnTo>
                <a:lnTo>
                  <a:pt x="292894" y="300038"/>
                </a:lnTo>
                <a:cubicBezTo>
                  <a:pt x="292894" y="311914"/>
                  <a:pt x="302449" y="321469"/>
                  <a:pt x="314325" y="321469"/>
                </a:cubicBezTo>
                <a:cubicBezTo>
                  <a:pt x="326201" y="321469"/>
                  <a:pt x="335756" y="311914"/>
                  <a:pt x="335756" y="300038"/>
                </a:cubicBezTo>
                <a:lnTo>
                  <a:pt x="335756" y="285750"/>
                </a:lnTo>
                <a:lnTo>
                  <a:pt x="457200" y="285750"/>
                </a:lnTo>
                <a:lnTo>
                  <a:pt x="457200" y="371475"/>
                </a:lnTo>
                <a:cubicBezTo>
                  <a:pt x="457200" y="402997"/>
                  <a:pt x="431572" y="428625"/>
                  <a:pt x="400050" y="428625"/>
                </a:cubicBezTo>
                <a:lnTo>
                  <a:pt x="57150" y="428625"/>
                </a:lnTo>
                <a:cubicBezTo>
                  <a:pt x="25628" y="428625"/>
                  <a:pt x="0" y="402997"/>
                  <a:pt x="0" y="371475"/>
                </a:cubicBezTo>
                <a:close/>
              </a:path>
            </a:pathLst>
          </a:custGeom>
          <a:solidFill>
            <a:srgbClr val="3B82F6"/>
          </a:solidFill>
          <a:ln/>
        </p:spPr>
      </p:sp>
      <p:sp>
        <p:nvSpPr>
          <p:cNvPr id="15" name="Text 13"/>
          <p:cNvSpPr/>
          <p:nvPr/>
        </p:nvSpPr>
        <p:spPr>
          <a:xfrm>
            <a:off x="9182100" y="1778000"/>
            <a:ext cx="6032500" cy="457200"/>
          </a:xfrm>
          <a:prstGeom prst="rect">
            <a:avLst/>
          </a:prstGeom>
          <a:noFill/>
          <a:ln/>
        </p:spPr>
        <p:txBody>
          <a:bodyPr wrap="none" lIns="0" tIns="0" rIns="0" bIns="0" rtlCol="0" anchor="ctr"/>
          <a:lstStyle/>
          <a:p>
            <a:pPr>
              <a:lnSpc>
                <a:spcPct val="100000"/>
              </a:lnSpc>
            </a:pPr>
            <a:r>
              <a:rPr lang="en-US" sz="2000" b="1" dirty="0">
                <a:solidFill>
                  <a:srgbClr val="1B3A5C"/>
                </a:solidFill>
                <a:latin typeface="Liter" pitchFamily="34" charset="0"/>
                <a:ea typeface="Liter" pitchFamily="34" charset="-122"/>
                <a:cs typeface="Liter" pitchFamily="34" charset="-120"/>
              </a:rPr>
              <a:t>Hardhat Framework</a:t>
            </a:r>
            <a:endParaRPr lang="en-US" sz="1600" dirty="0"/>
          </a:p>
        </p:txBody>
      </p:sp>
      <p:sp>
        <p:nvSpPr>
          <p:cNvPr id="16" name="Shape 14"/>
          <p:cNvSpPr/>
          <p:nvPr/>
        </p:nvSpPr>
        <p:spPr>
          <a:xfrm>
            <a:off x="8572500" y="2349500"/>
            <a:ext cx="6667500" cy="12700"/>
          </a:xfrm>
          <a:prstGeom prst="rect">
            <a:avLst/>
          </a:prstGeom>
          <a:solidFill>
            <a:srgbClr val="E2E8F0"/>
          </a:solidFill>
          <a:ln/>
        </p:spPr>
      </p:sp>
      <p:sp>
        <p:nvSpPr>
          <p:cNvPr id="17" name="Text 15"/>
          <p:cNvSpPr/>
          <p:nvPr/>
        </p:nvSpPr>
        <p:spPr>
          <a:xfrm>
            <a:off x="8572500" y="2514600"/>
            <a:ext cx="6667500" cy="2413000"/>
          </a:xfrm>
          <a:prstGeom prst="rect">
            <a:avLst/>
          </a:prstGeom>
          <a:noFill/>
          <a:ln/>
        </p:spPr>
        <p:txBody>
          <a:bodyPr wrap="square" lIns="0" tIns="0" rIns="0" bIns="0" rtlCol="0" anchor="t"/>
          <a:lstStyle/>
          <a:p>
            <a:pPr>
              <a:lnSpc>
                <a:spcPct val="180000"/>
              </a:lnSpc>
            </a:pPr>
            <a:r>
              <a:rPr lang="en-US" sz="1600" dirty="0">
                <a:solidFill>
                  <a:srgbClr val="1E293B"/>
                </a:solidFill>
                <a:latin typeface="QuattrocentoSans" pitchFamily="34" charset="0"/>
                <a:ea typeface="QuattrocentoSans" pitchFamily="34" charset="-122"/>
                <a:cs typeface="QuattrocentoSans" pitchFamily="34" charset="-120"/>
              </a:rPr>
              <a:t>• Hỗ trợ </a:t>
            </a:r>
            <a:r>
              <a:rPr lang="en-US" sz="1600" b="1" dirty="0">
                <a:solidFill>
                  <a:srgbClr val="1E293B"/>
                </a:solidFill>
                <a:latin typeface="QuattrocentoSans" pitchFamily="34" charset="0"/>
                <a:ea typeface="QuattrocentoSans" pitchFamily="34" charset="-122"/>
                <a:cs typeface="QuattrocentoSans" pitchFamily="34" charset="-120"/>
              </a:rPr>
              <a:t>biên dịch</a:t>
            </a:r>
            <a:r>
              <a:rPr lang="en-US" sz="1600" dirty="0">
                <a:solidFill>
                  <a:srgbClr val="1E293B"/>
                </a:solidFill>
                <a:latin typeface="QuattrocentoSans" pitchFamily="34" charset="0"/>
                <a:ea typeface="QuattrocentoSans" pitchFamily="34" charset="-122"/>
                <a:cs typeface="QuattrocentoSans" pitchFamily="34" charset="-120"/>
              </a:rPr>
              <a:t> Smart Contract</a:t>
            </a:r>
            <a:endParaRPr lang="en-US" sz="1800" dirty="0"/>
          </a:p>
          <a:p>
            <a:pPr>
              <a:lnSpc>
                <a:spcPct val="180000"/>
              </a:lnSpc>
            </a:pPr>
            <a:r>
              <a:rPr lang="en-US" sz="1600" dirty="0">
                <a:solidFill>
                  <a:srgbClr val="1E293B"/>
                </a:solidFill>
                <a:latin typeface="QuattrocentoSans" pitchFamily="34" charset="0"/>
                <a:ea typeface="QuattrocentoSans" pitchFamily="34" charset="-122"/>
                <a:cs typeface="QuattrocentoSans" pitchFamily="34" charset="-120"/>
              </a:rPr>
              <a:t>• </a:t>
            </a:r>
            <a:r>
              <a:rPr lang="en-US" sz="1600" b="1" dirty="0">
                <a:solidFill>
                  <a:srgbClr val="1E293B"/>
                </a:solidFill>
                <a:latin typeface="QuattrocentoSans" pitchFamily="34" charset="0"/>
                <a:ea typeface="QuattrocentoSans" pitchFamily="34" charset="-122"/>
                <a:cs typeface="QuattrocentoSans" pitchFamily="34" charset="-120"/>
              </a:rPr>
              <a:t>Kiểm thử</a:t>
            </a:r>
            <a:r>
              <a:rPr lang="en-US" sz="1600" dirty="0">
                <a:solidFill>
                  <a:srgbClr val="1E293B"/>
                </a:solidFill>
                <a:latin typeface="QuattrocentoSans" pitchFamily="34" charset="0"/>
                <a:ea typeface="QuattrocentoSans" pitchFamily="34" charset="-122"/>
                <a:cs typeface="QuattrocentoSans" pitchFamily="34" charset="-120"/>
              </a:rPr>
              <a:t> và debug hiệu quả</a:t>
            </a:r>
            <a:endParaRPr lang="en-US" sz="1800" dirty="0"/>
          </a:p>
          <a:p>
            <a:pPr>
              <a:lnSpc>
                <a:spcPct val="180000"/>
              </a:lnSpc>
            </a:pPr>
            <a:r>
              <a:rPr lang="en-US" sz="1600" dirty="0">
                <a:solidFill>
                  <a:srgbClr val="1E293B"/>
                </a:solidFill>
                <a:latin typeface="QuattrocentoSans" pitchFamily="34" charset="0"/>
                <a:ea typeface="QuattrocentoSans" pitchFamily="34" charset="-122"/>
                <a:cs typeface="QuattrocentoSans" pitchFamily="34" charset="-120"/>
              </a:rPr>
              <a:t>• </a:t>
            </a:r>
            <a:r>
              <a:rPr lang="en-US" sz="1600" b="1" dirty="0">
                <a:solidFill>
                  <a:srgbClr val="1E293B"/>
                </a:solidFill>
                <a:latin typeface="QuattrocentoSans" pitchFamily="34" charset="0"/>
                <a:ea typeface="QuattrocentoSans" pitchFamily="34" charset="-122"/>
                <a:cs typeface="QuattrocentoSans" pitchFamily="34" charset="-120"/>
              </a:rPr>
              <a:t>Triển khai</a:t>
            </a:r>
            <a:r>
              <a:rPr lang="en-US" sz="1600" dirty="0">
                <a:solidFill>
                  <a:srgbClr val="1E293B"/>
                </a:solidFill>
                <a:latin typeface="QuattrocentoSans" pitchFamily="34" charset="0"/>
                <a:ea typeface="QuattrocentoSans" pitchFamily="34" charset="-122"/>
                <a:cs typeface="QuattrocentoSans" pitchFamily="34" charset="-120"/>
              </a:rPr>
              <a:t> lên mạng Ethereum</a:t>
            </a:r>
            <a:endParaRPr lang="en-US" sz="1800" dirty="0"/>
          </a:p>
          <a:p>
            <a:pPr>
              <a:lnSpc>
                <a:spcPct val="180000"/>
              </a:lnSpc>
            </a:pPr>
            <a:r>
              <a:rPr lang="en-US" sz="1600" dirty="0">
                <a:solidFill>
                  <a:srgbClr val="1E293B"/>
                </a:solidFill>
                <a:latin typeface="QuattrocentoSans" pitchFamily="34" charset="0"/>
                <a:ea typeface="QuattrocentoSans" pitchFamily="34" charset="-122"/>
                <a:cs typeface="QuattrocentoSans" pitchFamily="34" charset="-120"/>
              </a:rPr>
              <a:t>• Tích hợp </a:t>
            </a:r>
            <a:r>
              <a:rPr lang="en-US" sz="1600" b="1" dirty="0">
                <a:solidFill>
                  <a:srgbClr val="1E293B"/>
                </a:solidFill>
                <a:latin typeface="QuattrocentoSans" pitchFamily="34" charset="0"/>
                <a:ea typeface="QuattrocentoSans" pitchFamily="34" charset="-122"/>
                <a:cs typeface="QuattrocentoSans" pitchFamily="34" charset="-120"/>
              </a:rPr>
              <a:t>Ethers.js</a:t>
            </a:r>
            <a:r>
              <a:rPr lang="en-US" sz="1600" dirty="0">
                <a:solidFill>
                  <a:srgbClr val="1E293B"/>
                </a:solidFill>
                <a:latin typeface="QuattrocentoSans" pitchFamily="34" charset="0"/>
                <a:ea typeface="QuattrocentoSans" pitchFamily="34" charset="-122"/>
                <a:cs typeface="QuattrocentoSans" pitchFamily="34" charset="-120"/>
              </a:rPr>
              <a:t> tương tác blockchain</a:t>
            </a:r>
            <a:endParaRPr lang="en-US" sz="1800" dirty="0"/>
          </a:p>
        </p:txBody>
      </p:sp>
      <p:sp>
        <p:nvSpPr>
          <p:cNvPr id="18" name="Shape 16"/>
          <p:cNvSpPr/>
          <p:nvPr/>
        </p:nvSpPr>
        <p:spPr>
          <a:xfrm>
            <a:off x="762000" y="5461000"/>
            <a:ext cx="14732000" cy="2794000"/>
          </a:xfrm>
          <a:prstGeom prst="roundRect">
            <a:avLst>
              <a:gd name="adj" fmla="val 6000"/>
            </a:avLst>
          </a:prstGeom>
          <a:solidFill>
            <a:srgbClr val="1B3A5C"/>
          </a:solidFill>
          <a:ln/>
          <a:effectLst>
            <a:outerShdw blurRad="152400" dist="50800" dir="5400000" algn="bl" rotWithShape="0">
              <a:srgbClr val="000000">
                <a:alpha val="12549"/>
              </a:srgbClr>
            </a:outerShdw>
          </a:effectLst>
        </p:spPr>
      </p:sp>
      <p:sp>
        <p:nvSpPr>
          <p:cNvPr id="19" name="Shape 17"/>
          <p:cNvSpPr/>
          <p:nvPr/>
        </p:nvSpPr>
        <p:spPr>
          <a:xfrm>
            <a:off x="1079500" y="5778500"/>
            <a:ext cx="635000" cy="508000"/>
          </a:xfrm>
          <a:custGeom>
            <a:avLst/>
            <a:gdLst/>
            <a:ahLst/>
            <a:cxnLst/>
            <a:rect l="l" t="t" r="r" b="b"/>
            <a:pathLst>
              <a:path w="635000" h="508000">
                <a:moveTo>
                  <a:pt x="63500" y="95250"/>
                </a:moveTo>
                <a:cubicBezTo>
                  <a:pt x="63500" y="60226"/>
                  <a:pt x="91976" y="31750"/>
                  <a:pt x="127000" y="31750"/>
                </a:cubicBezTo>
                <a:lnTo>
                  <a:pt x="508000" y="31750"/>
                </a:lnTo>
                <a:cubicBezTo>
                  <a:pt x="543024" y="31750"/>
                  <a:pt x="571500" y="60226"/>
                  <a:pt x="571500" y="95250"/>
                </a:cubicBezTo>
                <a:lnTo>
                  <a:pt x="571500" y="333375"/>
                </a:lnTo>
                <a:lnTo>
                  <a:pt x="508000" y="333375"/>
                </a:lnTo>
                <a:lnTo>
                  <a:pt x="508000" y="95250"/>
                </a:lnTo>
                <a:lnTo>
                  <a:pt x="127000" y="95250"/>
                </a:lnTo>
                <a:lnTo>
                  <a:pt x="127000" y="333375"/>
                </a:lnTo>
                <a:lnTo>
                  <a:pt x="63500" y="333375"/>
                </a:lnTo>
                <a:lnTo>
                  <a:pt x="63500" y="95250"/>
                </a:lnTo>
                <a:close/>
                <a:moveTo>
                  <a:pt x="0" y="400050"/>
                </a:moveTo>
                <a:cubicBezTo>
                  <a:pt x="0" y="389533"/>
                  <a:pt x="8533" y="381000"/>
                  <a:pt x="19050" y="381000"/>
                </a:cubicBezTo>
                <a:lnTo>
                  <a:pt x="615950" y="381000"/>
                </a:lnTo>
                <a:cubicBezTo>
                  <a:pt x="626467" y="381000"/>
                  <a:pt x="635000" y="389533"/>
                  <a:pt x="635000" y="400050"/>
                </a:cubicBezTo>
                <a:cubicBezTo>
                  <a:pt x="635000" y="442119"/>
                  <a:pt x="600869" y="476250"/>
                  <a:pt x="558800" y="476250"/>
                </a:cubicBezTo>
                <a:lnTo>
                  <a:pt x="76200" y="476250"/>
                </a:lnTo>
                <a:cubicBezTo>
                  <a:pt x="34131" y="476250"/>
                  <a:pt x="0" y="442119"/>
                  <a:pt x="0" y="400050"/>
                </a:cubicBezTo>
                <a:close/>
                <a:moveTo>
                  <a:pt x="278805" y="207367"/>
                </a:moveTo>
                <a:lnTo>
                  <a:pt x="248047" y="238125"/>
                </a:lnTo>
                <a:lnTo>
                  <a:pt x="278805" y="268883"/>
                </a:lnTo>
                <a:cubicBezTo>
                  <a:pt x="288131" y="278209"/>
                  <a:pt x="288131" y="293291"/>
                  <a:pt x="278805" y="302518"/>
                </a:cubicBezTo>
                <a:cubicBezTo>
                  <a:pt x="269478" y="311745"/>
                  <a:pt x="254397" y="311845"/>
                  <a:pt x="245170" y="302518"/>
                </a:cubicBezTo>
                <a:lnTo>
                  <a:pt x="197545" y="254893"/>
                </a:lnTo>
                <a:cubicBezTo>
                  <a:pt x="188218" y="245566"/>
                  <a:pt x="188218" y="230485"/>
                  <a:pt x="197545" y="221258"/>
                </a:cubicBezTo>
                <a:lnTo>
                  <a:pt x="245170" y="173633"/>
                </a:lnTo>
                <a:cubicBezTo>
                  <a:pt x="254496" y="164306"/>
                  <a:pt x="269577" y="164306"/>
                  <a:pt x="278805" y="173633"/>
                </a:cubicBezTo>
                <a:cubicBezTo>
                  <a:pt x="288032" y="182959"/>
                  <a:pt x="288131" y="198041"/>
                  <a:pt x="278805" y="207268"/>
                </a:cubicBezTo>
                <a:close/>
                <a:moveTo>
                  <a:pt x="389930" y="173633"/>
                </a:moveTo>
                <a:lnTo>
                  <a:pt x="437555" y="221258"/>
                </a:lnTo>
                <a:cubicBezTo>
                  <a:pt x="446881" y="230584"/>
                  <a:pt x="446881" y="245666"/>
                  <a:pt x="437555" y="254893"/>
                </a:cubicBezTo>
                <a:lnTo>
                  <a:pt x="389930" y="302518"/>
                </a:lnTo>
                <a:cubicBezTo>
                  <a:pt x="380603" y="311845"/>
                  <a:pt x="365522" y="311845"/>
                  <a:pt x="356295" y="302518"/>
                </a:cubicBezTo>
                <a:cubicBezTo>
                  <a:pt x="347067" y="293191"/>
                  <a:pt x="346968" y="278110"/>
                  <a:pt x="356295" y="268883"/>
                </a:cubicBezTo>
                <a:lnTo>
                  <a:pt x="387052" y="238125"/>
                </a:lnTo>
                <a:lnTo>
                  <a:pt x="356295" y="207367"/>
                </a:lnTo>
                <a:cubicBezTo>
                  <a:pt x="346968" y="198041"/>
                  <a:pt x="346968" y="182959"/>
                  <a:pt x="356295" y="173732"/>
                </a:cubicBezTo>
                <a:cubicBezTo>
                  <a:pt x="365621" y="164505"/>
                  <a:pt x="380702" y="164405"/>
                  <a:pt x="389930" y="173732"/>
                </a:cubicBezTo>
                <a:close/>
              </a:path>
            </a:pathLst>
          </a:custGeom>
          <a:solidFill>
            <a:srgbClr val="3B82F6"/>
          </a:solidFill>
          <a:ln/>
        </p:spPr>
      </p:sp>
      <p:sp>
        <p:nvSpPr>
          <p:cNvPr id="20" name="Text 18"/>
          <p:cNvSpPr/>
          <p:nvPr/>
        </p:nvSpPr>
        <p:spPr>
          <a:xfrm>
            <a:off x="1841500" y="5778500"/>
            <a:ext cx="5080000" cy="508000"/>
          </a:xfrm>
          <a:prstGeom prst="rect">
            <a:avLst/>
          </a:prstGeom>
          <a:noFill/>
          <a:ln/>
        </p:spPr>
        <p:txBody>
          <a:bodyPr wrap="none" lIns="0" tIns="0" rIns="0" bIns="0" rtlCol="0" anchor="ctr"/>
          <a:lstStyle/>
          <a:p>
            <a:pPr>
              <a:lnSpc>
                <a:spcPct val="100000"/>
              </a:lnSpc>
            </a:pPr>
            <a:r>
              <a:rPr lang="en-US" sz="2200" b="1" dirty="0">
                <a:solidFill>
                  <a:srgbClr val="FFFFFF"/>
                </a:solidFill>
                <a:latin typeface="Liter" pitchFamily="34" charset="0"/>
                <a:ea typeface="Liter" pitchFamily="34" charset="-122"/>
                <a:cs typeface="Liter" pitchFamily="34" charset="-120"/>
              </a:rPr>
              <a:t>Môi trường phát triển</a:t>
            </a:r>
            <a:endParaRPr lang="en-US" sz="1600" dirty="0"/>
          </a:p>
        </p:txBody>
      </p:sp>
      <p:sp>
        <p:nvSpPr>
          <p:cNvPr id="21" name="Text 19"/>
          <p:cNvSpPr/>
          <p:nvPr/>
        </p:nvSpPr>
        <p:spPr>
          <a:xfrm>
            <a:off x="1143000" y="6477000"/>
            <a:ext cx="13970000" cy="1524000"/>
          </a:xfrm>
          <a:prstGeom prst="rect">
            <a:avLst/>
          </a:prstGeom>
          <a:noFill/>
          <a:ln/>
        </p:spPr>
        <p:txBody>
          <a:bodyPr wrap="square" lIns="0" tIns="0" rIns="0" bIns="0" rtlCol="0" anchor="t"/>
          <a:lstStyle/>
          <a:p>
            <a:pPr>
              <a:lnSpc>
                <a:spcPct val="180000"/>
              </a:lnSpc>
            </a:pPr>
            <a:r>
              <a:rPr lang="en-US" sz="1600" dirty="0">
                <a:solidFill>
                  <a:srgbClr val="FFFFFF">
                    <a:alpha val="80000"/>
                  </a:srgbClr>
                </a:solidFill>
                <a:latin typeface="Quattrocento Sans" pitchFamily="34" charset="0"/>
                <a:ea typeface="Quattrocento Sans" pitchFamily="34" charset="-122"/>
                <a:cs typeface="Quattrocento Sans" pitchFamily="34" charset="-120"/>
              </a:rPr>
              <a:t>• </a:t>
            </a:r>
            <a:r>
              <a:rPr lang="en-US" sz="1600" b="1" dirty="0">
                <a:solidFill>
                  <a:srgbClr val="FFFFFF">
                    <a:alpha val="80000"/>
                  </a:srgbClr>
                </a:solidFill>
                <a:latin typeface="Quattrocento Sans" pitchFamily="34" charset="0"/>
                <a:ea typeface="Quattrocento Sans" pitchFamily="34" charset="-122"/>
                <a:cs typeface="Quattrocento Sans" pitchFamily="34" charset="-120"/>
              </a:rPr>
              <a:t>Visual Studio Code</a:t>
            </a:r>
            <a:r>
              <a:rPr lang="en-US" sz="1600" dirty="0">
                <a:solidFill>
                  <a:srgbClr val="FFFFFF">
                    <a:alpha val="80000"/>
                  </a:srgbClr>
                </a:solidFill>
                <a:latin typeface="Quattrocento Sans" pitchFamily="34" charset="0"/>
                <a:ea typeface="Quattrocento Sans" pitchFamily="34" charset="-122"/>
                <a:cs typeface="Quattrocento Sans" pitchFamily="34" charset="-120"/>
              </a:rPr>
              <a:t> - Tăng tính linh hoạt, quản lý mã nguồn hiệu quả</a:t>
            </a:r>
            <a:endParaRPr lang="en-US" sz="1600" dirty="0"/>
          </a:p>
          <a:p>
            <a:pPr>
              <a:lnSpc>
                <a:spcPct val="180000"/>
              </a:lnSpc>
            </a:pPr>
            <a:r>
              <a:rPr lang="en-US" sz="1600" dirty="0">
                <a:solidFill>
                  <a:srgbClr val="FFFFFF">
                    <a:alpha val="80000"/>
                  </a:srgbClr>
                </a:solidFill>
                <a:latin typeface="Quattrocento Sans" pitchFamily="34" charset="0"/>
                <a:ea typeface="Quattrocento Sans" pitchFamily="34" charset="-122"/>
                <a:cs typeface="Quattrocento Sans" pitchFamily="34" charset="-120"/>
              </a:rPr>
              <a:t>• Các </a:t>
            </a:r>
            <a:r>
              <a:rPr lang="en-US" sz="1600" b="1" dirty="0">
                <a:solidFill>
                  <a:srgbClr val="FFFFFF">
                    <a:alpha val="80000"/>
                  </a:srgbClr>
                </a:solidFill>
                <a:latin typeface="Quattrocento Sans" pitchFamily="34" charset="0"/>
                <a:ea typeface="Quattrocento Sans" pitchFamily="34" charset="-122"/>
                <a:cs typeface="Quattrocento Sans" pitchFamily="34" charset="-120"/>
              </a:rPr>
              <a:t>extension hỗ trợ</a:t>
            </a:r>
            <a:r>
              <a:rPr lang="en-US" sz="1600" dirty="0">
                <a:solidFill>
                  <a:srgbClr val="FFFFFF">
                    <a:alpha val="80000"/>
                  </a:srgbClr>
                </a:solidFill>
                <a:latin typeface="Quattrocento Sans" pitchFamily="34" charset="0"/>
                <a:ea typeface="Quattrocento Sans" pitchFamily="34" charset="-122"/>
                <a:cs typeface="Quattrocento Sans" pitchFamily="34" charset="-120"/>
              </a:rPr>
              <a:t> lập trình Solidity và JavaScript/TypeScript</a:t>
            </a:r>
            <a:endParaRPr lang="en-US" sz="1600" dirty="0"/>
          </a:p>
          <a:p>
            <a:pPr>
              <a:lnSpc>
                <a:spcPct val="180000"/>
              </a:lnSpc>
            </a:pPr>
            <a:r>
              <a:rPr lang="en-US" sz="1600" dirty="0">
                <a:solidFill>
                  <a:srgbClr val="FFFFFF">
                    <a:alpha val="80000"/>
                  </a:srgbClr>
                </a:solidFill>
                <a:latin typeface="Quattrocento Sans" pitchFamily="34" charset="0"/>
                <a:ea typeface="Quattrocento Sans" pitchFamily="34" charset="-122"/>
                <a:cs typeface="Quattrocento Sans" pitchFamily="34" charset="-120"/>
              </a:rPr>
              <a:t>• Tích hợp </a:t>
            </a:r>
            <a:r>
              <a:rPr lang="en-US" sz="1600" b="1" dirty="0">
                <a:solidFill>
                  <a:srgbClr val="FFFFFF">
                    <a:alpha val="80000"/>
                  </a:srgbClr>
                </a:solidFill>
                <a:latin typeface="Quattrocento Sans" pitchFamily="34" charset="0"/>
                <a:ea typeface="Quattrocento Sans" pitchFamily="34" charset="-122"/>
                <a:cs typeface="Quattrocento Sans" pitchFamily="34" charset="-120"/>
              </a:rPr>
              <a:t>Git</a:t>
            </a:r>
            <a:r>
              <a:rPr lang="en-US" sz="1600" dirty="0">
                <a:solidFill>
                  <a:srgbClr val="FFFFFF">
                    <a:alpha val="80000"/>
                  </a:srgbClr>
                </a:solidFill>
                <a:latin typeface="Quattrocento Sans" pitchFamily="34" charset="0"/>
                <a:ea typeface="Quattrocento Sans" pitchFamily="34" charset="-122"/>
                <a:cs typeface="Quattrocento Sans" pitchFamily="34" charset="-120"/>
              </a:rPr>
              <a:t> để làm việc nhóm và quản lý phiên bản</a:t>
            </a:r>
            <a:endParaRPr lang="en-US" sz="1600" dirty="0"/>
          </a:p>
        </p:txBody>
      </p:sp>
      <p:sp>
        <p:nvSpPr>
          <p:cNvPr id="22" name="Text 20"/>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400" dirty="0">
                <a:solidFill>
                  <a:srgbClr val="64748B"/>
                </a:solidFill>
                <a:latin typeface="QuattrocentoSans" pitchFamily="34" charset="0"/>
                <a:ea typeface="QuattrocentoSans" pitchFamily="34" charset="-122"/>
                <a:cs typeface="QuattrocentoSans" pitchFamily="34" charset="-120"/>
              </a:rPr>
              <a:t>17</a:t>
            </a:r>
            <a:endParaRPr lang="en-US" sz="14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B3A5C"/>
          </a:solidFill>
          <a:ln/>
        </p:spPr>
      </p:sp>
      <p:sp>
        <p:nvSpPr>
          <p:cNvPr id="3" name="Text 1"/>
          <p:cNvSpPr/>
          <p:nvPr/>
        </p:nvSpPr>
        <p:spPr>
          <a:xfrm>
            <a:off x="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94A3B8"/>
                </a:solidFill>
                <a:latin typeface="Liter" pitchFamily="34" charset="0"/>
                <a:ea typeface="Liter" pitchFamily="34" charset="-122"/>
                <a:cs typeface="Liter" pitchFamily="34" charset="-120"/>
              </a:rPr>
              <a:t>PHÂN TÍCH VÀ THIẾT KẾ</a:t>
            </a:r>
            <a:endParaRPr lang="en-US" sz="1300" dirty="0"/>
          </a:p>
        </p:txBody>
      </p:sp>
      <p:sp>
        <p:nvSpPr>
          <p:cNvPr id="4" name="Text 2"/>
          <p:cNvSpPr/>
          <p:nvPr/>
        </p:nvSpPr>
        <p:spPr>
          <a:xfrm>
            <a:off x="812800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FFFFFF"/>
                </a:solidFill>
                <a:latin typeface="Liter" pitchFamily="34" charset="0"/>
                <a:ea typeface="Liter" pitchFamily="34" charset="-122"/>
                <a:cs typeface="Liter" pitchFamily="34" charset="-120"/>
              </a:rPr>
              <a:t>XÂY DỰNG VÀ TRIỂN KHAI</a:t>
            </a:r>
            <a:endParaRPr lang="en-US" sz="1300" dirty="0"/>
          </a:p>
        </p:txBody>
      </p:sp>
      <p:sp>
        <p:nvSpPr>
          <p:cNvPr id="5" name="Shape 3"/>
          <p:cNvSpPr/>
          <p:nvPr/>
        </p:nvSpPr>
        <p:spPr>
          <a:xfrm>
            <a:off x="8128000" y="558800"/>
            <a:ext cx="8128000" cy="50800"/>
          </a:xfrm>
          <a:prstGeom prst="rect">
            <a:avLst/>
          </a:prstGeom>
          <a:solidFill>
            <a:srgbClr val="3B82F6"/>
          </a:solidFill>
          <a:ln/>
        </p:spPr>
      </p:sp>
      <p:sp>
        <p:nvSpPr>
          <p:cNvPr id="6" name="Shape 4"/>
          <p:cNvSpPr/>
          <p:nvPr/>
        </p:nvSpPr>
        <p:spPr>
          <a:xfrm>
            <a:off x="762000" y="863600"/>
            <a:ext cx="63500" cy="406400"/>
          </a:xfrm>
          <a:prstGeom prst="rect">
            <a:avLst/>
          </a:prstGeom>
          <a:solidFill>
            <a:srgbClr val="3B82F6"/>
          </a:solidFill>
          <a:ln/>
        </p:spPr>
      </p:sp>
      <p:sp>
        <p:nvSpPr>
          <p:cNvPr id="7" name="Text 5"/>
          <p:cNvSpPr/>
          <p:nvPr/>
        </p:nvSpPr>
        <p:spPr>
          <a:xfrm>
            <a:off x="990600" y="825500"/>
            <a:ext cx="11430000" cy="482600"/>
          </a:xfrm>
          <a:prstGeom prst="rect">
            <a:avLst/>
          </a:prstGeom>
          <a:noFill/>
          <a:ln/>
        </p:spPr>
        <p:txBody>
          <a:bodyPr wrap="none" lIns="0" tIns="0" rIns="0" bIns="0" rtlCol="0" anchor="ctr"/>
          <a:lstStyle/>
          <a:p>
            <a:pPr>
              <a:lnSpc>
                <a:spcPct val="130000"/>
              </a:lnSpc>
            </a:pPr>
            <a:r>
              <a:rPr lang="en-US" sz="2800" dirty="0">
                <a:solidFill>
                  <a:srgbClr val="1B3A5C"/>
                </a:solidFill>
                <a:latin typeface="Liter" pitchFamily="34" charset="0"/>
                <a:ea typeface="Liter" pitchFamily="34" charset="-122"/>
                <a:cs typeface="Liter" pitchFamily="34" charset="-120"/>
              </a:rPr>
              <a:t>3.2.2 Thiết kế Smart Contract Crowdfunding</a:t>
            </a:r>
            <a:endParaRPr lang="en-US" sz="2800" dirty="0"/>
          </a:p>
        </p:txBody>
      </p:sp>
      <p:sp>
        <p:nvSpPr>
          <p:cNvPr id="8" name="Shape 6"/>
          <p:cNvSpPr/>
          <p:nvPr/>
        </p:nvSpPr>
        <p:spPr>
          <a:xfrm>
            <a:off x="762000" y="1587500"/>
            <a:ext cx="4699000" cy="3556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9" name="Shape 7"/>
          <p:cNvSpPr/>
          <p:nvPr/>
        </p:nvSpPr>
        <p:spPr>
          <a:xfrm>
            <a:off x="762000" y="1587500"/>
            <a:ext cx="4699000" cy="533400"/>
          </a:xfrm>
          <a:prstGeom prst="roundRect">
            <a:avLst>
              <a:gd name="adj" fmla="val 6000"/>
            </a:avLst>
          </a:prstGeom>
          <a:solidFill>
            <a:srgbClr val="1B3A5C"/>
          </a:solidFill>
          <a:ln/>
        </p:spPr>
      </p:sp>
      <p:sp>
        <p:nvSpPr>
          <p:cNvPr id="10" name="Text 8"/>
          <p:cNvSpPr/>
          <p:nvPr/>
        </p:nvSpPr>
        <p:spPr>
          <a:xfrm>
            <a:off x="762000" y="1587500"/>
            <a:ext cx="4699000" cy="533400"/>
          </a:xfrm>
          <a:prstGeom prst="rect">
            <a:avLst/>
          </a:prstGeom>
          <a:noFill/>
          <a:ln/>
        </p:spPr>
        <p:txBody>
          <a:bodyPr wrap="none" lIns="0" tIns="0" rIns="0" bIns="0" rtlCol="0" anchor="ctr"/>
          <a:lstStyle/>
          <a:p>
            <a:pPr algn="ctr">
              <a:lnSpc>
                <a:spcPct val="100000"/>
              </a:lnSpc>
            </a:pPr>
            <a:r>
              <a:rPr lang="en-US" sz="1600" b="1" dirty="0">
                <a:solidFill>
                  <a:srgbClr val="FFFFFF"/>
                </a:solidFill>
                <a:latin typeface="Liter" pitchFamily="34" charset="0"/>
                <a:ea typeface="Liter" pitchFamily="34" charset="-122"/>
                <a:cs typeface="Liter" pitchFamily="34" charset="-120"/>
              </a:rPr>
              <a:t>Struct Campaign</a:t>
            </a:r>
            <a:endParaRPr lang="en-US" sz="1600" dirty="0"/>
          </a:p>
        </p:txBody>
      </p:sp>
      <p:sp>
        <p:nvSpPr>
          <p:cNvPr id="11" name="Text 9"/>
          <p:cNvSpPr/>
          <p:nvPr/>
        </p:nvSpPr>
        <p:spPr>
          <a:xfrm>
            <a:off x="990600" y="2286000"/>
            <a:ext cx="4254500" cy="2667000"/>
          </a:xfrm>
          <a:prstGeom prst="rect">
            <a:avLst/>
          </a:prstGeom>
          <a:noFill/>
          <a:ln/>
        </p:spPr>
        <p:txBody>
          <a:bodyPr wrap="square" lIns="0" tIns="0" rIns="0" bIns="0" rtlCol="0" anchor="t"/>
          <a:lstStyle/>
          <a:p>
            <a:pPr>
              <a:lnSpc>
                <a:spcPct val="180000"/>
              </a:lnSpc>
            </a:pPr>
            <a:r>
              <a:rPr lang="en-US" sz="1400" b="1" dirty="0">
                <a:solidFill>
                  <a:srgbClr val="3B82F6"/>
                </a:solidFill>
                <a:latin typeface="Quattrocento Sans" pitchFamily="34" charset="0"/>
                <a:ea typeface="Quattrocento Sans" pitchFamily="34" charset="-122"/>
                <a:cs typeface="Quattrocento Sans" pitchFamily="34" charset="-120"/>
              </a:rPr>
              <a:t>creator</a:t>
            </a:r>
            <a:r>
              <a:rPr lang="en-US" sz="1400" dirty="0">
                <a:solidFill>
                  <a:srgbClr val="1E293B"/>
                </a:solidFill>
                <a:latin typeface="Quattrocento Sans" pitchFamily="34" charset="0"/>
                <a:ea typeface="Quattrocento Sans" pitchFamily="34" charset="-122"/>
                <a:cs typeface="Quattrocento Sans" pitchFamily="34" charset="-120"/>
              </a:rPr>
              <a:t> - địa chỉ ví</a:t>
            </a:r>
            <a:endParaRPr lang="en-US" sz="1600" dirty="0"/>
          </a:p>
          <a:p>
            <a:pPr>
              <a:lnSpc>
                <a:spcPct val="180000"/>
              </a:lnSpc>
            </a:pPr>
            <a:r>
              <a:rPr lang="en-US" sz="1400" b="1" dirty="0">
                <a:solidFill>
                  <a:srgbClr val="3B82F6"/>
                </a:solidFill>
                <a:latin typeface="Quattrocento Sans" pitchFamily="34" charset="0"/>
                <a:ea typeface="Quattrocento Sans" pitchFamily="34" charset="-122"/>
                <a:cs typeface="Quattrocento Sans" pitchFamily="34" charset="-120"/>
              </a:rPr>
              <a:t>name</a:t>
            </a:r>
            <a:r>
              <a:rPr lang="en-US" sz="1400" dirty="0">
                <a:solidFill>
                  <a:srgbClr val="1E293B"/>
                </a:solidFill>
                <a:latin typeface="Quattrocento Sans" pitchFamily="34" charset="0"/>
                <a:ea typeface="Quattrocento Sans" pitchFamily="34" charset="-122"/>
                <a:cs typeface="Quattrocento Sans" pitchFamily="34" charset="-120"/>
              </a:rPr>
              <a:t> - tên chiến dịch</a:t>
            </a:r>
            <a:endParaRPr lang="en-US" sz="1600" dirty="0"/>
          </a:p>
          <a:p>
            <a:pPr>
              <a:lnSpc>
                <a:spcPct val="180000"/>
              </a:lnSpc>
            </a:pPr>
            <a:r>
              <a:rPr lang="en-US" sz="1400" b="1" dirty="0">
                <a:solidFill>
                  <a:srgbClr val="3B82F6"/>
                </a:solidFill>
                <a:latin typeface="Quattrocento Sans" pitchFamily="34" charset="0"/>
                <a:ea typeface="Quattrocento Sans" pitchFamily="34" charset="-122"/>
                <a:cs typeface="Quattrocento Sans" pitchFamily="34" charset="-120"/>
              </a:rPr>
              <a:t>goal</a:t>
            </a:r>
            <a:r>
              <a:rPr lang="en-US" sz="1400" dirty="0">
                <a:solidFill>
                  <a:srgbClr val="1E293B"/>
                </a:solidFill>
                <a:latin typeface="Quattrocento Sans" pitchFamily="34" charset="0"/>
                <a:ea typeface="Quattrocento Sans" pitchFamily="34" charset="-122"/>
                <a:cs typeface="Quattrocento Sans" pitchFamily="34" charset="-120"/>
              </a:rPr>
              <a:t> - mục tiêu gây quỹ</a:t>
            </a:r>
            <a:endParaRPr lang="en-US" sz="1600" dirty="0"/>
          </a:p>
          <a:p>
            <a:pPr>
              <a:lnSpc>
                <a:spcPct val="180000"/>
              </a:lnSpc>
            </a:pPr>
            <a:r>
              <a:rPr lang="en-US" sz="1400" b="1" dirty="0">
                <a:solidFill>
                  <a:srgbClr val="3B82F6"/>
                </a:solidFill>
                <a:latin typeface="Quattrocento Sans" pitchFamily="34" charset="0"/>
                <a:ea typeface="Quattrocento Sans" pitchFamily="34" charset="-122"/>
                <a:cs typeface="Quattrocento Sans" pitchFamily="34" charset="-120"/>
              </a:rPr>
              <a:t>pledged</a:t>
            </a:r>
            <a:r>
              <a:rPr lang="en-US" sz="1400" dirty="0">
                <a:solidFill>
                  <a:srgbClr val="1E293B"/>
                </a:solidFill>
                <a:latin typeface="Quattrocento Sans" pitchFamily="34" charset="0"/>
                <a:ea typeface="Quattrocento Sans" pitchFamily="34" charset="-122"/>
                <a:cs typeface="Quattrocento Sans" pitchFamily="34" charset="-120"/>
              </a:rPr>
              <a:t> - tổng tiền đã góp</a:t>
            </a:r>
            <a:endParaRPr lang="en-US" sz="1600" dirty="0"/>
          </a:p>
          <a:p>
            <a:pPr>
              <a:lnSpc>
                <a:spcPct val="180000"/>
              </a:lnSpc>
            </a:pPr>
            <a:r>
              <a:rPr lang="en-US" sz="1400" b="1" dirty="0">
                <a:solidFill>
                  <a:srgbClr val="3B82F6"/>
                </a:solidFill>
                <a:latin typeface="Quattrocento Sans" pitchFamily="34" charset="0"/>
                <a:ea typeface="Quattrocento Sans" pitchFamily="34" charset="-122"/>
                <a:cs typeface="Quattrocento Sans" pitchFamily="34" charset="-120"/>
              </a:rPr>
              <a:t>deadline</a:t>
            </a:r>
            <a:r>
              <a:rPr lang="en-US" sz="1400" dirty="0">
                <a:solidFill>
                  <a:srgbClr val="1E293B"/>
                </a:solidFill>
                <a:latin typeface="Quattrocento Sans" pitchFamily="34" charset="0"/>
                <a:ea typeface="Quattrocento Sans" pitchFamily="34" charset="-122"/>
                <a:cs typeface="Quattrocento Sans" pitchFamily="34" charset="-120"/>
              </a:rPr>
              <a:t> - </a:t>
            </a:r>
            <a:r>
              <a:rPr lang="en-US" sz="1400" dirty="0" err="1">
                <a:solidFill>
                  <a:srgbClr val="1E293B"/>
                </a:solidFill>
                <a:latin typeface="Quattrocento Sans" pitchFamily="34" charset="0"/>
                <a:ea typeface="Quattrocento Sans" pitchFamily="34" charset="-122"/>
                <a:cs typeface="Quattrocento Sans" pitchFamily="34" charset="-120"/>
              </a:rPr>
              <a:t>thời</a:t>
            </a:r>
            <a:r>
              <a:rPr lang="en-US" sz="1400" dirty="0">
                <a:solidFill>
                  <a:srgbClr val="1E293B"/>
                </a:solidFill>
                <a:latin typeface="Quattrocento Sans" pitchFamily="34" charset="0"/>
                <a:ea typeface="Quattrocento Sans" pitchFamily="34" charset="-122"/>
                <a:cs typeface="Quattrocento Sans" pitchFamily="34" charset="-120"/>
              </a:rPr>
              <a:t> gian kết thúc</a:t>
            </a:r>
            <a:endParaRPr lang="en-US" sz="1600" dirty="0"/>
          </a:p>
          <a:p>
            <a:pPr>
              <a:lnSpc>
                <a:spcPct val="180000"/>
              </a:lnSpc>
            </a:pPr>
            <a:r>
              <a:rPr lang="en-US" sz="1400" b="1" dirty="0">
                <a:solidFill>
                  <a:srgbClr val="3B82F6"/>
                </a:solidFill>
                <a:latin typeface="Quattrocento Sans" pitchFamily="34" charset="0"/>
                <a:ea typeface="Quattrocento Sans" pitchFamily="34" charset="-122"/>
                <a:cs typeface="Quattrocento Sans" pitchFamily="34" charset="-120"/>
              </a:rPr>
              <a:t>claimed</a:t>
            </a:r>
            <a:r>
              <a:rPr lang="en-US" sz="1400" dirty="0">
                <a:solidFill>
                  <a:srgbClr val="1E293B"/>
                </a:solidFill>
                <a:latin typeface="Quattrocento Sans" pitchFamily="34" charset="0"/>
                <a:ea typeface="Quattrocento Sans" pitchFamily="34" charset="-122"/>
                <a:cs typeface="Quattrocento Sans" pitchFamily="34" charset="-120"/>
              </a:rPr>
              <a:t> - trạng thái rút tiền</a:t>
            </a:r>
            <a:endParaRPr lang="en-US" sz="1600" dirty="0"/>
          </a:p>
        </p:txBody>
      </p:sp>
      <p:sp>
        <p:nvSpPr>
          <p:cNvPr id="12" name="Shape 10"/>
          <p:cNvSpPr/>
          <p:nvPr/>
        </p:nvSpPr>
        <p:spPr>
          <a:xfrm>
            <a:off x="5778500" y="1587500"/>
            <a:ext cx="4699000" cy="3556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13" name="Shape 11"/>
          <p:cNvSpPr/>
          <p:nvPr/>
        </p:nvSpPr>
        <p:spPr>
          <a:xfrm>
            <a:off x="5778500" y="1587500"/>
            <a:ext cx="4699000" cy="533400"/>
          </a:xfrm>
          <a:prstGeom prst="roundRect">
            <a:avLst>
              <a:gd name="adj" fmla="val 6000"/>
            </a:avLst>
          </a:prstGeom>
          <a:solidFill>
            <a:srgbClr val="3B82F6"/>
          </a:solidFill>
          <a:ln/>
        </p:spPr>
      </p:sp>
      <p:sp>
        <p:nvSpPr>
          <p:cNvPr id="14" name="Text 12"/>
          <p:cNvSpPr/>
          <p:nvPr/>
        </p:nvSpPr>
        <p:spPr>
          <a:xfrm>
            <a:off x="5778500" y="1587500"/>
            <a:ext cx="4699000" cy="533400"/>
          </a:xfrm>
          <a:prstGeom prst="rect">
            <a:avLst/>
          </a:prstGeom>
          <a:noFill/>
          <a:ln/>
        </p:spPr>
        <p:txBody>
          <a:bodyPr wrap="none" lIns="0" tIns="0" rIns="0" bIns="0" rtlCol="0" anchor="ctr"/>
          <a:lstStyle/>
          <a:p>
            <a:pPr algn="ctr">
              <a:lnSpc>
                <a:spcPct val="100000"/>
              </a:lnSpc>
            </a:pPr>
            <a:r>
              <a:rPr lang="en-US" sz="1600" b="1" dirty="0">
                <a:solidFill>
                  <a:srgbClr val="FFFFFF"/>
                </a:solidFill>
                <a:latin typeface="Liter" pitchFamily="34" charset="0"/>
                <a:ea typeface="Liter" pitchFamily="34" charset="-122"/>
                <a:cs typeface="Liter" pitchFamily="34" charset="-120"/>
              </a:rPr>
              <a:t>Mapping campaigns</a:t>
            </a:r>
            <a:endParaRPr lang="en-US" sz="1600" dirty="0"/>
          </a:p>
        </p:txBody>
      </p:sp>
      <p:sp>
        <p:nvSpPr>
          <p:cNvPr id="15" name="Text 13"/>
          <p:cNvSpPr/>
          <p:nvPr/>
        </p:nvSpPr>
        <p:spPr>
          <a:xfrm>
            <a:off x="6007100" y="2286000"/>
            <a:ext cx="4254500" cy="2667000"/>
          </a:xfrm>
          <a:prstGeom prst="rect">
            <a:avLst/>
          </a:prstGeom>
          <a:noFill/>
          <a:ln/>
        </p:spPr>
        <p:txBody>
          <a:bodyPr wrap="square" lIns="0" tIns="0" rIns="0" bIns="0" rtlCol="0" anchor="t"/>
          <a:lstStyle/>
          <a:p>
            <a:pPr>
              <a:lnSpc>
                <a:spcPct val="180000"/>
              </a:lnSpc>
            </a:pPr>
            <a:r>
              <a:rPr lang="en-US" sz="1400" dirty="0">
                <a:solidFill>
                  <a:srgbClr val="1E293B"/>
                </a:solidFill>
                <a:latin typeface="Quattrocento Sans" pitchFamily="34" charset="0"/>
                <a:ea typeface="Quattrocento Sans" pitchFamily="34" charset="-122"/>
                <a:cs typeface="Quattrocento Sans" pitchFamily="34" charset="-120"/>
              </a:rPr>
              <a:t>Lưu danh sách các chiến dịch theo ID</a:t>
            </a:r>
            <a:endParaRPr lang="en-US" sz="1600" dirty="0"/>
          </a:p>
          <a:p>
            <a:pPr>
              <a:lnSpc>
                <a:spcPct val="180000"/>
              </a:lnSpc>
              <a:spcBef>
                <a:spcPts val="1200"/>
              </a:spcBef>
            </a:pPr>
            <a:r>
              <a:rPr lang="en-US" sz="1400" b="1" dirty="0">
                <a:solidFill>
                  <a:srgbClr val="1E293B"/>
                </a:solidFill>
                <a:latin typeface="Quattrocento Sans" pitchFamily="34" charset="0"/>
                <a:ea typeface="Quattrocento Sans" pitchFamily="34" charset="-122"/>
                <a:cs typeface="Quattrocento Sans" pitchFamily="34" charset="-120"/>
              </a:rPr>
              <a:t>Cấu trúc:</a:t>
            </a:r>
            <a:endParaRPr lang="en-US" sz="1600" dirty="0"/>
          </a:p>
          <a:p>
            <a:pPr>
              <a:lnSpc>
                <a:spcPct val="180000"/>
              </a:lnSpc>
            </a:pPr>
            <a:r>
              <a:rPr lang="en-US" sz="1400" dirty="0">
                <a:solidFill>
                  <a:srgbClr val="1E293B"/>
                </a:solidFill>
                <a:latin typeface="Quattrocento Sans" pitchFamily="34" charset="0"/>
                <a:ea typeface="Quattrocento Sans" pitchFamily="34" charset="-122"/>
                <a:cs typeface="Quattrocento Sans" pitchFamily="34" charset="-120"/>
              </a:rPr>
              <a:t>campaigns[id] → Campaign</a:t>
            </a:r>
            <a:endParaRPr lang="en-US" sz="1600" dirty="0"/>
          </a:p>
          <a:p>
            <a:pPr>
              <a:lnSpc>
                <a:spcPct val="180000"/>
              </a:lnSpc>
              <a:spcBef>
                <a:spcPts val="1200"/>
              </a:spcBef>
            </a:pPr>
            <a:r>
              <a:rPr lang="en-US" sz="1400" dirty="0">
                <a:solidFill>
                  <a:srgbClr val="1E293B"/>
                </a:solidFill>
                <a:latin typeface="Quattrocento Sans" pitchFamily="34" charset="0"/>
                <a:ea typeface="Quattrocento Sans" pitchFamily="34" charset="-122"/>
                <a:cs typeface="Quattrocento Sans" pitchFamily="34" charset="-120"/>
              </a:rPr>
              <a:t>Truy xuất nhanh O(1)</a:t>
            </a:r>
            <a:endParaRPr lang="en-US" sz="1600" dirty="0"/>
          </a:p>
        </p:txBody>
      </p:sp>
      <p:sp>
        <p:nvSpPr>
          <p:cNvPr id="16" name="Shape 14"/>
          <p:cNvSpPr/>
          <p:nvPr/>
        </p:nvSpPr>
        <p:spPr>
          <a:xfrm>
            <a:off x="10795000" y="1587500"/>
            <a:ext cx="4699000" cy="3556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17" name="Shape 15"/>
          <p:cNvSpPr/>
          <p:nvPr/>
        </p:nvSpPr>
        <p:spPr>
          <a:xfrm>
            <a:off x="10795000" y="1587500"/>
            <a:ext cx="4699000" cy="533400"/>
          </a:xfrm>
          <a:prstGeom prst="roundRect">
            <a:avLst>
              <a:gd name="adj" fmla="val 6000"/>
            </a:avLst>
          </a:prstGeom>
          <a:solidFill>
            <a:srgbClr val="64748B"/>
          </a:solidFill>
          <a:ln/>
        </p:spPr>
      </p:sp>
      <p:sp>
        <p:nvSpPr>
          <p:cNvPr id="18" name="Text 16"/>
          <p:cNvSpPr/>
          <p:nvPr/>
        </p:nvSpPr>
        <p:spPr>
          <a:xfrm>
            <a:off x="10795000" y="1587500"/>
            <a:ext cx="4699000" cy="533400"/>
          </a:xfrm>
          <a:prstGeom prst="rect">
            <a:avLst/>
          </a:prstGeom>
          <a:noFill/>
          <a:ln/>
        </p:spPr>
        <p:txBody>
          <a:bodyPr wrap="none" lIns="0" tIns="0" rIns="0" bIns="0" rtlCol="0" anchor="ctr"/>
          <a:lstStyle/>
          <a:p>
            <a:pPr algn="ctr">
              <a:lnSpc>
                <a:spcPct val="100000"/>
              </a:lnSpc>
            </a:pPr>
            <a:r>
              <a:rPr lang="en-US" sz="1600" b="1" dirty="0">
                <a:solidFill>
                  <a:srgbClr val="FFFFFF"/>
                </a:solidFill>
                <a:latin typeface="Liter" pitchFamily="34" charset="0"/>
                <a:ea typeface="Liter" pitchFamily="34" charset="-122"/>
                <a:cs typeface="Liter" pitchFamily="34" charset="-120"/>
              </a:rPr>
              <a:t>Mapping pledgedAmount</a:t>
            </a:r>
            <a:endParaRPr lang="en-US" sz="1600" dirty="0"/>
          </a:p>
        </p:txBody>
      </p:sp>
      <p:sp>
        <p:nvSpPr>
          <p:cNvPr id="19" name="Text 17"/>
          <p:cNvSpPr/>
          <p:nvPr/>
        </p:nvSpPr>
        <p:spPr>
          <a:xfrm>
            <a:off x="11023600" y="2286000"/>
            <a:ext cx="4254500" cy="2667000"/>
          </a:xfrm>
          <a:prstGeom prst="rect">
            <a:avLst/>
          </a:prstGeom>
          <a:noFill/>
          <a:ln/>
        </p:spPr>
        <p:txBody>
          <a:bodyPr wrap="square" lIns="0" tIns="0" rIns="0" bIns="0" rtlCol="0" anchor="t"/>
          <a:lstStyle/>
          <a:p>
            <a:pPr>
              <a:lnSpc>
                <a:spcPct val="180000"/>
              </a:lnSpc>
            </a:pPr>
            <a:r>
              <a:rPr lang="en-US" sz="1400" dirty="0">
                <a:solidFill>
                  <a:srgbClr val="1E293B"/>
                </a:solidFill>
                <a:latin typeface="Quattrocento Sans" pitchFamily="34" charset="0"/>
                <a:ea typeface="Quattrocento Sans" pitchFamily="34" charset="-122"/>
                <a:cs typeface="Quattrocento Sans" pitchFamily="34" charset="-120"/>
              </a:rPr>
              <a:t>Lưu số tiền </a:t>
            </a:r>
            <a:r>
              <a:rPr lang="en-US" sz="1400" dirty="0" err="1">
                <a:solidFill>
                  <a:srgbClr val="1E293B"/>
                </a:solidFill>
                <a:latin typeface="Quattrocento Sans" pitchFamily="34" charset="0"/>
                <a:ea typeface="Quattrocento Sans" pitchFamily="34" charset="-122"/>
                <a:cs typeface="Quattrocento Sans" pitchFamily="34" charset="-120"/>
              </a:rPr>
              <a:t>mỗi</a:t>
            </a:r>
            <a:r>
              <a:rPr lang="en-US" sz="1400" dirty="0">
                <a:solidFill>
                  <a:srgbClr val="1E293B"/>
                </a:solidFill>
                <a:latin typeface="Quattrocento Sans" pitchFamily="34" charset="0"/>
                <a:ea typeface="Quattrocento Sans" pitchFamily="34" charset="-122"/>
                <a:cs typeface="Quattrocento Sans" pitchFamily="34" charset="-120"/>
              </a:rPr>
              <a:t> </a:t>
            </a:r>
            <a:r>
              <a:rPr lang="en-US" sz="1400" dirty="0" err="1">
                <a:solidFill>
                  <a:srgbClr val="1E293B"/>
                </a:solidFill>
                <a:latin typeface="Quattrocento Sans" pitchFamily="34" charset="0"/>
                <a:ea typeface="Quattrocento Sans" pitchFamily="34" charset="-122"/>
                <a:cs typeface="Quattrocento Sans" pitchFamily="34" charset="-120"/>
              </a:rPr>
              <a:t>người</a:t>
            </a:r>
            <a:r>
              <a:rPr lang="en-US" sz="1400" dirty="0">
                <a:solidFill>
                  <a:srgbClr val="1E293B"/>
                </a:solidFill>
                <a:latin typeface="Quattrocento Sans" pitchFamily="34" charset="0"/>
                <a:ea typeface="Quattrocento Sans" pitchFamily="34" charset="-122"/>
                <a:cs typeface="Quattrocento Sans" pitchFamily="34" charset="-120"/>
              </a:rPr>
              <a:t> đã đóng góp</a:t>
            </a:r>
            <a:endParaRPr lang="en-US" sz="1600" dirty="0"/>
          </a:p>
          <a:p>
            <a:pPr>
              <a:lnSpc>
                <a:spcPct val="180000"/>
              </a:lnSpc>
              <a:spcBef>
                <a:spcPts val="1200"/>
              </a:spcBef>
            </a:pPr>
            <a:r>
              <a:rPr lang="en-US" sz="1400" b="1" dirty="0">
                <a:solidFill>
                  <a:srgbClr val="1E293B"/>
                </a:solidFill>
                <a:latin typeface="Quattrocento Sans" pitchFamily="34" charset="0"/>
                <a:ea typeface="Quattrocento Sans" pitchFamily="34" charset="-122"/>
                <a:cs typeface="Quattrocento Sans" pitchFamily="34" charset="-120"/>
              </a:rPr>
              <a:t>Cấu trúc:</a:t>
            </a:r>
            <a:endParaRPr lang="en-US" sz="1600" dirty="0"/>
          </a:p>
          <a:p>
            <a:pPr>
              <a:lnSpc>
                <a:spcPct val="180000"/>
              </a:lnSpc>
            </a:pPr>
            <a:r>
              <a:rPr lang="en-US" sz="1400" dirty="0">
                <a:solidFill>
                  <a:srgbClr val="1E293B"/>
                </a:solidFill>
                <a:latin typeface="Quattrocento Sans" pitchFamily="34" charset="0"/>
                <a:ea typeface="Quattrocento Sans" pitchFamily="34" charset="-122"/>
                <a:cs typeface="Quattrocento Sans" pitchFamily="34" charset="-120"/>
              </a:rPr>
              <a:t>pledgedAmount[user][campaignId] → amount</a:t>
            </a:r>
            <a:endParaRPr lang="en-US" sz="1600" dirty="0"/>
          </a:p>
          <a:p>
            <a:pPr>
              <a:lnSpc>
                <a:spcPct val="180000"/>
              </a:lnSpc>
              <a:spcBef>
                <a:spcPts val="1200"/>
              </a:spcBef>
            </a:pPr>
            <a:r>
              <a:rPr lang="en-US" sz="1400" dirty="0">
                <a:solidFill>
                  <a:srgbClr val="1E293B"/>
                </a:solidFill>
                <a:latin typeface="Quattrocento Sans" pitchFamily="34" charset="0"/>
                <a:ea typeface="Quattrocento Sans" pitchFamily="34" charset="-122"/>
                <a:cs typeface="Quattrocento Sans" pitchFamily="34" charset="-120"/>
              </a:rPr>
              <a:t>Mapping hai chiều</a:t>
            </a:r>
            <a:endParaRPr lang="en-US" sz="1600" dirty="0"/>
          </a:p>
        </p:txBody>
      </p:sp>
      <p:sp>
        <p:nvSpPr>
          <p:cNvPr id="20" name="Shape 18"/>
          <p:cNvSpPr/>
          <p:nvPr/>
        </p:nvSpPr>
        <p:spPr>
          <a:xfrm>
            <a:off x="762000" y="5461000"/>
            <a:ext cx="7112000" cy="1270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21" name="Shape 19"/>
          <p:cNvSpPr/>
          <p:nvPr/>
        </p:nvSpPr>
        <p:spPr>
          <a:xfrm>
            <a:off x="1016000" y="5778500"/>
            <a:ext cx="406400" cy="406400"/>
          </a:xfrm>
          <a:custGeom>
            <a:avLst/>
            <a:gdLst/>
            <a:ahLst/>
            <a:cxnLst/>
            <a:rect l="l" t="t" r="r" b="b"/>
            <a:pathLst>
              <a:path w="406400" h="406400">
                <a:moveTo>
                  <a:pt x="170418" y="556"/>
                </a:moveTo>
                <a:cubicBezTo>
                  <a:pt x="184150" y="3493"/>
                  <a:pt x="192881" y="16986"/>
                  <a:pt x="189944" y="30718"/>
                </a:cubicBezTo>
                <a:lnTo>
                  <a:pt x="174784" y="101600"/>
                </a:lnTo>
                <a:lnTo>
                  <a:pt x="275193" y="101600"/>
                </a:lnTo>
                <a:lnTo>
                  <a:pt x="292656" y="20082"/>
                </a:lnTo>
                <a:cubicBezTo>
                  <a:pt x="295592" y="6350"/>
                  <a:pt x="309086" y="-2381"/>
                  <a:pt x="322818" y="556"/>
                </a:cubicBezTo>
                <a:cubicBezTo>
                  <a:pt x="336550" y="3493"/>
                  <a:pt x="345281" y="16986"/>
                  <a:pt x="342344" y="30718"/>
                </a:cubicBezTo>
                <a:lnTo>
                  <a:pt x="327184" y="101600"/>
                </a:lnTo>
                <a:lnTo>
                  <a:pt x="381000" y="101600"/>
                </a:lnTo>
                <a:cubicBezTo>
                  <a:pt x="395049" y="101600"/>
                  <a:pt x="406400" y="112951"/>
                  <a:pt x="406400" y="127000"/>
                </a:cubicBezTo>
                <a:cubicBezTo>
                  <a:pt x="406400" y="141049"/>
                  <a:pt x="395049" y="152400"/>
                  <a:pt x="381000" y="152400"/>
                </a:cubicBezTo>
                <a:lnTo>
                  <a:pt x="316230" y="152400"/>
                </a:lnTo>
                <a:lnTo>
                  <a:pt x="294481" y="254000"/>
                </a:lnTo>
                <a:lnTo>
                  <a:pt x="348298" y="254000"/>
                </a:lnTo>
                <a:cubicBezTo>
                  <a:pt x="362347" y="254000"/>
                  <a:pt x="373698" y="265351"/>
                  <a:pt x="373698" y="279400"/>
                </a:cubicBezTo>
                <a:cubicBezTo>
                  <a:pt x="373698" y="293449"/>
                  <a:pt x="362347" y="304800"/>
                  <a:pt x="348298" y="304800"/>
                </a:cubicBezTo>
                <a:lnTo>
                  <a:pt x="283528" y="304800"/>
                </a:lnTo>
                <a:lnTo>
                  <a:pt x="266065" y="386318"/>
                </a:lnTo>
                <a:cubicBezTo>
                  <a:pt x="263128" y="400050"/>
                  <a:pt x="249634" y="408781"/>
                  <a:pt x="235903" y="405844"/>
                </a:cubicBezTo>
                <a:cubicBezTo>
                  <a:pt x="222171" y="402908"/>
                  <a:pt x="213439" y="389414"/>
                  <a:pt x="216376" y="375682"/>
                </a:cubicBezTo>
                <a:lnTo>
                  <a:pt x="231537" y="304800"/>
                </a:lnTo>
                <a:lnTo>
                  <a:pt x="131128" y="304800"/>
                </a:lnTo>
                <a:lnTo>
                  <a:pt x="113665" y="386318"/>
                </a:lnTo>
                <a:cubicBezTo>
                  <a:pt x="110728" y="400050"/>
                  <a:pt x="97234" y="408781"/>
                  <a:pt x="83503" y="405844"/>
                </a:cubicBezTo>
                <a:cubicBezTo>
                  <a:pt x="69771" y="402908"/>
                  <a:pt x="61039" y="389414"/>
                  <a:pt x="63976" y="375682"/>
                </a:cubicBezTo>
                <a:lnTo>
                  <a:pt x="79216" y="304800"/>
                </a:lnTo>
                <a:lnTo>
                  <a:pt x="25400" y="304800"/>
                </a:lnTo>
                <a:cubicBezTo>
                  <a:pt x="11351" y="304800"/>
                  <a:pt x="0" y="293449"/>
                  <a:pt x="0" y="279400"/>
                </a:cubicBezTo>
                <a:cubicBezTo>
                  <a:pt x="0" y="265351"/>
                  <a:pt x="11351" y="254000"/>
                  <a:pt x="25400" y="254000"/>
                </a:cubicBezTo>
                <a:lnTo>
                  <a:pt x="90170" y="254000"/>
                </a:lnTo>
                <a:lnTo>
                  <a:pt x="111919" y="152400"/>
                </a:lnTo>
                <a:lnTo>
                  <a:pt x="58103" y="152400"/>
                </a:lnTo>
                <a:cubicBezTo>
                  <a:pt x="44053" y="152400"/>
                  <a:pt x="32703" y="141049"/>
                  <a:pt x="32703" y="127000"/>
                </a:cubicBezTo>
                <a:cubicBezTo>
                  <a:pt x="32703" y="112951"/>
                  <a:pt x="44053" y="101600"/>
                  <a:pt x="58103" y="101600"/>
                </a:cubicBezTo>
                <a:lnTo>
                  <a:pt x="122873" y="101600"/>
                </a:lnTo>
                <a:lnTo>
                  <a:pt x="140335" y="20082"/>
                </a:lnTo>
                <a:cubicBezTo>
                  <a:pt x="143193" y="6350"/>
                  <a:pt x="156686" y="-2381"/>
                  <a:pt x="170418" y="556"/>
                </a:cubicBezTo>
                <a:close/>
                <a:moveTo>
                  <a:pt x="163830" y="152400"/>
                </a:moveTo>
                <a:lnTo>
                  <a:pt x="142081" y="254000"/>
                </a:lnTo>
                <a:lnTo>
                  <a:pt x="242491" y="254000"/>
                </a:lnTo>
                <a:lnTo>
                  <a:pt x="264239" y="152400"/>
                </a:lnTo>
                <a:lnTo>
                  <a:pt x="163830" y="152400"/>
                </a:lnTo>
                <a:close/>
              </a:path>
            </a:pathLst>
          </a:custGeom>
          <a:solidFill>
            <a:srgbClr val="3B82F6"/>
          </a:solidFill>
          <a:ln/>
        </p:spPr>
      </p:sp>
      <p:sp>
        <p:nvSpPr>
          <p:cNvPr id="22" name="Text 20"/>
          <p:cNvSpPr/>
          <p:nvPr/>
        </p:nvSpPr>
        <p:spPr>
          <a:xfrm>
            <a:off x="1587500" y="5651500"/>
            <a:ext cx="6032500" cy="889000"/>
          </a:xfrm>
          <a:prstGeom prst="rect">
            <a:avLst/>
          </a:prstGeom>
          <a:noFill/>
          <a:ln/>
        </p:spPr>
        <p:txBody>
          <a:bodyPr wrap="square" lIns="0" tIns="0" rIns="0" bIns="0" rtlCol="0" anchor="ctr"/>
          <a:lstStyle/>
          <a:p>
            <a:pPr>
              <a:lnSpc>
                <a:spcPct val="160000"/>
              </a:lnSpc>
            </a:pPr>
            <a:r>
              <a:rPr lang="en-US" sz="1600" b="1" dirty="0">
                <a:solidFill>
                  <a:srgbClr val="1E293B"/>
                </a:solidFill>
                <a:latin typeface="Quattrocento Sans" pitchFamily="34" charset="0"/>
                <a:ea typeface="Quattrocento Sans" pitchFamily="34" charset="-122"/>
                <a:cs typeface="Quattrocento Sans" pitchFamily="34" charset="-120"/>
              </a:rPr>
              <a:t>Biến đếm count:</a:t>
            </a:r>
            <a:r>
              <a:rPr lang="en-US" sz="1600" dirty="0">
                <a:solidFill>
                  <a:srgbClr val="1E293B"/>
                </a:solidFill>
                <a:latin typeface="Quattrocento Sans" pitchFamily="34" charset="0"/>
                <a:ea typeface="Quattrocento Sans" pitchFamily="34" charset="-122"/>
                <a:cs typeface="Quattrocento Sans" pitchFamily="34" charset="-120"/>
              </a:rPr>
              <a:t> Lưu tổng số chiến dịch đã tạo, đồng thờii dùng để sinh ID tự tăng.</a:t>
            </a:r>
            <a:endParaRPr lang="en-US" sz="1600" dirty="0"/>
          </a:p>
        </p:txBody>
      </p:sp>
      <p:sp>
        <p:nvSpPr>
          <p:cNvPr id="23" name="Shape 21"/>
          <p:cNvSpPr/>
          <p:nvPr/>
        </p:nvSpPr>
        <p:spPr>
          <a:xfrm>
            <a:off x="8318500" y="5461000"/>
            <a:ext cx="7175500" cy="1270000"/>
          </a:xfrm>
          <a:prstGeom prst="roundRect">
            <a:avLst>
              <a:gd name="adj" fmla="val 6000"/>
            </a:avLst>
          </a:prstGeom>
          <a:solidFill>
            <a:srgbClr val="3B82F6">
              <a:alpha val="5098"/>
            </a:srgbClr>
          </a:solidFill>
          <a:ln w="12700">
            <a:solidFill>
              <a:srgbClr val="3B82F6">
                <a:alpha val="12549"/>
              </a:srgbClr>
            </a:solidFill>
            <a:prstDash val="solid"/>
          </a:ln>
        </p:spPr>
      </p:sp>
      <p:sp>
        <p:nvSpPr>
          <p:cNvPr id="24" name="Shape 22"/>
          <p:cNvSpPr/>
          <p:nvPr/>
        </p:nvSpPr>
        <p:spPr>
          <a:xfrm>
            <a:off x="8623300" y="5778500"/>
            <a:ext cx="304800" cy="406400"/>
          </a:xfrm>
          <a:custGeom>
            <a:avLst/>
            <a:gdLst/>
            <a:ahLst/>
            <a:cxnLst/>
            <a:rect l="l" t="t" r="r" b="b"/>
            <a:pathLst>
              <a:path w="304800" h="406400">
                <a:moveTo>
                  <a:pt x="232489" y="304800"/>
                </a:moveTo>
                <a:cubicBezTo>
                  <a:pt x="238284" y="287099"/>
                  <a:pt x="249872" y="271066"/>
                  <a:pt x="262969" y="257254"/>
                </a:cubicBezTo>
                <a:cubicBezTo>
                  <a:pt x="288925" y="229949"/>
                  <a:pt x="304800" y="193040"/>
                  <a:pt x="304800" y="152400"/>
                </a:cubicBezTo>
                <a:cubicBezTo>
                  <a:pt x="304800" y="68263"/>
                  <a:pt x="236537" y="0"/>
                  <a:pt x="152400" y="0"/>
                </a:cubicBezTo>
                <a:cubicBezTo>
                  <a:pt x="68262" y="0"/>
                  <a:pt x="0" y="68263"/>
                  <a:pt x="0" y="152400"/>
                </a:cubicBezTo>
                <a:cubicBezTo>
                  <a:pt x="0" y="193040"/>
                  <a:pt x="15875" y="229949"/>
                  <a:pt x="41831" y="257254"/>
                </a:cubicBezTo>
                <a:cubicBezTo>
                  <a:pt x="54928" y="271066"/>
                  <a:pt x="66596" y="287099"/>
                  <a:pt x="72311" y="304800"/>
                </a:cubicBezTo>
                <a:lnTo>
                  <a:pt x="232410" y="304800"/>
                </a:lnTo>
                <a:close/>
                <a:moveTo>
                  <a:pt x="228600" y="342900"/>
                </a:moveTo>
                <a:lnTo>
                  <a:pt x="76200" y="342900"/>
                </a:lnTo>
                <a:lnTo>
                  <a:pt x="76200" y="355600"/>
                </a:lnTo>
                <a:cubicBezTo>
                  <a:pt x="76200" y="390684"/>
                  <a:pt x="104616" y="419100"/>
                  <a:pt x="139700" y="419100"/>
                </a:cubicBezTo>
                <a:lnTo>
                  <a:pt x="165100" y="419100"/>
                </a:lnTo>
                <a:cubicBezTo>
                  <a:pt x="200184" y="419100"/>
                  <a:pt x="228600" y="390684"/>
                  <a:pt x="228600" y="355600"/>
                </a:cubicBezTo>
                <a:lnTo>
                  <a:pt x="228600" y="342900"/>
                </a:lnTo>
                <a:close/>
                <a:moveTo>
                  <a:pt x="146050" y="88900"/>
                </a:moveTo>
                <a:cubicBezTo>
                  <a:pt x="114459" y="88900"/>
                  <a:pt x="88900" y="114459"/>
                  <a:pt x="88900" y="146050"/>
                </a:cubicBezTo>
                <a:cubicBezTo>
                  <a:pt x="88900" y="156607"/>
                  <a:pt x="80407" y="165100"/>
                  <a:pt x="69850" y="165100"/>
                </a:cubicBezTo>
                <a:cubicBezTo>
                  <a:pt x="59293" y="165100"/>
                  <a:pt x="50800" y="156607"/>
                  <a:pt x="50800" y="146050"/>
                </a:cubicBezTo>
                <a:cubicBezTo>
                  <a:pt x="50800" y="93424"/>
                  <a:pt x="93424" y="50800"/>
                  <a:pt x="146050" y="50800"/>
                </a:cubicBezTo>
                <a:cubicBezTo>
                  <a:pt x="156607" y="50800"/>
                  <a:pt x="165100" y="59293"/>
                  <a:pt x="165100" y="69850"/>
                </a:cubicBezTo>
                <a:cubicBezTo>
                  <a:pt x="165100" y="80407"/>
                  <a:pt x="156607" y="88900"/>
                  <a:pt x="146050" y="88900"/>
                </a:cubicBezTo>
                <a:close/>
              </a:path>
            </a:pathLst>
          </a:custGeom>
          <a:solidFill>
            <a:srgbClr val="3B82F6"/>
          </a:solidFill>
          <a:ln/>
        </p:spPr>
      </p:sp>
      <p:sp>
        <p:nvSpPr>
          <p:cNvPr id="25" name="Text 23"/>
          <p:cNvSpPr/>
          <p:nvPr/>
        </p:nvSpPr>
        <p:spPr>
          <a:xfrm>
            <a:off x="9144000" y="5651500"/>
            <a:ext cx="6096000" cy="889000"/>
          </a:xfrm>
          <a:prstGeom prst="rect">
            <a:avLst/>
          </a:prstGeom>
          <a:noFill/>
          <a:ln/>
        </p:spPr>
        <p:txBody>
          <a:bodyPr wrap="square" lIns="0" tIns="0" rIns="0" bIns="0" rtlCol="0" anchor="ctr"/>
          <a:lstStyle/>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Ý nghĩa:</a:t>
            </a:r>
            <a:r>
              <a:rPr lang="en-US" sz="1500" dirty="0">
                <a:solidFill>
                  <a:srgbClr val="1E293B"/>
                </a:solidFill>
                <a:latin typeface="Quattrocento Sans" pitchFamily="34" charset="0"/>
                <a:ea typeface="Quattrocento Sans" pitchFamily="34" charset="-122"/>
                <a:cs typeface="Quattrocento Sans" pitchFamily="34" charset="-120"/>
              </a:rPr>
              <a:t> Struct và mapping giúp lưu trữ hiệu quả trên Blockchain, đảm bảo truy xuất nhanh.</a:t>
            </a:r>
            <a:endParaRPr lang="en-US" sz="1600" dirty="0"/>
          </a:p>
        </p:txBody>
      </p:sp>
      <p:sp>
        <p:nvSpPr>
          <p:cNvPr id="26" name="Text 24"/>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400" dirty="0">
                <a:solidFill>
                  <a:srgbClr val="64748B"/>
                </a:solidFill>
                <a:latin typeface="QuattrocentoSans" pitchFamily="34" charset="0"/>
                <a:ea typeface="QuattrocentoSans" pitchFamily="34" charset="-122"/>
                <a:cs typeface="QuattrocentoSans" pitchFamily="34" charset="-120"/>
              </a:rPr>
              <a:t>18</a:t>
            </a:r>
            <a:endParaRPr lang="en-US" sz="14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B3A5C"/>
          </a:solidFill>
          <a:ln/>
        </p:spPr>
      </p:sp>
      <p:sp>
        <p:nvSpPr>
          <p:cNvPr id="3" name="Text 1"/>
          <p:cNvSpPr/>
          <p:nvPr/>
        </p:nvSpPr>
        <p:spPr>
          <a:xfrm>
            <a:off x="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94A3B8"/>
                </a:solidFill>
                <a:latin typeface="Liter" pitchFamily="34" charset="0"/>
                <a:ea typeface="Liter" pitchFamily="34" charset="-122"/>
                <a:cs typeface="Liter" pitchFamily="34" charset="-120"/>
              </a:rPr>
              <a:t>PHÂN TÍCH VÀ THIẾT KẾ</a:t>
            </a:r>
            <a:endParaRPr lang="en-US" sz="1300" dirty="0"/>
          </a:p>
        </p:txBody>
      </p:sp>
      <p:sp>
        <p:nvSpPr>
          <p:cNvPr id="4" name="Text 2"/>
          <p:cNvSpPr/>
          <p:nvPr/>
        </p:nvSpPr>
        <p:spPr>
          <a:xfrm>
            <a:off x="812800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FFFFFF"/>
                </a:solidFill>
                <a:latin typeface="Liter" pitchFamily="34" charset="0"/>
                <a:ea typeface="Liter" pitchFamily="34" charset="-122"/>
                <a:cs typeface="Liter" pitchFamily="34" charset="-120"/>
              </a:rPr>
              <a:t>XÂY DỰNG VÀ TRIỂN KHAI</a:t>
            </a:r>
            <a:endParaRPr lang="en-US" sz="1300" dirty="0"/>
          </a:p>
        </p:txBody>
      </p:sp>
      <p:sp>
        <p:nvSpPr>
          <p:cNvPr id="5" name="Shape 3"/>
          <p:cNvSpPr/>
          <p:nvPr/>
        </p:nvSpPr>
        <p:spPr>
          <a:xfrm>
            <a:off x="8128000" y="558800"/>
            <a:ext cx="8128000" cy="50800"/>
          </a:xfrm>
          <a:prstGeom prst="rect">
            <a:avLst/>
          </a:prstGeom>
          <a:solidFill>
            <a:srgbClr val="3B82F6"/>
          </a:solidFill>
          <a:ln/>
        </p:spPr>
      </p:sp>
      <p:sp>
        <p:nvSpPr>
          <p:cNvPr id="6" name="Shape 4"/>
          <p:cNvSpPr/>
          <p:nvPr/>
        </p:nvSpPr>
        <p:spPr>
          <a:xfrm>
            <a:off x="762000" y="863600"/>
            <a:ext cx="63500" cy="406400"/>
          </a:xfrm>
          <a:prstGeom prst="rect">
            <a:avLst/>
          </a:prstGeom>
          <a:solidFill>
            <a:srgbClr val="3B82F6"/>
          </a:solidFill>
          <a:ln/>
        </p:spPr>
      </p:sp>
      <p:sp>
        <p:nvSpPr>
          <p:cNvPr id="7" name="Text 5"/>
          <p:cNvSpPr/>
          <p:nvPr/>
        </p:nvSpPr>
        <p:spPr>
          <a:xfrm>
            <a:off x="990600" y="825500"/>
            <a:ext cx="11430000" cy="482600"/>
          </a:xfrm>
          <a:prstGeom prst="rect">
            <a:avLst/>
          </a:prstGeom>
          <a:noFill/>
          <a:ln/>
        </p:spPr>
        <p:txBody>
          <a:bodyPr wrap="none" lIns="0" tIns="0" rIns="0" bIns="0" rtlCol="0" anchor="ctr"/>
          <a:lstStyle/>
          <a:p>
            <a:pPr>
              <a:lnSpc>
                <a:spcPct val="130000"/>
              </a:lnSpc>
            </a:pPr>
            <a:r>
              <a:rPr lang="en-US" sz="2800" dirty="0">
                <a:solidFill>
                  <a:srgbClr val="1B3A5C"/>
                </a:solidFill>
                <a:latin typeface="Liter" pitchFamily="34" charset="0"/>
                <a:ea typeface="Liter" pitchFamily="34" charset="-122"/>
                <a:cs typeface="Liter" pitchFamily="34" charset="-120"/>
              </a:rPr>
              <a:t>3.2.3 Các chức năng chính của Smart Contract</a:t>
            </a:r>
            <a:endParaRPr lang="en-US" sz="2800" dirty="0"/>
          </a:p>
        </p:txBody>
      </p:sp>
      <p:sp>
        <p:nvSpPr>
          <p:cNvPr id="8" name="Shape 6"/>
          <p:cNvSpPr/>
          <p:nvPr/>
        </p:nvSpPr>
        <p:spPr>
          <a:xfrm>
            <a:off x="762000" y="1587500"/>
            <a:ext cx="7175500" cy="1651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9" name="Shape 7"/>
          <p:cNvSpPr/>
          <p:nvPr/>
        </p:nvSpPr>
        <p:spPr>
          <a:xfrm>
            <a:off x="1016000" y="1778000"/>
            <a:ext cx="1397000" cy="381000"/>
          </a:xfrm>
          <a:prstGeom prst="roundRect">
            <a:avLst>
              <a:gd name="adj" fmla="val 12000"/>
            </a:avLst>
          </a:prstGeom>
          <a:solidFill>
            <a:srgbClr val="3B82F6"/>
          </a:solidFill>
          <a:ln/>
        </p:spPr>
      </p:sp>
      <p:sp>
        <p:nvSpPr>
          <p:cNvPr id="10" name="Text 8"/>
          <p:cNvSpPr/>
          <p:nvPr/>
        </p:nvSpPr>
        <p:spPr>
          <a:xfrm>
            <a:off x="1016000" y="1778000"/>
            <a:ext cx="1397000" cy="381000"/>
          </a:xfrm>
          <a:prstGeom prst="rect">
            <a:avLst/>
          </a:prstGeom>
          <a:noFill/>
          <a:ln/>
        </p:spPr>
        <p:txBody>
          <a:bodyPr wrap="none" lIns="0" tIns="0" rIns="0" bIns="0" rtlCol="0" anchor="ctr"/>
          <a:lstStyle/>
          <a:p>
            <a:pPr algn="ctr">
              <a:lnSpc>
                <a:spcPct val="100000"/>
              </a:lnSpc>
            </a:pPr>
            <a:r>
              <a:rPr lang="en-US" sz="1200" dirty="0">
                <a:solidFill>
                  <a:srgbClr val="FFFFFF"/>
                </a:solidFill>
                <a:latin typeface="Liter" pitchFamily="34" charset="0"/>
                <a:ea typeface="Liter" pitchFamily="34" charset="-122"/>
                <a:cs typeface="Liter" pitchFamily="34" charset="-120"/>
              </a:rPr>
              <a:t>TẠO MỚI</a:t>
            </a:r>
            <a:endParaRPr lang="en-US" sz="1600" dirty="0"/>
          </a:p>
        </p:txBody>
      </p:sp>
      <p:sp>
        <p:nvSpPr>
          <p:cNvPr id="11" name="Text 9"/>
          <p:cNvSpPr/>
          <p:nvPr/>
        </p:nvSpPr>
        <p:spPr>
          <a:xfrm>
            <a:off x="2603500" y="1752600"/>
            <a:ext cx="5080000" cy="406400"/>
          </a:xfrm>
          <a:prstGeom prst="rect">
            <a:avLst/>
          </a:prstGeom>
          <a:noFill/>
          <a:ln/>
        </p:spPr>
        <p:txBody>
          <a:bodyPr wrap="none" lIns="0" tIns="0" rIns="0" bIns="0" rtlCol="0" anchor="ctr"/>
          <a:lstStyle/>
          <a:p>
            <a:pPr>
              <a:lnSpc>
                <a:spcPct val="100000"/>
              </a:lnSpc>
            </a:pPr>
            <a:r>
              <a:rPr lang="en-US" sz="1800" b="1" dirty="0">
                <a:solidFill>
                  <a:srgbClr val="1B3A5C"/>
                </a:solidFill>
                <a:latin typeface="Liter" pitchFamily="34" charset="0"/>
                <a:ea typeface="Liter" pitchFamily="34" charset="-122"/>
                <a:cs typeface="Liter" pitchFamily="34" charset="-120"/>
              </a:rPr>
              <a:t>createCampaign()</a:t>
            </a:r>
            <a:endParaRPr lang="en-US" sz="1600" dirty="0"/>
          </a:p>
        </p:txBody>
      </p:sp>
      <p:sp>
        <p:nvSpPr>
          <p:cNvPr id="12" name="Text 10"/>
          <p:cNvSpPr/>
          <p:nvPr/>
        </p:nvSpPr>
        <p:spPr>
          <a:xfrm>
            <a:off x="1016000" y="2286000"/>
            <a:ext cx="6667500" cy="762000"/>
          </a:xfrm>
          <a:prstGeom prst="rect">
            <a:avLst/>
          </a:prstGeom>
          <a:noFill/>
          <a:ln/>
        </p:spPr>
        <p:txBody>
          <a:bodyPr wrap="square" lIns="0" tIns="0" rIns="0" bIns="0" rtlCol="0" anchor="t"/>
          <a:lstStyle/>
          <a:p>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Cho </a:t>
            </a:r>
            <a:r>
              <a:rPr lang="en-US" sz="1500" dirty="0" err="1">
                <a:solidFill>
                  <a:srgbClr val="1E293B"/>
                </a:solidFill>
                <a:latin typeface="Quattrocento Sans" pitchFamily="34" charset="0"/>
                <a:ea typeface="Quattrocento Sans" pitchFamily="34" charset="-122"/>
                <a:cs typeface="Quattrocento Sans" pitchFamily="34" charset="-120"/>
              </a:rPr>
              <a:t>phép</a:t>
            </a:r>
            <a:r>
              <a:rPr lang="en-US" sz="1500" dirty="0">
                <a:solidFill>
                  <a:srgbClr val="1E293B"/>
                </a:solidFill>
                <a:latin typeface="Quattrocento Sans" pitchFamily="34" charset="0"/>
                <a:ea typeface="Quattrocento Sans" pitchFamily="34" charset="-122"/>
                <a:cs typeface="Quattrocento Sans" pitchFamily="34" charset="-120"/>
              </a:rPr>
              <a:t> </a:t>
            </a:r>
            <a:r>
              <a:rPr lang="en-US" sz="1500" dirty="0" err="1">
                <a:solidFill>
                  <a:srgbClr val="1E293B"/>
                </a:solidFill>
                <a:latin typeface="Quattrocento Sans" pitchFamily="34" charset="0"/>
                <a:ea typeface="Quattrocento Sans" pitchFamily="34" charset="-122"/>
                <a:cs typeface="Quattrocento Sans" pitchFamily="34" charset="-120"/>
              </a:rPr>
              <a:t>người</a:t>
            </a:r>
            <a:r>
              <a:rPr lang="en-US" sz="1500" dirty="0">
                <a:solidFill>
                  <a:srgbClr val="1E293B"/>
                </a:solidFill>
                <a:latin typeface="Quattrocento Sans" pitchFamily="34" charset="0"/>
                <a:ea typeface="Quattrocento Sans" pitchFamily="34" charset="-122"/>
                <a:cs typeface="Quattrocento Sans" pitchFamily="34" charset="-120"/>
              </a:rPr>
              <a:t> dùng tạo chiến dịch mới với các thông tin cơ bản. Kiểm tra điều kiện hợp lệ về thờii gian và mục tiêu.</a:t>
            </a:r>
            <a:endParaRPr lang="en-US" sz="1600" dirty="0"/>
          </a:p>
        </p:txBody>
      </p:sp>
      <p:sp>
        <p:nvSpPr>
          <p:cNvPr id="13" name="Shape 11"/>
          <p:cNvSpPr/>
          <p:nvPr/>
        </p:nvSpPr>
        <p:spPr>
          <a:xfrm>
            <a:off x="8318500" y="1587500"/>
            <a:ext cx="7175500" cy="1651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14" name="Shape 12"/>
          <p:cNvSpPr/>
          <p:nvPr/>
        </p:nvSpPr>
        <p:spPr>
          <a:xfrm>
            <a:off x="8572500" y="1778000"/>
            <a:ext cx="1397000" cy="381000"/>
          </a:xfrm>
          <a:prstGeom prst="roundRect">
            <a:avLst>
              <a:gd name="adj" fmla="val 12000"/>
            </a:avLst>
          </a:prstGeom>
          <a:solidFill>
            <a:srgbClr val="059669"/>
          </a:solidFill>
          <a:ln/>
        </p:spPr>
      </p:sp>
      <p:sp>
        <p:nvSpPr>
          <p:cNvPr id="15" name="Text 13"/>
          <p:cNvSpPr/>
          <p:nvPr/>
        </p:nvSpPr>
        <p:spPr>
          <a:xfrm>
            <a:off x="8572500" y="1778000"/>
            <a:ext cx="1397000" cy="381000"/>
          </a:xfrm>
          <a:prstGeom prst="rect">
            <a:avLst/>
          </a:prstGeom>
          <a:noFill/>
          <a:ln/>
        </p:spPr>
        <p:txBody>
          <a:bodyPr wrap="none" lIns="0" tIns="0" rIns="0" bIns="0" rtlCol="0" anchor="ctr"/>
          <a:lstStyle/>
          <a:p>
            <a:pPr algn="ctr">
              <a:lnSpc>
                <a:spcPct val="100000"/>
              </a:lnSpc>
            </a:pPr>
            <a:r>
              <a:rPr lang="en-US" sz="1200" dirty="0">
                <a:solidFill>
                  <a:srgbClr val="FFFFFF"/>
                </a:solidFill>
                <a:latin typeface="Liter" pitchFamily="34" charset="0"/>
                <a:ea typeface="Liter" pitchFamily="34" charset="-122"/>
                <a:cs typeface="Liter" pitchFamily="34" charset="-120"/>
              </a:rPr>
              <a:t>GÓP VỐN</a:t>
            </a:r>
            <a:endParaRPr lang="en-US" sz="1600" dirty="0"/>
          </a:p>
        </p:txBody>
      </p:sp>
      <p:sp>
        <p:nvSpPr>
          <p:cNvPr id="16" name="Text 14"/>
          <p:cNvSpPr/>
          <p:nvPr/>
        </p:nvSpPr>
        <p:spPr>
          <a:xfrm>
            <a:off x="10160000" y="1752600"/>
            <a:ext cx="5080000" cy="406400"/>
          </a:xfrm>
          <a:prstGeom prst="rect">
            <a:avLst/>
          </a:prstGeom>
          <a:noFill/>
          <a:ln/>
        </p:spPr>
        <p:txBody>
          <a:bodyPr wrap="none" lIns="0" tIns="0" rIns="0" bIns="0" rtlCol="0" anchor="ctr"/>
          <a:lstStyle/>
          <a:p>
            <a:pPr>
              <a:lnSpc>
                <a:spcPct val="100000"/>
              </a:lnSpc>
            </a:pPr>
            <a:r>
              <a:rPr lang="en-US" sz="1800" b="1" dirty="0">
                <a:solidFill>
                  <a:srgbClr val="1B3A5C"/>
                </a:solidFill>
                <a:latin typeface="Liter" pitchFamily="34" charset="0"/>
                <a:ea typeface="Liter" pitchFamily="34" charset="-122"/>
                <a:cs typeface="Liter" pitchFamily="34" charset="-120"/>
              </a:rPr>
              <a:t>pledge()</a:t>
            </a:r>
            <a:endParaRPr lang="en-US" sz="1600" dirty="0"/>
          </a:p>
        </p:txBody>
      </p:sp>
      <p:sp>
        <p:nvSpPr>
          <p:cNvPr id="17" name="Text 15"/>
          <p:cNvSpPr/>
          <p:nvPr/>
        </p:nvSpPr>
        <p:spPr>
          <a:xfrm>
            <a:off x="8572500" y="2286000"/>
            <a:ext cx="6667500" cy="762000"/>
          </a:xfrm>
          <a:prstGeom prst="rect">
            <a:avLst/>
          </a:prstGeom>
          <a:noFill/>
          <a:ln/>
        </p:spPr>
        <p:txBody>
          <a:bodyPr wrap="square" lIns="0" tIns="0" rIns="0" bIns="0" rtlCol="0" anchor="t"/>
          <a:lstStyle/>
          <a:p>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Ngườii dùng gửi ETH vào hợp đồng để đóng góp cho chiến dịch. Số tiền được ghi nhận và cập nhật vào tổng quỹ.</a:t>
            </a:r>
            <a:endParaRPr lang="en-US" sz="1600" dirty="0"/>
          </a:p>
        </p:txBody>
      </p:sp>
      <p:sp>
        <p:nvSpPr>
          <p:cNvPr id="18" name="Shape 16"/>
          <p:cNvSpPr/>
          <p:nvPr/>
        </p:nvSpPr>
        <p:spPr>
          <a:xfrm>
            <a:off x="762000" y="3556000"/>
            <a:ext cx="7175500" cy="1651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19" name="Shape 17"/>
          <p:cNvSpPr/>
          <p:nvPr/>
        </p:nvSpPr>
        <p:spPr>
          <a:xfrm>
            <a:off x="1016000" y="3746500"/>
            <a:ext cx="1397000" cy="381000"/>
          </a:xfrm>
          <a:prstGeom prst="roundRect">
            <a:avLst>
              <a:gd name="adj" fmla="val 12000"/>
            </a:avLst>
          </a:prstGeom>
          <a:solidFill>
            <a:srgbClr val="1B3A5C"/>
          </a:solidFill>
          <a:ln/>
        </p:spPr>
      </p:sp>
      <p:sp>
        <p:nvSpPr>
          <p:cNvPr id="20" name="Text 18"/>
          <p:cNvSpPr/>
          <p:nvPr/>
        </p:nvSpPr>
        <p:spPr>
          <a:xfrm>
            <a:off x="1016000" y="3746500"/>
            <a:ext cx="1397000" cy="381000"/>
          </a:xfrm>
          <a:prstGeom prst="rect">
            <a:avLst/>
          </a:prstGeom>
          <a:noFill/>
          <a:ln/>
        </p:spPr>
        <p:txBody>
          <a:bodyPr wrap="none" lIns="0" tIns="0" rIns="0" bIns="0" rtlCol="0" anchor="ctr"/>
          <a:lstStyle/>
          <a:p>
            <a:pPr algn="ctr">
              <a:lnSpc>
                <a:spcPct val="100000"/>
              </a:lnSpc>
            </a:pPr>
            <a:r>
              <a:rPr lang="en-US" sz="1200" dirty="0">
                <a:solidFill>
                  <a:srgbClr val="FFFFFF"/>
                </a:solidFill>
                <a:latin typeface="Liter" pitchFamily="34" charset="0"/>
                <a:ea typeface="Liter" pitchFamily="34" charset="-122"/>
                <a:cs typeface="Liter" pitchFamily="34" charset="-120"/>
              </a:rPr>
              <a:t>RÚT TIỀN</a:t>
            </a:r>
            <a:endParaRPr lang="en-US" sz="1600" dirty="0"/>
          </a:p>
        </p:txBody>
      </p:sp>
      <p:sp>
        <p:nvSpPr>
          <p:cNvPr id="21" name="Text 19"/>
          <p:cNvSpPr/>
          <p:nvPr/>
        </p:nvSpPr>
        <p:spPr>
          <a:xfrm>
            <a:off x="2603500" y="3721100"/>
            <a:ext cx="5080000" cy="406400"/>
          </a:xfrm>
          <a:prstGeom prst="rect">
            <a:avLst/>
          </a:prstGeom>
          <a:noFill/>
          <a:ln/>
        </p:spPr>
        <p:txBody>
          <a:bodyPr wrap="none" lIns="0" tIns="0" rIns="0" bIns="0" rtlCol="0" anchor="ctr"/>
          <a:lstStyle/>
          <a:p>
            <a:pPr>
              <a:lnSpc>
                <a:spcPct val="100000"/>
              </a:lnSpc>
            </a:pPr>
            <a:r>
              <a:rPr lang="en-US" sz="1800" b="1" dirty="0">
                <a:solidFill>
                  <a:srgbClr val="1B3A5C"/>
                </a:solidFill>
                <a:latin typeface="Liter" pitchFamily="34" charset="0"/>
                <a:ea typeface="Liter" pitchFamily="34" charset="-122"/>
                <a:cs typeface="Liter" pitchFamily="34" charset="-120"/>
              </a:rPr>
              <a:t>claim()</a:t>
            </a:r>
            <a:endParaRPr lang="en-US" sz="1600" dirty="0"/>
          </a:p>
        </p:txBody>
      </p:sp>
      <p:sp>
        <p:nvSpPr>
          <p:cNvPr id="22" name="Text 20"/>
          <p:cNvSpPr/>
          <p:nvPr/>
        </p:nvSpPr>
        <p:spPr>
          <a:xfrm>
            <a:off x="1016000" y="4254500"/>
            <a:ext cx="6667500" cy="762000"/>
          </a:xfrm>
          <a:prstGeom prst="rect">
            <a:avLst/>
          </a:prstGeom>
          <a:noFill/>
          <a:ln/>
        </p:spPr>
        <p:txBody>
          <a:bodyPr wrap="square" lIns="0" tIns="0" rIns="0" bIns="0" rtlCol="0" anchor="t"/>
          <a:lstStyle/>
          <a:p>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Khi chiến dịch kết thúc và đạt mục tiêu, ngườii tạo chiến dịch có thể rút toàn bộ số tiền đã huy động.</a:t>
            </a:r>
            <a:endParaRPr lang="en-US" sz="1600" dirty="0"/>
          </a:p>
        </p:txBody>
      </p:sp>
      <p:sp>
        <p:nvSpPr>
          <p:cNvPr id="23" name="Shape 21"/>
          <p:cNvSpPr/>
          <p:nvPr/>
        </p:nvSpPr>
        <p:spPr>
          <a:xfrm>
            <a:off x="8318500" y="3556000"/>
            <a:ext cx="7175500" cy="1651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24" name="Shape 22"/>
          <p:cNvSpPr/>
          <p:nvPr/>
        </p:nvSpPr>
        <p:spPr>
          <a:xfrm>
            <a:off x="8572500" y="3746500"/>
            <a:ext cx="1397000" cy="381000"/>
          </a:xfrm>
          <a:prstGeom prst="roundRect">
            <a:avLst>
              <a:gd name="adj" fmla="val 12000"/>
            </a:avLst>
          </a:prstGeom>
          <a:solidFill>
            <a:srgbClr val="DC2626"/>
          </a:solidFill>
          <a:ln/>
        </p:spPr>
      </p:sp>
      <p:sp>
        <p:nvSpPr>
          <p:cNvPr id="25" name="Text 23"/>
          <p:cNvSpPr/>
          <p:nvPr/>
        </p:nvSpPr>
        <p:spPr>
          <a:xfrm>
            <a:off x="8572500" y="3746500"/>
            <a:ext cx="1397000" cy="381000"/>
          </a:xfrm>
          <a:prstGeom prst="rect">
            <a:avLst/>
          </a:prstGeom>
          <a:noFill/>
          <a:ln/>
        </p:spPr>
        <p:txBody>
          <a:bodyPr wrap="none" lIns="0" tIns="0" rIns="0" bIns="0" rtlCol="0" anchor="ctr"/>
          <a:lstStyle/>
          <a:p>
            <a:pPr algn="ctr">
              <a:lnSpc>
                <a:spcPct val="100000"/>
              </a:lnSpc>
            </a:pPr>
            <a:r>
              <a:rPr lang="en-US" sz="1200" dirty="0">
                <a:solidFill>
                  <a:srgbClr val="FFFFFF"/>
                </a:solidFill>
                <a:latin typeface="Liter" pitchFamily="34" charset="0"/>
                <a:ea typeface="Liter" pitchFamily="34" charset="-122"/>
                <a:cs typeface="Liter" pitchFamily="34" charset="-120"/>
              </a:rPr>
              <a:t>HOÀN TIỀN</a:t>
            </a:r>
            <a:endParaRPr lang="en-US" sz="1600" dirty="0"/>
          </a:p>
        </p:txBody>
      </p:sp>
      <p:sp>
        <p:nvSpPr>
          <p:cNvPr id="26" name="Text 24"/>
          <p:cNvSpPr/>
          <p:nvPr/>
        </p:nvSpPr>
        <p:spPr>
          <a:xfrm>
            <a:off x="10160000" y="3721100"/>
            <a:ext cx="5080000" cy="406400"/>
          </a:xfrm>
          <a:prstGeom prst="rect">
            <a:avLst/>
          </a:prstGeom>
          <a:noFill/>
          <a:ln/>
        </p:spPr>
        <p:txBody>
          <a:bodyPr wrap="none" lIns="0" tIns="0" rIns="0" bIns="0" rtlCol="0" anchor="ctr"/>
          <a:lstStyle/>
          <a:p>
            <a:pPr>
              <a:lnSpc>
                <a:spcPct val="100000"/>
              </a:lnSpc>
            </a:pPr>
            <a:r>
              <a:rPr lang="en-US" sz="1800" b="1" dirty="0">
                <a:solidFill>
                  <a:srgbClr val="1B3A5C"/>
                </a:solidFill>
                <a:latin typeface="Liter" pitchFamily="34" charset="0"/>
                <a:ea typeface="Liter" pitchFamily="34" charset="-122"/>
                <a:cs typeface="Liter" pitchFamily="34" charset="-120"/>
              </a:rPr>
              <a:t>refund()</a:t>
            </a:r>
            <a:endParaRPr lang="en-US" sz="1600" dirty="0"/>
          </a:p>
        </p:txBody>
      </p:sp>
      <p:sp>
        <p:nvSpPr>
          <p:cNvPr id="27" name="Text 25"/>
          <p:cNvSpPr/>
          <p:nvPr/>
        </p:nvSpPr>
        <p:spPr>
          <a:xfrm>
            <a:off x="8572500" y="4254500"/>
            <a:ext cx="6667500" cy="762000"/>
          </a:xfrm>
          <a:prstGeom prst="rect">
            <a:avLst/>
          </a:prstGeom>
          <a:noFill/>
          <a:ln/>
        </p:spPr>
        <p:txBody>
          <a:bodyPr wrap="square" lIns="0" tIns="0" rIns="0" bIns="0" rtlCol="0" anchor="t"/>
          <a:lstStyle/>
          <a:p>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Nếu chiến dịch không đạt mục tiêu, ngườii đóng góp có thể yêu cầu hoàn lại số tiền đã gửi.</a:t>
            </a:r>
            <a:endParaRPr lang="en-US" sz="1600" dirty="0"/>
          </a:p>
        </p:txBody>
      </p:sp>
      <p:sp>
        <p:nvSpPr>
          <p:cNvPr id="28" name="Shape 26"/>
          <p:cNvSpPr/>
          <p:nvPr/>
        </p:nvSpPr>
        <p:spPr>
          <a:xfrm>
            <a:off x="762000" y="5588000"/>
            <a:ext cx="14732000" cy="1397000"/>
          </a:xfrm>
          <a:prstGeom prst="roundRect">
            <a:avLst>
              <a:gd name="adj" fmla="val 6000"/>
            </a:avLst>
          </a:prstGeom>
          <a:solidFill>
            <a:srgbClr val="1B3A5C">
              <a:alpha val="5098"/>
            </a:srgbClr>
          </a:solidFill>
          <a:ln w="12700">
            <a:solidFill>
              <a:srgbClr val="1B3A5C">
                <a:alpha val="12549"/>
              </a:srgbClr>
            </a:solidFill>
            <a:prstDash val="solid"/>
          </a:ln>
        </p:spPr>
      </p:sp>
      <p:sp>
        <p:nvSpPr>
          <p:cNvPr id="29" name="Shape 27"/>
          <p:cNvSpPr/>
          <p:nvPr/>
        </p:nvSpPr>
        <p:spPr>
          <a:xfrm>
            <a:off x="1079500" y="5943600"/>
            <a:ext cx="406400" cy="406400"/>
          </a:xfrm>
          <a:custGeom>
            <a:avLst/>
            <a:gdLst/>
            <a:ahLst/>
            <a:cxnLst/>
            <a:rect l="l" t="t" r="r" b="b"/>
            <a:pathLst>
              <a:path w="406400" h="406400">
                <a:moveTo>
                  <a:pt x="203200" y="0"/>
                </a:moveTo>
                <a:cubicBezTo>
                  <a:pt x="206851" y="0"/>
                  <a:pt x="210503" y="794"/>
                  <a:pt x="213836" y="2302"/>
                </a:cubicBezTo>
                <a:lnTo>
                  <a:pt x="363379" y="65723"/>
                </a:lnTo>
                <a:cubicBezTo>
                  <a:pt x="380841" y="73104"/>
                  <a:pt x="393859" y="90329"/>
                  <a:pt x="393779" y="111125"/>
                </a:cubicBezTo>
                <a:cubicBezTo>
                  <a:pt x="393383" y="189865"/>
                  <a:pt x="360998" y="333931"/>
                  <a:pt x="224234" y="399415"/>
                </a:cubicBezTo>
                <a:cubicBezTo>
                  <a:pt x="210979" y="405765"/>
                  <a:pt x="195580" y="405765"/>
                  <a:pt x="182324" y="399415"/>
                </a:cubicBezTo>
                <a:cubicBezTo>
                  <a:pt x="45482" y="333931"/>
                  <a:pt x="13176" y="189865"/>
                  <a:pt x="12779" y="111125"/>
                </a:cubicBezTo>
                <a:cubicBezTo>
                  <a:pt x="12700" y="90329"/>
                  <a:pt x="25717" y="73104"/>
                  <a:pt x="43180" y="65723"/>
                </a:cubicBezTo>
                <a:lnTo>
                  <a:pt x="192643" y="2302"/>
                </a:lnTo>
                <a:cubicBezTo>
                  <a:pt x="195977" y="794"/>
                  <a:pt x="199549" y="0"/>
                  <a:pt x="203200" y="0"/>
                </a:cubicBezTo>
                <a:close/>
                <a:moveTo>
                  <a:pt x="203200" y="53022"/>
                </a:moveTo>
                <a:lnTo>
                  <a:pt x="203200" y="353139"/>
                </a:lnTo>
                <a:cubicBezTo>
                  <a:pt x="312738" y="300117"/>
                  <a:pt x="342186" y="182642"/>
                  <a:pt x="342900" y="112316"/>
                </a:cubicBezTo>
                <a:lnTo>
                  <a:pt x="203200" y="53102"/>
                </a:lnTo>
                <a:lnTo>
                  <a:pt x="203200" y="53102"/>
                </a:lnTo>
                <a:close/>
              </a:path>
            </a:pathLst>
          </a:custGeom>
          <a:solidFill>
            <a:srgbClr val="3B82F6"/>
          </a:solidFill>
          <a:ln/>
        </p:spPr>
      </p:sp>
      <p:sp>
        <p:nvSpPr>
          <p:cNvPr id="30" name="Text 28"/>
          <p:cNvSpPr/>
          <p:nvPr/>
        </p:nvSpPr>
        <p:spPr>
          <a:xfrm>
            <a:off x="1651000" y="5778500"/>
            <a:ext cx="5080000" cy="355600"/>
          </a:xfrm>
          <a:prstGeom prst="rect">
            <a:avLst/>
          </a:prstGeom>
          <a:noFill/>
          <a:ln/>
        </p:spPr>
        <p:txBody>
          <a:bodyPr wrap="none" lIns="0" tIns="0" rIns="0" bIns="0" rtlCol="0" anchor="ctr"/>
          <a:lstStyle/>
          <a:p>
            <a:pPr>
              <a:lnSpc>
                <a:spcPct val="100000"/>
              </a:lnSpc>
            </a:pPr>
            <a:r>
              <a:rPr lang="en-US" sz="1800" b="1" dirty="0">
                <a:solidFill>
                  <a:srgbClr val="1B3A5C"/>
                </a:solidFill>
                <a:latin typeface="Liter" pitchFamily="34" charset="0"/>
                <a:ea typeface="Liter" pitchFamily="34" charset="-122"/>
                <a:cs typeface="Liter" pitchFamily="34" charset="-120"/>
              </a:rPr>
              <a:t>Cơ chế đảm bảo an toàn</a:t>
            </a:r>
            <a:endParaRPr lang="en-US" sz="1600" dirty="0"/>
          </a:p>
        </p:txBody>
      </p:sp>
      <p:sp>
        <p:nvSpPr>
          <p:cNvPr id="31" name="Text 29"/>
          <p:cNvSpPr/>
          <p:nvPr/>
        </p:nvSpPr>
        <p:spPr>
          <a:xfrm>
            <a:off x="1651000" y="6197600"/>
            <a:ext cx="13462000" cy="635000"/>
          </a:xfrm>
          <a:prstGeom prst="rect">
            <a:avLst/>
          </a:prstGeom>
          <a:noFill/>
          <a:ln/>
        </p:spPr>
        <p:txBody>
          <a:bodyPr wrap="square" lIns="0" tIns="0" rIns="0" bIns="0" rtlCol="0" anchor="t"/>
          <a:lstStyle/>
          <a:p>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Các hàm đều sử dụng lệnh </a:t>
            </a:r>
            <a:r>
              <a:rPr lang="en-US" sz="1500" b="1" dirty="0">
                <a:solidFill>
                  <a:srgbClr val="1E293B"/>
                </a:solidFill>
                <a:latin typeface="Quattrocento Sans" pitchFamily="34" charset="0"/>
                <a:ea typeface="Quattrocento Sans" pitchFamily="34" charset="-122"/>
                <a:cs typeface="Quattrocento Sans" pitchFamily="34" charset="-120"/>
              </a:rPr>
              <a:t>require()</a:t>
            </a:r>
            <a:r>
              <a:rPr lang="en-US" sz="1500" dirty="0">
                <a:solidFill>
                  <a:srgbClr val="1E293B"/>
                </a:solidFill>
                <a:latin typeface="Quattrocento Sans" pitchFamily="34" charset="0"/>
                <a:ea typeface="Quattrocento Sans" pitchFamily="34" charset="-122"/>
                <a:cs typeface="Quattrocento Sans" pitchFamily="34" charset="-120"/>
              </a:rPr>
              <a:t> để kiểm tra điều kiện trước khi thực hiện, ngăn chặn giao dịch không hợp lệ và đảm bảo tính toàn vẹn của hệ thống.</a:t>
            </a:r>
            <a:endParaRPr lang="en-US" sz="1600" dirty="0"/>
          </a:p>
        </p:txBody>
      </p:sp>
      <p:sp>
        <p:nvSpPr>
          <p:cNvPr id="32" name="Text 30"/>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400" dirty="0">
                <a:solidFill>
                  <a:srgbClr val="64748B"/>
                </a:solidFill>
                <a:latin typeface="QuattrocentoSans" pitchFamily="34" charset="0"/>
                <a:ea typeface="QuattrocentoSans" pitchFamily="34" charset="-122"/>
                <a:cs typeface="QuattrocentoSans" pitchFamily="34" charset="-120"/>
              </a:rPr>
              <a:t>19</a:t>
            </a:r>
            <a:endParaRPr lang="en-US" sz="14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B3A5C"/>
          </a:solidFill>
          <a:ln/>
        </p:spPr>
      </p:sp>
      <p:sp>
        <p:nvSpPr>
          <p:cNvPr id="3" name="Text 1"/>
          <p:cNvSpPr/>
          <p:nvPr/>
        </p:nvSpPr>
        <p:spPr>
          <a:xfrm>
            <a:off x="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94A3B8"/>
                </a:solidFill>
                <a:latin typeface="Liter" pitchFamily="34" charset="0"/>
                <a:ea typeface="Liter" pitchFamily="34" charset="-122"/>
                <a:cs typeface="Liter" pitchFamily="34" charset="-120"/>
              </a:rPr>
              <a:t>PHÂN TÍCH VÀ THIẾT KẾ</a:t>
            </a:r>
            <a:endParaRPr lang="en-US" sz="1300" dirty="0"/>
          </a:p>
        </p:txBody>
      </p:sp>
      <p:sp>
        <p:nvSpPr>
          <p:cNvPr id="4" name="Text 2"/>
          <p:cNvSpPr/>
          <p:nvPr/>
        </p:nvSpPr>
        <p:spPr>
          <a:xfrm>
            <a:off x="812800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FFFFFF"/>
                </a:solidFill>
                <a:latin typeface="Liter" pitchFamily="34" charset="0"/>
                <a:ea typeface="Liter" pitchFamily="34" charset="-122"/>
                <a:cs typeface="Liter" pitchFamily="34" charset="-120"/>
              </a:rPr>
              <a:t>XÂY DỰNG VÀ TRIỂN KHAI</a:t>
            </a:r>
            <a:endParaRPr lang="en-US" sz="1300" dirty="0"/>
          </a:p>
        </p:txBody>
      </p:sp>
      <p:sp>
        <p:nvSpPr>
          <p:cNvPr id="5" name="Shape 3"/>
          <p:cNvSpPr/>
          <p:nvPr/>
        </p:nvSpPr>
        <p:spPr>
          <a:xfrm>
            <a:off x="8128000" y="558800"/>
            <a:ext cx="8128000" cy="50800"/>
          </a:xfrm>
          <a:prstGeom prst="rect">
            <a:avLst/>
          </a:prstGeom>
          <a:solidFill>
            <a:srgbClr val="3B82F6"/>
          </a:solidFill>
          <a:ln/>
        </p:spPr>
      </p:sp>
      <p:sp>
        <p:nvSpPr>
          <p:cNvPr id="6" name="Shape 4"/>
          <p:cNvSpPr/>
          <p:nvPr/>
        </p:nvSpPr>
        <p:spPr>
          <a:xfrm>
            <a:off x="762000" y="863600"/>
            <a:ext cx="63500" cy="406400"/>
          </a:xfrm>
          <a:prstGeom prst="rect">
            <a:avLst/>
          </a:prstGeom>
          <a:solidFill>
            <a:srgbClr val="3B82F6"/>
          </a:solidFill>
          <a:ln/>
        </p:spPr>
      </p:sp>
      <p:sp>
        <p:nvSpPr>
          <p:cNvPr id="7" name="Text 5"/>
          <p:cNvSpPr/>
          <p:nvPr/>
        </p:nvSpPr>
        <p:spPr>
          <a:xfrm>
            <a:off x="990600" y="825500"/>
            <a:ext cx="10160000" cy="482600"/>
          </a:xfrm>
          <a:prstGeom prst="rect">
            <a:avLst/>
          </a:prstGeom>
          <a:noFill/>
          <a:ln/>
        </p:spPr>
        <p:txBody>
          <a:bodyPr wrap="none" lIns="0" tIns="0" rIns="0" bIns="0" rtlCol="0" anchor="ctr"/>
          <a:lstStyle/>
          <a:p>
            <a:pPr>
              <a:lnSpc>
                <a:spcPct val="130000"/>
              </a:lnSpc>
            </a:pPr>
            <a:r>
              <a:rPr lang="en-US" sz="2800" dirty="0">
                <a:solidFill>
                  <a:srgbClr val="1B3A5C"/>
                </a:solidFill>
                <a:latin typeface="Liter" pitchFamily="34" charset="0"/>
                <a:ea typeface="Liter" pitchFamily="34" charset="-122"/>
                <a:cs typeface="Liter" pitchFamily="34" charset="-120"/>
              </a:rPr>
              <a:t>3.3 Triển khai Smart Contract bằng Hardhat</a:t>
            </a:r>
            <a:endParaRPr lang="en-US" sz="2800" dirty="0"/>
          </a:p>
        </p:txBody>
      </p:sp>
      <p:sp>
        <p:nvSpPr>
          <p:cNvPr id="8" name="Shape 6"/>
          <p:cNvSpPr/>
          <p:nvPr/>
        </p:nvSpPr>
        <p:spPr>
          <a:xfrm>
            <a:off x="762000" y="1587500"/>
            <a:ext cx="4699000" cy="1016000"/>
          </a:xfrm>
          <a:prstGeom prst="roundRect">
            <a:avLst>
              <a:gd name="adj" fmla="val 6000"/>
            </a:avLst>
          </a:prstGeom>
          <a:solidFill>
            <a:srgbClr val="1B3A5C"/>
          </a:solidFill>
          <a:ln/>
        </p:spPr>
      </p:sp>
      <p:sp>
        <p:nvSpPr>
          <p:cNvPr id="9" name="Text 7"/>
          <p:cNvSpPr/>
          <p:nvPr/>
        </p:nvSpPr>
        <p:spPr>
          <a:xfrm>
            <a:off x="952500" y="1651000"/>
            <a:ext cx="508000" cy="381000"/>
          </a:xfrm>
          <a:prstGeom prst="rect">
            <a:avLst/>
          </a:prstGeom>
          <a:noFill/>
          <a:ln/>
        </p:spPr>
        <p:txBody>
          <a:bodyPr wrap="none" lIns="0" tIns="0" rIns="0" bIns="0" rtlCol="0" anchor="ctr"/>
          <a:lstStyle/>
          <a:p>
            <a:pPr algn="ctr">
              <a:lnSpc>
                <a:spcPct val="100000"/>
              </a:lnSpc>
            </a:pPr>
            <a:r>
              <a:rPr lang="en-US" sz="2000" dirty="0">
                <a:solidFill>
                  <a:srgbClr val="3B82F6"/>
                </a:solidFill>
                <a:latin typeface="Liter" pitchFamily="34" charset="0"/>
                <a:ea typeface="Liter" pitchFamily="34" charset="-122"/>
                <a:cs typeface="Liter" pitchFamily="34" charset="-120"/>
              </a:rPr>
              <a:t>1</a:t>
            </a:r>
            <a:endParaRPr lang="en-US" sz="1600" dirty="0"/>
          </a:p>
        </p:txBody>
      </p:sp>
      <p:sp>
        <p:nvSpPr>
          <p:cNvPr id="10" name="Text 8"/>
          <p:cNvSpPr/>
          <p:nvPr/>
        </p:nvSpPr>
        <p:spPr>
          <a:xfrm>
            <a:off x="1524000" y="1714500"/>
            <a:ext cx="3746500" cy="762000"/>
          </a:xfrm>
          <a:prstGeom prst="rect">
            <a:avLst/>
          </a:prstGeom>
          <a:noFill/>
          <a:ln/>
        </p:spPr>
        <p:txBody>
          <a:bodyPr wrap="square" lIns="0" tIns="0" rIns="0" bIns="0" rtlCol="0" anchor="t"/>
          <a:lstStyle/>
          <a:p>
            <a:pPr>
              <a:lnSpc>
                <a:spcPct val="150000"/>
              </a:lnSpc>
            </a:pPr>
            <a:r>
              <a:rPr lang="en-US" sz="1400" b="1" dirty="0">
                <a:solidFill>
                  <a:srgbClr val="FFFFFF"/>
                </a:solidFill>
                <a:latin typeface="Quattrocento Sans" pitchFamily="34" charset="0"/>
                <a:ea typeface="Quattrocento Sans" pitchFamily="34" charset="-122"/>
                <a:cs typeface="Quattrocento Sans" pitchFamily="34" charset="-120"/>
              </a:rPr>
              <a:t>Tạo project Hardhat</a:t>
            </a:r>
            <a:endParaRPr lang="en-US" sz="1600" dirty="0"/>
          </a:p>
          <a:p>
            <a:pPr>
              <a:lnSpc>
                <a:spcPct val="150000"/>
              </a:lnSpc>
            </a:pPr>
            <a:r>
              <a:rPr lang="en-US" sz="1400" dirty="0">
                <a:solidFill>
                  <a:srgbClr val="FFFFFF"/>
                </a:solidFill>
                <a:latin typeface="Quattrocento Sans" pitchFamily="34" charset="0"/>
                <a:ea typeface="Quattrocento Sans" pitchFamily="34" charset="-122"/>
                <a:cs typeface="Quattrocento Sans" pitchFamily="34" charset="-120"/>
              </a:rPr>
              <a:t>Cấu hình Node.js, Ethers.js</a:t>
            </a:r>
            <a:endParaRPr lang="en-US" sz="1600" dirty="0"/>
          </a:p>
        </p:txBody>
      </p:sp>
      <p:sp>
        <p:nvSpPr>
          <p:cNvPr id="11" name="Shape 9"/>
          <p:cNvSpPr/>
          <p:nvPr/>
        </p:nvSpPr>
        <p:spPr>
          <a:xfrm>
            <a:off x="5524500" y="2032000"/>
            <a:ext cx="317500" cy="0"/>
          </a:xfrm>
          <a:prstGeom prst="straightConnector1">
            <a:avLst/>
          </a:prstGeom>
          <a:noFill/>
          <a:ln w="25400">
            <a:solidFill>
              <a:srgbClr val="3B82F6"/>
            </a:solidFill>
            <a:prstDash val="solid"/>
            <a:headEnd type="none"/>
            <a:tailEnd type="arrow"/>
          </a:ln>
        </p:spPr>
      </p:sp>
      <p:sp>
        <p:nvSpPr>
          <p:cNvPr id="12" name="Shape 10"/>
          <p:cNvSpPr/>
          <p:nvPr/>
        </p:nvSpPr>
        <p:spPr>
          <a:xfrm>
            <a:off x="5905500" y="1587500"/>
            <a:ext cx="4699000" cy="1016000"/>
          </a:xfrm>
          <a:prstGeom prst="roundRect">
            <a:avLst>
              <a:gd name="adj" fmla="val 6000"/>
            </a:avLst>
          </a:prstGeom>
          <a:solidFill>
            <a:srgbClr val="1B3A5C"/>
          </a:solidFill>
          <a:ln/>
        </p:spPr>
      </p:sp>
      <p:sp>
        <p:nvSpPr>
          <p:cNvPr id="13" name="Text 11"/>
          <p:cNvSpPr/>
          <p:nvPr/>
        </p:nvSpPr>
        <p:spPr>
          <a:xfrm>
            <a:off x="6096000" y="1651000"/>
            <a:ext cx="508000" cy="381000"/>
          </a:xfrm>
          <a:prstGeom prst="rect">
            <a:avLst/>
          </a:prstGeom>
          <a:noFill/>
          <a:ln/>
        </p:spPr>
        <p:txBody>
          <a:bodyPr wrap="none" lIns="0" tIns="0" rIns="0" bIns="0" rtlCol="0" anchor="ctr"/>
          <a:lstStyle/>
          <a:p>
            <a:pPr algn="ctr">
              <a:lnSpc>
                <a:spcPct val="100000"/>
              </a:lnSpc>
            </a:pPr>
            <a:r>
              <a:rPr lang="en-US" sz="2000" dirty="0">
                <a:solidFill>
                  <a:srgbClr val="3B82F6"/>
                </a:solidFill>
                <a:latin typeface="Liter" pitchFamily="34" charset="0"/>
                <a:ea typeface="Liter" pitchFamily="34" charset="-122"/>
                <a:cs typeface="Liter" pitchFamily="34" charset="-120"/>
              </a:rPr>
              <a:t>2</a:t>
            </a:r>
            <a:endParaRPr lang="en-US" sz="1600" dirty="0"/>
          </a:p>
        </p:txBody>
      </p:sp>
      <p:sp>
        <p:nvSpPr>
          <p:cNvPr id="14" name="Text 12"/>
          <p:cNvSpPr/>
          <p:nvPr/>
        </p:nvSpPr>
        <p:spPr>
          <a:xfrm>
            <a:off x="6667500" y="1714500"/>
            <a:ext cx="3746500" cy="762000"/>
          </a:xfrm>
          <a:prstGeom prst="rect">
            <a:avLst/>
          </a:prstGeom>
          <a:noFill/>
          <a:ln/>
        </p:spPr>
        <p:txBody>
          <a:bodyPr wrap="square" lIns="0" tIns="0" rIns="0" bIns="0" rtlCol="0" anchor="t"/>
          <a:lstStyle/>
          <a:p>
            <a:pPr>
              <a:lnSpc>
                <a:spcPct val="150000"/>
              </a:lnSpc>
            </a:pPr>
            <a:r>
              <a:rPr lang="en-US" sz="1400" b="1" dirty="0">
                <a:solidFill>
                  <a:srgbClr val="FFFFFF"/>
                </a:solidFill>
                <a:latin typeface="Quattrocento Sans" pitchFamily="34" charset="0"/>
                <a:ea typeface="Quattrocento Sans" pitchFamily="34" charset="-122"/>
                <a:cs typeface="Quattrocento Sans" pitchFamily="34" charset="-120"/>
              </a:rPr>
              <a:t>Viết Smart Contract</a:t>
            </a:r>
            <a:endParaRPr lang="en-US" sz="1600" dirty="0"/>
          </a:p>
          <a:p>
            <a:pPr>
              <a:lnSpc>
                <a:spcPct val="150000"/>
              </a:lnSpc>
            </a:pPr>
            <a:r>
              <a:rPr lang="en-US" sz="1400" dirty="0">
                <a:solidFill>
                  <a:srgbClr val="FFFFFF"/>
                </a:solidFill>
                <a:latin typeface="Quattrocento Sans" pitchFamily="34" charset="0"/>
                <a:ea typeface="Quattrocento Sans" pitchFamily="34" charset="-122"/>
                <a:cs typeface="Quattrocento Sans" pitchFamily="34" charset="-120"/>
              </a:rPr>
              <a:t>Crowdfunding.sol trong contracts/</a:t>
            </a:r>
            <a:endParaRPr lang="en-US" sz="1600" dirty="0"/>
          </a:p>
        </p:txBody>
      </p:sp>
      <p:sp>
        <p:nvSpPr>
          <p:cNvPr id="15" name="Shape 13"/>
          <p:cNvSpPr/>
          <p:nvPr/>
        </p:nvSpPr>
        <p:spPr>
          <a:xfrm>
            <a:off x="10668000" y="2032000"/>
            <a:ext cx="317500" cy="0"/>
          </a:xfrm>
          <a:prstGeom prst="straightConnector1">
            <a:avLst/>
          </a:prstGeom>
          <a:noFill/>
          <a:ln w="25400">
            <a:solidFill>
              <a:srgbClr val="3B82F6"/>
            </a:solidFill>
            <a:prstDash val="solid"/>
            <a:headEnd type="none"/>
            <a:tailEnd type="arrow"/>
          </a:ln>
        </p:spPr>
      </p:sp>
      <p:sp>
        <p:nvSpPr>
          <p:cNvPr id="16" name="Shape 14"/>
          <p:cNvSpPr/>
          <p:nvPr/>
        </p:nvSpPr>
        <p:spPr>
          <a:xfrm>
            <a:off x="11049000" y="1587500"/>
            <a:ext cx="4445000" cy="1016000"/>
          </a:xfrm>
          <a:prstGeom prst="roundRect">
            <a:avLst>
              <a:gd name="adj" fmla="val 6000"/>
            </a:avLst>
          </a:prstGeom>
          <a:solidFill>
            <a:srgbClr val="3B82F6"/>
          </a:solidFill>
          <a:ln/>
        </p:spPr>
      </p:sp>
      <p:sp>
        <p:nvSpPr>
          <p:cNvPr id="17" name="Text 15"/>
          <p:cNvSpPr/>
          <p:nvPr/>
        </p:nvSpPr>
        <p:spPr>
          <a:xfrm>
            <a:off x="11239500" y="1651000"/>
            <a:ext cx="508000" cy="381000"/>
          </a:xfrm>
          <a:prstGeom prst="rect">
            <a:avLst/>
          </a:prstGeom>
          <a:noFill/>
          <a:ln/>
        </p:spPr>
        <p:txBody>
          <a:bodyPr wrap="none" lIns="0" tIns="0" rIns="0" bIns="0" rtlCol="0" anchor="ctr"/>
          <a:lstStyle/>
          <a:p>
            <a:pPr algn="ctr">
              <a:lnSpc>
                <a:spcPct val="100000"/>
              </a:lnSpc>
            </a:pPr>
            <a:r>
              <a:rPr lang="en-US" sz="2000" dirty="0">
                <a:solidFill>
                  <a:srgbClr val="FFFFFF"/>
                </a:solidFill>
                <a:latin typeface="Liter" pitchFamily="34" charset="0"/>
                <a:ea typeface="Liter" pitchFamily="34" charset="-122"/>
                <a:cs typeface="Liter" pitchFamily="34" charset="-120"/>
              </a:rPr>
              <a:t>3</a:t>
            </a:r>
            <a:endParaRPr lang="en-US" sz="1600" dirty="0"/>
          </a:p>
        </p:txBody>
      </p:sp>
      <p:sp>
        <p:nvSpPr>
          <p:cNvPr id="18" name="Text 16"/>
          <p:cNvSpPr/>
          <p:nvPr/>
        </p:nvSpPr>
        <p:spPr>
          <a:xfrm>
            <a:off x="11811000" y="1714500"/>
            <a:ext cx="3492500" cy="762000"/>
          </a:xfrm>
          <a:prstGeom prst="rect">
            <a:avLst/>
          </a:prstGeom>
          <a:noFill/>
          <a:ln/>
        </p:spPr>
        <p:txBody>
          <a:bodyPr wrap="square" lIns="0" tIns="0" rIns="0" bIns="0" rtlCol="0" anchor="t"/>
          <a:lstStyle/>
          <a:p>
            <a:pPr>
              <a:lnSpc>
                <a:spcPct val="150000"/>
              </a:lnSpc>
            </a:pPr>
            <a:r>
              <a:rPr lang="en-US" sz="1400" b="1" dirty="0">
                <a:solidFill>
                  <a:srgbClr val="FFFFFF"/>
                </a:solidFill>
                <a:latin typeface="Quattrocento Sans" pitchFamily="34" charset="0"/>
                <a:ea typeface="Quattrocento Sans" pitchFamily="34" charset="-122"/>
                <a:cs typeface="Quattrocento Sans" pitchFamily="34" charset="-120"/>
              </a:rPr>
              <a:t>Biên dịch</a:t>
            </a:r>
            <a:endParaRPr lang="en-US" sz="1600" dirty="0"/>
          </a:p>
          <a:p>
            <a:pPr>
              <a:lnSpc>
                <a:spcPct val="150000"/>
              </a:lnSpc>
            </a:pPr>
            <a:r>
              <a:rPr lang="en-US" sz="1400" dirty="0">
                <a:solidFill>
                  <a:srgbClr val="FFFFFF"/>
                </a:solidFill>
                <a:latin typeface="Quattrocento Sans" pitchFamily="34" charset="0"/>
                <a:ea typeface="Quattrocento Sans" pitchFamily="34" charset="-122"/>
                <a:cs typeface="Quattrocento Sans" pitchFamily="34" charset="-120"/>
              </a:rPr>
              <a:t>npx hardhat compile</a:t>
            </a:r>
            <a:endParaRPr lang="en-US" sz="1600" dirty="0"/>
          </a:p>
        </p:txBody>
      </p:sp>
      <p:sp>
        <p:nvSpPr>
          <p:cNvPr id="19" name="Shape 17"/>
          <p:cNvSpPr/>
          <p:nvPr/>
        </p:nvSpPr>
        <p:spPr>
          <a:xfrm>
            <a:off x="762000" y="2921000"/>
            <a:ext cx="14732000" cy="5334000"/>
          </a:xfrm>
          <a:prstGeom prst="roundRect">
            <a:avLst>
              <a:gd name="adj" fmla="val 4000"/>
            </a:avLst>
          </a:prstGeom>
          <a:solidFill>
            <a:srgbClr val="FFFFFF"/>
          </a:solidFill>
          <a:ln/>
          <a:effectLst>
            <a:outerShdw blurRad="127000" dist="25400" dir="5400000" algn="bl" rotWithShape="0">
              <a:srgbClr val="000000">
                <a:alpha val="3922"/>
              </a:srgbClr>
            </a:outerShdw>
          </a:effectLst>
        </p:spPr>
      </p:sp>
      <p:sp>
        <p:nvSpPr>
          <p:cNvPr id="20" name="Text 18"/>
          <p:cNvSpPr/>
          <p:nvPr/>
        </p:nvSpPr>
        <p:spPr>
          <a:xfrm>
            <a:off x="1079500" y="3149600"/>
            <a:ext cx="6350000" cy="381000"/>
          </a:xfrm>
          <a:prstGeom prst="rect">
            <a:avLst/>
          </a:prstGeom>
          <a:noFill/>
          <a:ln/>
        </p:spPr>
        <p:txBody>
          <a:bodyPr wrap="none" lIns="0" tIns="0" rIns="0" bIns="0" rtlCol="0" anchor="ctr"/>
          <a:lstStyle/>
          <a:p>
            <a:pPr>
              <a:lnSpc>
                <a:spcPct val="100000"/>
              </a:lnSpc>
            </a:pPr>
            <a:r>
              <a:rPr lang="en-US" sz="1800" b="1" dirty="0">
                <a:solidFill>
                  <a:srgbClr val="1B3A5C"/>
                </a:solidFill>
                <a:latin typeface="Liter" pitchFamily="34" charset="0"/>
                <a:ea typeface="Liter" pitchFamily="34" charset="-122"/>
                <a:cs typeface="Liter" pitchFamily="34" charset="-120"/>
              </a:rPr>
              <a:t>Các bước triển khai chi tiết</a:t>
            </a:r>
            <a:endParaRPr lang="en-US" sz="1600" dirty="0"/>
          </a:p>
        </p:txBody>
      </p:sp>
      <p:sp>
        <p:nvSpPr>
          <p:cNvPr id="21" name="Shape 19"/>
          <p:cNvSpPr/>
          <p:nvPr/>
        </p:nvSpPr>
        <p:spPr>
          <a:xfrm>
            <a:off x="1079500" y="3619500"/>
            <a:ext cx="14097000" cy="12700"/>
          </a:xfrm>
          <a:prstGeom prst="rect">
            <a:avLst/>
          </a:prstGeom>
          <a:solidFill>
            <a:srgbClr val="E2E8F0"/>
          </a:solidFill>
          <a:ln/>
        </p:spPr>
      </p:sp>
      <p:sp>
        <p:nvSpPr>
          <p:cNvPr id="22" name="Text 20"/>
          <p:cNvSpPr/>
          <p:nvPr/>
        </p:nvSpPr>
        <p:spPr>
          <a:xfrm>
            <a:off x="1079500" y="3810000"/>
            <a:ext cx="6858000" cy="4191000"/>
          </a:xfrm>
          <a:prstGeom prst="rect">
            <a:avLst/>
          </a:prstGeom>
          <a:noFill/>
          <a:ln/>
        </p:spPr>
        <p:txBody>
          <a:bodyPr wrap="square" lIns="0" tIns="0" rIns="0" bIns="0" rtlCol="0" anchor="t"/>
          <a:lstStyle/>
          <a:p>
            <a:pPr>
              <a:lnSpc>
                <a:spcPct val="180000"/>
              </a:lnSpc>
            </a:pPr>
            <a:r>
              <a:rPr lang="en-US" sz="1500" b="1" dirty="0">
                <a:solidFill>
                  <a:srgbClr val="3B82F6"/>
                </a:solidFill>
                <a:latin typeface="Quattrocento Sans" pitchFamily="34" charset="0"/>
                <a:ea typeface="Quattrocento Sans" pitchFamily="34" charset="-122"/>
                <a:cs typeface="Quattrocento Sans" pitchFamily="34" charset="-120"/>
              </a:rPr>
              <a:t>Bước 4:</a:t>
            </a:r>
            <a:r>
              <a:rPr lang="en-US" sz="1500" dirty="0">
                <a:solidFill>
                  <a:srgbClr val="1E293B"/>
                </a:solidFill>
                <a:latin typeface="Quattrocento Sans" pitchFamily="34" charset="0"/>
                <a:ea typeface="Quattrocento Sans" pitchFamily="34" charset="-122"/>
                <a:cs typeface="Quattrocento Sans" pitchFamily="34" charset="-120"/>
              </a:rPr>
              <a:t> Cấu hình Sepolia Testnet</a:t>
            </a:r>
            <a:endParaRPr lang="en-US" sz="1600" dirty="0"/>
          </a:p>
          <a:p>
            <a:pPr>
              <a:lnSpc>
                <a:spcPct val="180000"/>
              </a:lnSpc>
            </a:pPr>
            <a:r>
              <a:rPr lang="en-US" sz="1500" dirty="0">
                <a:solidFill>
                  <a:srgbClr val="1E293B"/>
                </a:solidFill>
                <a:latin typeface="Quattrocento Sans" pitchFamily="34" charset="0"/>
                <a:ea typeface="Quattrocento Sans" pitchFamily="34" charset="-122"/>
                <a:cs typeface="Quattrocento Sans" pitchFamily="34" charset="-120"/>
              </a:rPr>
              <a:t>• hardhat.config.ts</a:t>
            </a:r>
            <a:endParaRPr lang="en-US" sz="1600" dirty="0"/>
          </a:p>
          <a:p>
            <a:pPr>
              <a:lnSpc>
                <a:spcPct val="180000"/>
              </a:lnSpc>
            </a:pPr>
            <a:r>
              <a:rPr lang="en-US" sz="1500" dirty="0">
                <a:solidFill>
                  <a:srgbClr val="1E293B"/>
                </a:solidFill>
                <a:latin typeface="Quattrocento Sans" pitchFamily="34" charset="0"/>
                <a:ea typeface="Quattrocento Sans" pitchFamily="34" charset="-122"/>
                <a:cs typeface="Quattrocento Sans" pitchFamily="34" charset="-120"/>
              </a:rPr>
              <a:t>• RPC provider (Infura)</a:t>
            </a:r>
            <a:endParaRPr lang="en-US" sz="1600" dirty="0"/>
          </a:p>
          <a:p>
            <a:pPr>
              <a:lnSpc>
                <a:spcPct val="180000"/>
              </a:lnSpc>
            </a:pPr>
            <a:r>
              <a:rPr lang="en-US" sz="1500" dirty="0">
                <a:solidFill>
                  <a:srgbClr val="1E293B"/>
                </a:solidFill>
                <a:latin typeface="Quattrocento Sans" pitchFamily="34" charset="0"/>
                <a:ea typeface="Quattrocento Sans" pitchFamily="34" charset="-122"/>
                <a:cs typeface="Quattrocento Sans" pitchFamily="34" charset="-120"/>
              </a:rPr>
              <a:t>• Private key MetaMask</a:t>
            </a:r>
            <a:endParaRPr lang="en-US" sz="1600" dirty="0"/>
          </a:p>
          <a:p>
            <a:pPr>
              <a:lnSpc>
                <a:spcPct val="180000"/>
              </a:lnSpc>
              <a:spcBef>
                <a:spcPts val="1000"/>
              </a:spcBef>
            </a:pPr>
            <a:r>
              <a:rPr lang="en-US" sz="1500" b="1" dirty="0">
                <a:solidFill>
                  <a:srgbClr val="3B82F6"/>
                </a:solidFill>
                <a:latin typeface="Quattrocento Sans" pitchFamily="34" charset="0"/>
                <a:ea typeface="Quattrocento Sans" pitchFamily="34" charset="-122"/>
                <a:cs typeface="Quattrocento Sans" pitchFamily="34" charset="-120"/>
              </a:rPr>
              <a:t>Bước 5:</a:t>
            </a:r>
            <a:r>
              <a:rPr lang="en-US" sz="1500" dirty="0">
                <a:solidFill>
                  <a:srgbClr val="1E293B"/>
                </a:solidFill>
                <a:latin typeface="Quattrocento Sans" pitchFamily="34" charset="0"/>
                <a:ea typeface="Quattrocento Sans" pitchFamily="34" charset="-122"/>
                <a:cs typeface="Quattrocento Sans" pitchFamily="34" charset="-120"/>
              </a:rPr>
              <a:t> Tạo script deploy.js</a:t>
            </a:r>
            <a:endParaRPr lang="en-US" sz="1600" dirty="0"/>
          </a:p>
          <a:p>
            <a:pPr>
              <a:lnSpc>
                <a:spcPct val="180000"/>
              </a:lnSpc>
            </a:pPr>
            <a:r>
              <a:rPr lang="en-US" sz="1500" dirty="0">
                <a:solidFill>
                  <a:srgbClr val="1E293B"/>
                </a:solidFill>
                <a:latin typeface="Quattrocento Sans" pitchFamily="34" charset="0"/>
                <a:ea typeface="Quattrocento Sans" pitchFamily="34" charset="-122"/>
                <a:cs typeface="Quattrocento Sans" pitchFamily="34" charset="-120"/>
              </a:rPr>
              <a:t>• Thư mục scripts/</a:t>
            </a:r>
            <a:endParaRPr lang="en-US" sz="1600" dirty="0"/>
          </a:p>
          <a:p>
            <a:pPr>
              <a:lnSpc>
                <a:spcPct val="180000"/>
              </a:lnSpc>
            </a:pPr>
            <a:r>
              <a:rPr lang="en-US" sz="1500" dirty="0">
                <a:solidFill>
                  <a:srgbClr val="1E293B"/>
                </a:solidFill>
                <a:latin typeface="Quattrocento Sans" pitchFamily="34" charset="0"/>
                <a:ea typeface="Quattrocento Sans" pitchFamily="34" charset="-122"/>
                <a:cs typeface="Quattrocento Sans" pitchFamily="34" charset="-120"/>
              </a:rPr>
              <a:t>• Tự động deploy Smart Contract</a:t>
            </a:r>
            <a:endParaRPr lang="en-US" sz="1600" dirty="0"/>
          </a:p>
          <a:p>
            <a:pPr>
              <a:lnSpc>
                <a:spcPct val="180000"/>
              </a:lnSpc>
              <a:spcBef>
                <a:spcPts val="1000"/>
              </a:spcBef>
            </a:pPr>
            <a:r>
              <a:rPr lang="en-US" sz="1500" b="1" dirty="0">
                <a:solidFill>
                  <a:srgbClr val="3B82F6"/>
                </a:solidFill>
                <a:latin typeface="Quattrocento Sans" pitchFamily="34" charset="0"/>
                <a:ea typeface="Quattrocento Sans" pitchFamily="34" charset="-122"/>
                <a:cs typeface="Quattrocento Sans" pitchFamily="34" charset="-120"/>
              </a:rPr>
              <a:t>Bước 6:</a:t>
            </a:r>
            <a:r>
              <a:rPr lang="en-US" sz="1500" dirty="0">
                <a:solidFill>
                  <a:srgbClr val="1E293B"/>
                </a:solidFill>
                <a:latin typeface="Quattrocento Sans" pitchFamily="34" charset="0"/>
                <a:ea typeface="Quattrocento Sans" pitchFamily="34" charset="-122"/>
                <a:cs typeface="Quattrocento Sans" pitchFamily="34" charset="-120"/>
              </a:rPr>
              <a:t> Thực hiện triển khai</a:t>
            </a:r>
            <a:endParaRPr lang="en-US" sz="1600" dirty="0"/>
          </a:p>
          <a:p>
            <a:pPr>
              <a:lnSpc>
                <a:spcPct val="180000"/>
              </a:lnSpc>
            </a:pPr>
            <a:r>
              <a:rPr lang="en-US" sz="1500" dirty="0">
                <a:solidFill>
                  <a:srgbClr val="1E293B"/>
                </a:solidFill>
                <a:latin typeface="Quattrocento Sans" pitchFamily="34" charset="0"/>
                <a:ea typeface="Quattrocento Sans" pitchFamily="34" charset="-122"/>
                <a:cs typeface="Quattrocento Sans" pitchFamily="34" charset="-120"/>
              </a:rPr>
              <a:t>• npx hardhat run scripts/deploy.js --network sepolia</a:t>
            </a:r>
            <a:endParaRPr lang="en-US" sz="1600" dirty="0"/>
          </a:p>
        </p:txBody>
      </p:sp>
      <p:sp>
        <p:nvSpPr>
          <p:cNvPr id="23" name="Shape 21"/>
          <p:cNvSpPr/>
          <p:nvPr/>
        </p:nvSpPr>
        <p:spPr>
          <a:xfrm>
            <a:off x="8382000" y="3810000"/>
            <a:ext cx="6858000" cy="1905000"/>
          </a:xfrm>
          <a:prstGeom prst="roundRect">
            <a:avLst>
              <a:gd name="adj" fmla="val 6000"/>
            </a:avLst>
          </a:prstGeom>
          <a:solidFill>
            <a:srgbClr val="059669">
              <a:alpha val="5098"/>
            </a:srgbClr>
          </a:solidFill>
          <a:ln w="12700">
            <a:solidFill>
              <a:srgbClr val="059669">
                <a:alpha val="18824"/>
              </a:srgbClr>
            </a:solidFill>
            <a:prstDash val="solid"/>
          </a:ln>
        </p:spPr>
      </p:sp>
      <p:sp>
        <p:nvSpPr>
          <p:cNvPr id="24" name="Shape 22"/>
          <p:cNvSpPr/>
          <p:nvPr/>
        </p:nvSpPr>
        <p:spPr>
          <a:xfrm>
            <a:off x="8699500" y="4127500"/>
            <a:ext cx="406400" cy="406400"/>
          </a:xfrm>
          <a:custGeom>
            <a:avLst/>
            <a:gdLst/>
            <a:ahLst/>
            <a:cxnLst/>
            <a:rect l="l" t="t" r="r" b="b"/>
            <a:pathLst>
              <a:path w="406400" h="406400">
                <a:moveTo>
                  <a:pt x="203200" y="406400"/>
                </a:moveTo>
                <a:cubicBezTo>
                  <a:pt x="315349" y="406400"/>
                  <a:pt x="406400" y="315349"/>
                  <a:pt x="406400" y="203200"/>
                </a:cubicBezTo>
                <a:cubicBezTo>
                  <a:pt x="406400" y="91051"/>
                  <a:pt x="315349" y="0"/>
                  <a:pt x="203200" y="0"/>
                </a:cubicBezTo>
                <a:cubicBezTo>
                  <a:pt x="91051" y="0"/>
                  <a:pt x="0" y="91051"/>
                  <a:pt x="0" y="203200"/>
                </a:cubicBezTo>
                <a:cubicBezTo>
                  <a:pt x="0" y="315349"/>
                  <a:pt x="91051" y="406400"/>
                  <a:pt x="203200" y="406400"/>
                </a:cubicBezTo>
                <a:close/>
                <a:moveTo>
                  <a:pt x="270193" y="168831"/>
                </a:moveTo>
                <a:lnTo>
                  <a:pt x="206692" y="270431"/>
                </a:lnTo>
                <a:cubicBezTo>
                  <a:pt x="203359" y="275749"/>
                  <a:pt x="197644" y="279083"/>
                  <a:pt x="191373" y="279400"/>
                </a:cubicBezTo>
                <a:cubicBezTo>
                  <a:pt x="185102" y="279718"/>
                  <a:pt x="179070" y="276860"/>
                  <a:pt x="175339" y="271780"/>
                </a:cubicBezTo>
                <a:lnTo>
                  <a:pt x="137239" y="220980"/>
                </a:lnTo>
                <a:cubicBezTo>
                  <a:pt x="130889" y="212566"/>
                  <a:pt x="132636" y="200660"/>
                  <a:pt x="141049" y="194310"/>
                </a:cubicBezTo>
                <a:cubicBezTo>
                  <a:pt x="149463" y="187960"/>
                  <a:pt x="161369" y="189706"/>
                  <a:pt x="167719" y="198120"/>
                </a:cubicBezTo>
                <a:lnTo>
                  <a:pt x="189151" y="226695"/>
                </a:lnTo>
                <a:lnTo>
                  <a:pt x="237887" y="148669"/>
                </a:lnTo>
                <a:cubicBezTo>
                  <a:pt x="243443" y="139779"/>
                  <a:pt x="255191" y="137001"/>
                  <a:pt x="264160" y="142637"/>
                </a:cubicBezTo>
                <a:cubicBezTo>
                  <a:pt x="273129" y="148273"/>
                  <a:pt x="275828" y="159941"/>
                  <a:pt x="270193" y="168910"/>
                </a:cubicBezTo>
                <a:close/>
              </a:path>
            </a:pathLst>
          </a:custGeom>
          <a:solidFill>
            <a:srgbClr val="059669"/>
          </a:solidFill>
          <a:ln/>
        </p:spPr>
      </p:sp>
      <p:sp>
        <p:nvSpPr>
          <p:cNvPr id="25" name="Text 23"/>
          <p:cNvSpPr/>
          <p:nvPr/>
        </p:nvSpPr>
        <p:spPr>
          <a:xfrm>
            <a:off x="9271000" y="4000500"/>
            <a:ext cx="5715000" cy="355600"/>
          </a:xfrm>
          <a:prstGeom prst="rect">
            <a:avLst/>
          </a:prstGeom>
          <a:noFill/>
          <a:ln/>
        </p:spPr>
        <p:txBody>
          <a:bodyPr wrap="none" lIns="0" tIns="0" rIns="0" bIns="0" rtlCol="0" anchor="ctr"/>
          <a:lstStyle/>
          <a:p>
            <a:pPr>
              <a:lnSpc>
                <a:spcPct val="100000"/>
              </a:lnSpc>
            </a:pPr>
            <a:r>
              <a:rPr lang="en-US" sz="1600" b="1" dirty="0">
                <a:solidFill>
                  <a:srgbClr val="059669"/>
                </a:solidFill>
                <a:latin typeface="Liter" pitchFamily="34" charset="0"/>
                <a:ea typeface="Liter" pitchFamily="34" charset="-122"/>
                <a:cs typeface="Liter" pitchFamily="34" charset="-120"/>
              </a:rPr>
              <a:t>Kết quả triển khai thành công</a:t>
            </a:r>
            <a:endParaRPr lang="en-US" sz="1600" dirty="0"/>
          </a:p>
        </p:txBody>
      </p:sp>
      <p:sp>
        <p:nvSpPr>
          <p:cNvPr id="26" name="Text 24"/>
          <p:cNvSpPr/>
          <p:nvPr/>
        </p:nvSpPr>
        <p:spPr>
          <a:xfrm>
            <a:off x="9271000" y="4445000"/>
            <a:ext cx="5715000" cy="1206500"/>
          </a:xfrm>
          <a:prstGeom prst="rect">
            <a:avLst/>
          </a:prstGeom>
          <a:noFill/>
          <a:ln/>
        </p:spPr>
        <p:txBody>
          <a:bodyPr wrap="square" lIns="0" tIns="0" rIns="0" bIns="0" rtlCol="0" anchor="t"/>
          <a:lstStyle/>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Xác nhận giao dịch qua MetaMask</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Nhận Contract Address</a:t>
            </a:r>
            <a:endParaRPr lang="en-US" sz="1600" dirty="0"/>
          </a:p>
          <a:p>
            <a:pPr>
              <a:lnSpc>
                <a:spcPct val="170000"/>
              </a:lnSpc>
            </a:pPr>
            <a:r>
              <a:rPr lang="en-US" sz="1400" dirty="0">
                <a:solidFill>
                  <a:srgbClr val="1E293B"/>
                </a:solidFill>
                <a:latin typeface="Quattrocento Sans" pitchFamily="34" charset="0"/>
                <a:ea typeface="Quattrocento Sans" pitchFamily="34" charset="-122"/>
                <a:cs typeface="Quattrocento Sans" pitchFamily="34" charset="-120"/>
              </a:rPr>
              <a:t>• Tích hợp với frontend qua Ethers.js</a:t>
            </a:r>
            <a:endParaRPr lang="en-US" sz="1600" dirty="0"/>
          </a:p>
        </p:txBody>
      </p:sp>
      <p:sp>
        <p:nvSpPr>
          <p:cNvPr id="27" name="Shape 25"/>
          <p:cNvSpPr/>
          <p:nvPr/>
        </p:nvSpPr>
        <p:spPr>
          <a:xfrm>
            <a:off x="8382000" y="5905500"/>
            <a:ext cx="6858000" cy="1016000"/>
          </a:xfrm>
          <a:prstGeom prst="roundRect">
            <a:avLst>
              <a:gd name="adj" fmla="val 6000"/>
            </a:avLst>
          </a:prstGeom>
          <a:solidFill>
            <a:srgbClr val="1E293B"/>
          </a:solidFill>
          <a:ln/>
        </p:spPr>
      </p:sp>
      <p:sp>
        <p:nvSpPr>
          <p:cNvPr id="28" name="Text 26"/>
          <p:cNvSpPr/>
          <p:nvPr/>
        </p:nvSpPr>
        <p:spPr>
          <a:xfrm>
            <a:off x="8636000" y="6032500"/>
            <a:ext cx="6350000" cy="762000"/>
          </a:xfrm>
          <a:prstGeom prst="rect">
            <a:avLst/>
          </a:prstGeom>
          <a:noFill/>
          <a:ln/>
        </p:spPr>
        <p:txBody>
          <a:bodyPr wrap="square" lIns="0" tIns="0" rIns="0" bIns="0" rtlCol="0" anchor="ctr"/>
          <a:lstStyle/>
          <a:p>
            <a:pPr>
              <a:lnSpc>
                <a:spcPct val="160000"/>
              </a:lnSpc>
            </a:pPr>
            <a:r>
              <a:rPr lang="en-US" sz="1300" dirty="0">
                <a:solidFill>
                  <a:srgbClr val="3B82F6"/>
                </a:solidFill>
                <a:latin typeface="Quattrocento Sans" pitchFamily="34" charset="0"/>
                <a:ea typeface="Quattrocento Sans" pitchFamily="34" charset="-122"/>
                <a:cs typeface="Quattrocento Sans" pitchFamily="34" charset="-120"/>
              </a:rPr>
              <a:t>$</a:t>
            </a:r>
            <a:r>
              <a:rPr lang="en-US" sz="1300" dirty="0">
                <a:solidFill>
                  <a:srgbClr val="94A3B8"/>
                </a:solidFill>
                <a:latin typeface="Quattrocento Sans" pitchFamily="34" charset="0"/>
                <a:ea typeface="Quattrocento Sans" pitchFamily="34" charset="-122"/>
                <a:cs typeface="Quattrocento Sans" pitchFamily="34" charset="-120"/>
              </a:rPr>
              <a:t> npx hardhat run scripts/deploy.js </a:t>
            </a:r>
            <a:r>
              <a:rPr lang="en-US" sz="1300" dirty="0">
                <a:solidFill>
                  <a:srgbClr val="64748B"/>
                </a:solidFill>
                <a:latin typeface="Quattrocento Sans" pitchFamily="34" charset="0"/>
                <a:ea typeface="Quattrocento Sans" pitchFamily="34" charset="-122"/>
                <a:cs typeface="Quattrocento Sans" pitchFamily="34" charset="-120"/>
              </a:rPr>
              <a:t>\</a:t>
            </a:r>
            <a:endParaRPr lang="en-US" sz="1600" dirty="0"/>
          </a:p>
          <a:p>
            <a:pPr>
              <a:lnSpc>
                <a:spcPct val="160000"/>
              </a:lnSpc>
            </a:pPr>
            <a:r>
              <a:rPr lang="en-US" sz="1300" dirty="0">
                <a:solidFill>
                  <a:srgbClr val="3B82F6"/>
                </a:solidFill>
                <a:latin typeface="Quattrocento Sans" pitchFamily="34" charset="0"/>
                <a:ea typeface="Quattrocento Sans" pitchFamily="34" charset="-122"/>
                <a:cs typeface="Quattrocento Sans" pitchFamily="34" charset="-120"/>
              </a:rPr>
              <a:t>--network</a:t>
            </a:r>
            <a:r>
              <a:rPr lang="en-US" sz="1300" dirty="0">
                <a:solidFill>
                  <a:srgbClr val="94A3B8"/>
                </a:solidFill>
                <a:latin typeface="Quattrocento Sans" pitchFamily="34" charset="0"/>
                <a:ea typeface="Quattrocento Sans" pitchFamily="34" charset="-122"/>
                <a:cs typeface="Quattrocento Sans" pitchFamily="34" charset="-120"/>
              </a:rPr>
              <a:t> sepolia</a:t>
            </a:r>
            <a:endParaRPr lang="en-US" sz="1600" dirty="0"/>
          </a:p>
        </p:txBody>
      </p:sp>
      <p:sp>
        <p:nvSpPr>
          <p:cNvPr id="29" name="Text 27"/>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400" dirty="0">
                <a:solidFill>
                  <a:srgbClr val="64748B"/>
                </a:solidFill>
                <a:latin typeface="QuattrocentoSans" pitchFamily="34" charset="0"/>
                <a:ea typeface="QuattrocentoSans" pitchFamily="34" charset="-122"/>
                <a:cs typeface="QuattrocentoSans" pitchFamily="34" charset="-120"/>
              </a:rPr>
              <a:t>20</a:t>
            </a:r>
            <a:endParaRPr lang="en-US" sz="14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16256000" cy="609600"/>
          </a:xfrm>
          <a:prstGeom prst="rect">
            <a:avLst/>
          </a:prstGeom>
          <a:solidFill>
            <a:srgbClr val="1B3A5C"/>
          </a:solidFill>
          <a:ln/>
        </p:spPr>
      </p:sp>
      <p:sp>
        <p:nvSpPr>
          <p:cNvPr id="3" name="Text 1"/>
          <p:cNvSpPr/>
          <p:nvPr/>
        </p:nvSpPr>
        <p:spPr>
          <a:xfrm>
            <a:off x="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94A3B8"/>
                </a:solidFill>
                <a:latin typeface="Liter" pitchFamily="34" charset="0"/>
                <a:ea typeface="Liter" pitchFamily="34" charset="-122"/>
                <a:cs typeface="Liter" pitchFamily="34" charset="-120"/>
              </a:rPr>
              <a:t>PHÂN TÍCH VÀ THIẾT KẾ</a:t>
            </a:r>
            <a:endParaRPr lang="en-US" sz="1300" dirty="0"/>
          </a:p>
        </p:txBody>
      </p:sp>
      <p:sp>
        <p:nvSpPr>
          <p:cNvPr id="4" name="Text 2"/>
          <p:cNvSpPr/>
          <p:nvPr/>
        </p:nvSpPr>
        <p:spPr>
          <a:xfrm>
            <a:off x="8128000" y="0"/>
            <a:ext cx="8128000" cy="558800"/>
          </a:xfrm>
          <a:prstGeom prst="rect">
            <a:avLst/>
          </a:prstGeom>
          <a:noFill/>
          <a:ln/>
        </p:spPr>
        <p:txBody>
          <a:bodyPr wrap="none" lIns="0" tIns="0" rIns="0" bIns="0" rtlCol="0" anchor="ctr"/>
          <a:lstStyle/>
          <a:p>
            <a:pPr algn="ctr">
              <a:lnSpc>
                <a:spcPct val="100000"/>
              </a:lnSpc>
            </a:pPr>
            <a:r>
              <a:rPr lang="en-US" sz="1300" kern="0" spc="100" dirty="0">
                <a:solidFill>
                  <a:srgbClr val="FFFFFF"/>
                </a:solidFill>
                <a:latin typeface="Liter" pitchFamily="34" charset="0"/>
                <a:ea typeface="Liter" pitchFamily="34" charset="-122"/>
                <a:cs typeface="Liter" pitchFamily="34" charset="-120"/>
              </a:rPr>
              <a:t>XÂY DỰNG VÀ TRIỂN KHAI</a:t>
            </a:r>
            <a:endParaRPr lang="en-US" sz="1300" dirty="0"/>
          </a:p>
        </p:txBody>
      </p:sp>
      <p:sp>
        <p:nvSpPr>
          <p:cNvPr id="5" name="Shape 3"/>
          <p:cNvSpPr/>
          <p:nvPr/>
        </p:nvSpPr>
        <p:spPr>
          <a:xfrm>
            <a:off x="8128000" y="558800"/>
            <a:ext cx="8128000" cy="50800"/>
          </a:xfrm>
          <a:prstGeom prst="rect">
            <a:avLst/>
          </a:prstGeom>
          <a:solidFill>
            <a:srgbClr val="3B82F6"/>
          </a:solidFill>
          <a:ln/>
        </p:spPr>
      </p:sp>
      <p:sp>
        <p:nvSpPr>
          <p:cNvPr id="6" name="Shape 4"/>
          <p:cNvSpPr/>
          <p:nvPr/>
        </p:nvSpPr>
        <p:spPr>
          <a:xfrm>
            <a:off x="762000" y="863600"/>
            <a:ext cx="63500" cy="406400"/>
          </a:xfrm>
          <a:prstGeom prst="rect">
            <a:avLst/>
          </a:prstGeom>
          <a:solidFill>
            <a:srgbClr val="3B82F6"/>
          </a:solidFill>
          <a:ln/>
        </p:spPr>
      </p:sp>
      <p:sp>
        <p:nvSpPr>
          <p:cNvPr id="7" name="Text 5"/>
          <p:cNvSpPr/>
          <p:nvPr/>
        </p:nvSpPr>
        <p:spPr>
          <a:xfrm>
            <a:off x="990600" y="825500"/>
            <a:ext cx="10160000" cy="482600"/>
          </a:xfrm>
          <a:prstGeom prst="rect">
            <a:avLst/>
          </a:prstGeom>
          <a:noFill/>
          <a:ln/>
        </p:spPr>
        <p:txBody>
          <a:bodyPr wrap="none" lIns="0" tIns="0" rIns="0" bIns="0" rtlCol="0" anchor="ctr"/>
          <a:lstStyle/>
          <a:p>
            <a:pPr>
              <a:lnSpc>
                <a:spcPct val="130000"/>
              </a:lnSpc>
            </a:pPr>
            <a:r>
              <a:rPr lang="en-US" sz="2800" dirty="0">
                <a:solidFill>
                  <a:srgbClr val="1B3A5C"/>
                </a:solidFill>
                <a:latin typeface="Liter" pitchFamily="34" charset="0"/>
                <a:ea typeface="Liter" pitchFamily="34" charset="-122"/>
                <a:cs typeface="Liter" pitchFamily="34" charset="-120"/>
              </a:rPr>
              <a:t>3.4 Xây dựng giao diện ngườii dùng</a:t>
            </a:r>
            <a:endParaRPr lang="en-US" sz="2800" dirty="0"/>
          </a:p>
        </p:txBody>
      </p:sp>
      <p:sp>
        <p:nvSpPr>
          <p:cNvPr id="8" name="Shape 6"/>
          <p:cNvSpPr/>
          <p:nvPr/>
        </p:nvSpPr>
        <p:spPr>
          <a:xfrm>
            <a:off x="762000" y="1587500"/>
            <a:ext cx="7175500" cy="3175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9" name="Text 7"/>
          <p:cNvSpPr/>
          <p:nvPr/>
        </p:nvSpPr>
        <p:spPr>
          <a:xfrm>
            <a:off x="1016000" y="1778000"/>
            <a:ext cx="6667500" cy="381000"/>
          </a:xfrm>
          <a:prstGeom prst="rect">
            <a:avLst/>
          </a:prstGeom>
          <a:noFill/>
          <a:ln/>
        </p:spPr>
        <p:txBody>
          <a:bodyPr wrap="none" lIns="0" tIns="0" rIns="0" bIns="0" rtlCol="0" anchor="ctr"/>
          <a:lstStyle/>
          <a:p>
            <a:pPr>
              <a:lnSpc>
                <a:spcPct val="100000"/>
              </a:lnSpc>
            </a:pPr>
            <a:r>
              <a:rPr lang="en-US" sz="1800" b="1" dirty="0">
                <a:solidFill>
                  <a:srgbClr val="1B3A5C"/>
                </a:solidFill>
                <a:latin typeface="Liter" pitchFamily="34" charset="0"/>
                <a:ea typeface="Liter" pitchFamily="34" charset="-122"/>
                <a:cs typeface="Liter" pitchFamily="34" charset="-120"/>
              </a:rPr>
              <a:t>Công nghệ sử dụng</a:t>
            </a:r>
            <a:endParaRPr lang="en-US" sz="1600" dirty="0"/>
          </a:p>
        </p:txBody>
      </p:sp>
      <p:sp>
        <p:nvSpPr>
          <p:cNvPr id="10" name="Shape 8"/>
          <p:cNvSpPr/>
          <p:nvPr/>
        </p:nvSpPr>
        <p:spPr>
          <a:xfrm>
            <a:off x="1016000" y="2247900"/>
            <a:ext cx="6667500" cy="12700"/>
          </a:xfrm>
          <a:prstGeom prst="rect">
            <a:avLst/>
          </a:prstGeom>
          <a:solidFill>
            <a:srgbClr val="E2E8F0"/>
          </a:solidFill>
          <a:ln/>
        </p:spPr>
      </p:sp>
      <p:sp>
        <p:nvSpPr>
          <p:cNvPr id="11" name="Text 9"/>
          <p:cNvSpPr/>
          <p:nvPr/>
        </p:nvSpPr>
        <p:spPr>
          <a:xfrm>
            <a:off x="1016000" y="2413000"/>
            <a:ext cx="6667500" cy="2159000"/>
          </a:xfrm>
          <a:prstGeom prst="rect">
            <a:avLst/>
          </a:prstGeom>
          <a:noFill/>
          <a:ln/>
        </p:spPr>
        <p:txBody>
          <a:bodyPr wrap="square" lIns="0" tIns="0" rIns="0" bIns="0" rtlCol="0" anchor="t"/>
          <a:lstStyle/>
          <a:p>
            <a:pPr>
              <a:lnSpc>
                <a:spcPct val="180000"/>
              </a:lnSpc>
            </a:pPr>
            <a:r>
              <a:rPr lang="en-US" sz="1600" b="1" dirty="0">
                <a:solidFill>
                  <a:srgbClr val="3B82F6"/>
                </a:solidFill>
                <a:latin typeface="Quattrocento Sans" pitchFamily="34" charset="0"/>
                <a:ea typeface="Quattrocento Sans" pitchFamily="34" charset="-122"/>
                <a:cs typeface="Quattrocento Sans" pitchFamily="34" charset="-120"/>
              </a:rPr>
              <a:t>Next.js</a:t>
            </a:r>
            <a:r>
              <a:rPr lang="en-US" sz="1600" dirty="0">
                <a:solidFill>
                  <a:srgbClr val="1E293B"/>
                </a:solidFill>
                <a:latin typeface="Quattrocento Sans" pitchFamily="34" charset="0"/>
                <a:ea typeface="Quattrocento Sans" pitchFamily="34" charset="-122"/>
                <a:cs typeface="Quattrocento Sans" pitchFamily="34" charset="-120"/>
              </a:rPr>
              <a:t> - Framework React, hỗ trợ SSR và SSG, tối ưu hiệu suất</a:t>
            </a:r>
            <a:endParaRPr lang="en-US" sz="1600" dirty="0"/>
          </a:p>
          <a:p>
            <a:pPr>
              <a:lnSpc>
                <a:spcPct val="180000"/>
              </a:lnSpc>
              <a:spcBef>
                <a:spcPts val="800"/>
              </a:spcBef>
            </a:pPr>
            <a:r>
              <a:rPr lang="en-US" sz="1600" b="1" dirty="0">
                <a:solidFill>
                  <a:srgbClr val="3B82F6"/>
                </a:solidFill>
                <a:latin typeface="Quattrocento Sans" pitchFamily="34" charset="0"/>
                <a:ea typeface="Quattrocento Sans" pitchFamily="34" charset="-122"/>
                <a:cs typeface="Quattrocento Sans" pitchFamily="34" charset="-120"/>
              </a:rPr>
              <a:t>ethers.js</a:t>
            </a:r>
            <a:r>
              <a:rPr lang="en-US" sz="1600" dirty="0">
                <a:solidFill>
                  <a:srgbClr val="1E293B"/>
                </a:solidFill>
                <a:latin typeface="Quattrocento Sans" pitchFamily="34" charset="0"/>
                <a:ea typeface="Quattrocento Sans" pitchFamily="34" charset="-122"/>
                <a:cs typeface="Quattrocento Sans" pitchFamily="34" charset="-120"/>
              </a:rPr>
              <a:t> - Kết nối và tương tác với Blockchain Ethereum</a:t>
            </a:r>
            <a:endParaRPr lang="en-US" sz="1600" dirty="0"/>
          </a:p>
          <a:p>
            <a:pPr>
              <a:lnSpc>
                <a:spcPct val="180000"/>
              </a:lnSpc>
              <a:spcBef>
                <a:spcPts val="800"/>
              </a:spcBef>
            </a:pPr>
            <a:r>
              <a:rPr lang="en-US" sz="1600" b="1" dirty="0">
                <a:solidFill>
                  <a:srgbClr val="3B82F6"/>
                </a:solidFill>
                <a:latin typeface="Quattrocento Sans" pitchFamily="34" charset="0"/>
                <a:ea typeface="Quattrocento Sans" pitchFamily="34" charset="-122"/>
                <a:cs typeface="Quattrocento Sans" pitchFamily="34" charset="-120"/>
              </a:rPr>
              <a:t>npm</a:t>
            </a:r>
            <a:r>
              <a:rPr lang="en-US" sz="1600" dirty="0">
                <a:solidFill>
                  <a:srgbClr val="1E293B"/>
                </a:solidFill>
                <a:latin typeface="Quattrocento Sans" pitchFamily="34" charset="0"/>
                <a:ea typeface="Quattrocento Sans" pitchFamily="34" charset="-122"/>
                <a:cs typeface="Quattrocento Sans" pitchFamily="34" charset="-120"/>
              </a:rPr>
              <a:t> - Quản lý thư viện, build và triển khai</a:t>
            </a:r>
            <a:endParaRPr lang="en-US" sz="1600" dirty="0"/>
          </a:p>
        </p:txBody>
      </p:sp>
      <p:sp>
        <p:nvSpPr>
          <p:cNvPr id="12" name="Shape 10"/>
          <p:cNvSpPr/>
          <p:nvPr/>
        </p:nvSpPr>
        <p:spPr>
          <a:xfrm>
            <a:off x="8318500" y="1587500"/>
            <a:ext cx="7175500" cy="3175000"/>
          </a:xfrm>
          <a:prstGeom prst="roundRect">
            <a:avLst>
              <a:gd name="adj" fmla="val 6000"/>
            </a:avLst>
          </a:prstGeom>
          <a:solidFill>
            <a:srgbClr val="FFFFFF"/>
          </a:solidFill>
          <a:ln/>
          <a:effectLst>
            <a:outerShdw blurRad="127000" dist="25400" dir="5400000" algn="bl" rotWithShape="0">
              <a:srgbClr val="000000">
                <a:alpha val="3922"/>
              </a:srgbClr>
            </a:outerShdw>
          </a:effectLst>
        </p:spPr>
      </p:sp>
      <p:sp>
        <p:nvSpPr>
          <p:cNvPr id="13" name="Text 11"/>
          <p:cNvSpPr/>
          <p:nvPr/>
        </p:nvSpPr>
        <p:spPr>
          <a:xfrm>
            <a:off x="8572500" y="1778000"/>
            <a:ext cx="6667500" cy="381000"/>
          </a:xfrm>
          <a:prstGeom prst="rect">
            <a:avLst/>
          </a:prstGeom>
          <a:noFill/>
          <a:ln/>
        </p:spPr>
        <p:txBody>
          <a:bodyPr wrap="none" lIns="0" tIns="0" rIns="0" bIns="0" rtlCol="0" anchor="ctr"/>
          <a:lstStyle/>
          <a:p>
            <a:pPr>
              <a:lnSpc>
                <a:spcPct val="100000"/>
              </a:lnSpc>
            </a:pPr>
            <a:r>
              <a:rPr lang="en-US" sz="1800" b="1" dirty="0">
                <a:solidFill>
                  <a:srgbClr val="1B3A5C"/>
                </a:solidFill>
                <a:latin typeface="Liter" pitchFamily="34" charset="0"/>
                <a:ea typeface="Liter" pitchFamily="34" charset="-122"/>
                <a:cs typeface="Liter" pitchFamily="34" charset="-120"/>
              </a:rPr>
              <a:t>Các chức năng giao diện</a:t>
            </a:r>
            <a:endParaRPr lang="en-US" sz="1600" dirty="0"/>
          </a:p>
        </p:txBody>
      </p:sp>
      <p:sp>
        <p:nvSpPr>
          <p:cNvPr id="14" name="Shape 12"/>
          <p:cNvSpPr/>
          <p:nvPr/>
        </p:nvSpPr>
        <p:spPr>
          <a:xfrm>
            <a:off x="8572500" y="2247900"/>
            <a:ext cx="6667500" cy="12700"/>
          </a:xfrm>
          <a:prstGeom prst="rect">
            <a:avLst/>
          </a:prstGeom>
          <a:solidFill>
            <a:srgbClr val="E2E8F0"/>
          </a:solidFill>
          <a:ln/>
        </p:spPr>
      </p:sp>
      <p:sp>
        <p:nvSpPr>
          <p:cNvPr id="15" name="Text 13"/>
          <p:cNvSpPr/>
          <p:nvPr/>
        </p:nvSpPr>
        <p:spPr>
          <a:xfrm>
            <a:off x="8572500" y="2413000"/>
            <a:ext cx="6667500" cy="2159000"/>
          </a:xfrm>
          <a:prstGeom prst="rect">
            <a:avLst/>
          </a:prstGeom>
          <a:noFill/>
          <a:ln/>
        </p:spPr>
        <p:txBody>
          <a:bodyPr wrap="square" lIns="0" tIns="0" rIns="0" bIns="0" rtlCol="0" anchor="t"/>
          <a:lstStyle/>
          <a:p>
            <a:pPr>
              <a:lnSpc>
                <a:spcPct val="180000"/>
              </a:lnSpc>
            </a:pPr>
            <a:r>
              <a:rPr lang="en-US" sz="1500" dirty="0">
                <a:solidFill>
                  <a:srgbClr val="1E293B"/>
                </a:solidFill>
                <a:latin typeface="Quattrocento Sans" pitchFamily="34" charset="0"/>
                <a:ea typeface="Quattrocento Sans" pitchFamily="34" charset="-122"/>
                <a:cs typeface="Quattrocento Sans" pitchFamily="34" charset="-120"/>
              </a:rPr>
              <a:t>• Kết nối ví MetaMask để xác thực</a:t>
            </a:r>
            <a:endParaRPr lang="en-US" sz="1600" dirty="0"/>
          </a:p>
          <a:p>
            <a:pPr>
              <a:lnSpc>
                <a:spcPct val="180000"/>
              </a:lnSpc>
            </a:pPr>
            <a:r>
              <a:rPr lang="en-US" sz="1500" dirty="0">
                <a:solidFill>
                  <a:srgbClr val="1E293B"/>
                </a:solidFill>
                <a:latin typeface="Quattrocento Sans" pitchFamily="34" charset="0"/>
                <a:ea typeface="Quattrocento Sans" pitchFamily="34" charset="-122"/>
                <a:cs typeface="Quattrocento Sans" pitchFamily="34" charset="-120"/>
              </a:rPr>
              <a:t>• Hiển thị danh sách chiến dịch gây quỹ</a:t>
            </a:r>
            <a:endParaRPr lang="en-US" sz="1600" dirty="0"/>
          </a:p>
          <a:p>
            <a:pPr>
              <a:lnSpc>
                <a:spcPct val="180000"/>
              </a:lnSpc>
            </a:pPr>
            <a:r>
              <a:rPr lang="en-US" sz="1500" dirty="0">
                <a:solidFill>
                  <a:srgbClr val="1E293B"/>
                </a:solidFill>
                <a:latin typeface="Quattrocento Sans" pitchFamily="34" charset="0"/>
                <a:ea typeface="Quattrocento Sans" pitchFamily="34" charset="-122"/>
                <a:cs typeface="Quattrocento Sans" pitchFamily="34" charset="-120"/>
              </a:rPr>
              <a:t>• Tạo chiến dịch mới</a:t>
            </a:r>
            <a:endParaRPr lang="en-US" sz="1600" dirty="0"/>
          </a:p>
          <a:p>
            <a:pPr>
              <a:lnSpc>
                <a:spcPct val="180000"/>
              </a:lnSpc>
            </a:pPr>
            <a:r>
              <a:rPr lang="en-US" sz="1500" dirty="0">
                <a:solidFill>
                  <a:srgbClr val="1E293B"/>
                </a:solidFill>
                <a:latin typeface="Quattrocento Sans" pitchFamily="34" charset="0"/>
                <a:ea typeface="Quattrocento Sans" pitchFamily="34" charset="-122"/>
                <a:cs typeface="Quattrocento Sans" pitchFamily="34" charset="-120"/>
              </a:rPr>
              <a:t>• Góp vốn vào chiến dịch</a:t>
            </a:r>
            <a:endParaRPr lang="en-US" sz="1600" dirty="0"/>
          </a:p>
          <a:p>
            <a:pPr>
              <a:lnSpc>
                <a:spcPct val="180000"/>
              </a:lnSpc>
            </a:pPr>
            <a:r>
              <a:rPr lang="en-US" sz="1500" dirty="0">
                <a:solidFill>
                  <a:srgbClr val="1E293B"/>
                </a:solidFill>
                <a:latin typeface="Quattrocento Sans" pitchFamily="34" charset="0"/>
                <a:ea typeface="Quattrocento Sans" pitchFamily="34" charset="-122"/>
                <a:cs typeface="Quattrocento Sans" pitchFamily="34" charset="-120"/>
              </a:rPr>
              <a:t>• Thực hiện rút tiền hoặc hoàn tiền</a:t>
            </a:r>
            <a:endParaRPr lang="en-US" sz="1600" dirty="0"/>
          </a:p>
        </p:txBody>
      </p:sp>
      <p:sp>
        <p:nvSpPr>
          <p:cNvPr id="16" name="Shape 14"/>
          <p:cNvSpPr/>
          <p:nvPr/>
        </p:nvSpPr>
        <p:spPr>
          <a:xfrm>
            <a:off x="762000" y="5143500"/>
            <a:ext cx="14732000" cy="1651000"/>
          </a:xfrm>
          <a:prstGeom prst="roundRect">
            <a:avLst>
              <a:gd name="adj" fmla="val 6000"/>
            </a:avLst>
          </a:prstGeom>
          <a:solidFill>
            <a:srgbClr val="1B3A5C"/>
          </a:solidFill>
          <a:ln/>
          <a:effectLst>
            <a:outerShdw blurRad="152400" dist="50800" dir="5400000" algn="bl" rotWithShape="0">
              <a:srgbClr val="000000">
                <a:alpha val="12549"/>
              </a:srgbClr>
            </a:outerShdw>
          </a:effectLst>
        </p:spPr>
      </p:sp>
      <p:sp>
        <p:nvSpPr>
          <p:cNvPr id="17" name="Shape 15"/>
          <p:cNvSpPr/>
          <p:nvPr/>
        </p:nvSpPr>
        <p:spPr>
          <a:xfrm>
            <a:off x="1111250" y="5588000"/>
            <a:ext cx="571500" cy="508000"/>
          </a:xfrm>
          <a:custGeom>
            <a:avLst/>
            <a:gdLst/>
            <a:ahLst/>
            <a:cxnLst/>
            <a:rect l="l" t="t" r="r" b="b"/>
            <a:pathLst>
              <a:path w="571500" h="508000">
                <a:moveTo>
                  <a:pt x="476746" y="10220"/>
                </a:moveTo>
                <a:lnTo>
                  <a:pt x="257076" y="156766"/>
                </a:lnTo>
                <a:cubicBezTo>
                  <a:pt x="228203" y="176014"/>
                  <a:pt x="209848" y="207268"/>
                  <a:pt x="206871" y="241399"/>
                </a:cubicBezTo>
                <a:cubicBezTo>
                  <a:pt x="268684" y="254099"/>
                  <a:pt x="317401" y="302816"/>
                  <a:pt x="330200" y="364728"/>
                </a:cubicBezTo>
                <a:cubicBezTo>
                  <a:pt x="364430" y="361752"/>
                  <a:pt x="395585" y="343396"/>
                  <a:pt x="414834" y="314523"/>
                </a:cubicBezTo>
                <a:lnTo>
                  <a:pt x="561280" y="94754"/>
                </a:lnTo>
                <a:cubicBezTo>
                  <a:pt x="567928" y="84733"/>
                  <a:pt x="571500" y="73025"/>
                  <a:pt x="571500" y="60920"/>
                </a:cubicBezTo>
                <a:cubicBezTo>
                  <a:pt x="571500" y="27285"/>
                  <a:pt x="544215" y="0"/>
                  <a:pt x="510580" y="0"/>
                </a:cubicBezTo>
                <a:cubicBezTo>
                  <a:pt x="498574" y="0"/>
                  <a:pt x="486767" y="3572"/>
                  <a:pt x="476746" y="10220"/>
                </a:cubicBezTo>
                <a:close/>
                <a:moveTo>
                  <a:pt x="285750" y="396875"/>
                </a:moveTo>
                <a:cubicBezTo>
                  <a:pt x="285750" y="335459"/>
                  <a:pt x="236041" y="285750"/>
                  <a:pt x="174625" y="285750"/>
                </a:cubicBezTo>
                <a:cubicBezTo>
                  <a:pt x="113209" y="285750"/>
                  <a:pt x="63500" y="335459"/>
                  <a:pt x="63500" y="396875"/>
                </a:cubicBezTo>
                <a:cubicBezTo>
                  <a:pt x="63500" y="400745"/>
                  <a:pt x="63698" y="404614"/>
                  <a:pt x="64095" y="408384"/>
                </a:cubicBezTo>
                <a:cubicBezTo>
                  <a:pt x="65881" y="425748"/>
                  <a:pt x="53975" y="444500"/>
                  <a:pt x="36513" y="444500"/>
                </a:cubicBezTo>
                <a:lnTo>
                  <a:pt x="31750" y="444500"/>
                </a:lnTo>
                <a:cubicBezTo>
                  <a:pt x="14188" y="444500"/>
                  <a:pt x="0" y="458688"/>
                  <a:pt x="0" y="476250"/>
                </a:cubicBezTo>
                <a:cubicBezTo>
                  <a:pt x="0" y="493812"/>
                  <a:pt x="14188" y="508000"/>
                  <a:pt x="31750" y="508000"/>
                </a:cubicBezTo>
                <a:lnTo>
                  <a:pt x="174625" y="508000"/>
                </a:lnTo>
                <a:cubicBezTo>
                  <a:pt x="236041" y="508000"/>
                  <a:pt x="285750" y="458291"/>
                  <a:pt x="285750" y="396875"/>
                </a:cubicBezTo>
                <a:close/>
              </a:path>
            </a:pathLst>
          </a:custGeom>
          <a:solidFill>
            <a:srgbClr val="3B82F6"/>
          </a:solidFill>
          <a:ln/>
        </p:spPr>
      </p:sp>
      <p:sp>
        <p:nvSpPr>
          <p:cNvPr id="18" name="Text 16"/>
          <p:cNvSpPr/>
          <p:nvPr/>
        </p:nvSpPr>
        <p:spPr>
          <a:xfrm>
            <a:off x="1841500" y="5397500"/>
            <a:ext cx="5080000" cy="381000"/>
          </a:xfrm>
          <a:prstGeom prst="rect">
            <a:avLst/>
          </a:prstGeom>
          <a:noFill/>
          <a:ln/>
        </p:spPr>
        <p:txBody>
          <a:bodyPr wrap="none" lIns="0" tIns="0" rIns="0" bIns="0" rtlCol="0" anchor="ctr"/>
          <a:lstStyle/>
          <a:p>
            <a:pPr>
              <a:lnSpc>
                <a:spcPct val="100000"/>
              </a:lnSpc>
            </a:pPr>
            <a:r>
              <a:rPr lang="en-US" sz="2000" b="1" dirty="0">
                <a:solidFill>
                  <a:srgbClr val="FFFFFF"/>
                </a:solidFill>
                <a:latin typeface="Liter" pitchFamily="34" charset="0"/>
                <a:ea typeface="Liter" pitchFamily="34" charset="-122"/>
                <a:cs typeface="Liter" pitchFamily="34" charset="-120"/>
              </a:rPr>
              <a:t>Nguyên tắc thiết kế giao diện</a:t>
            </a:r>
            <a:endParaRPr lang="en-US" sz="1600" dirty="0"/>
          </a:p>
        </p:txBody>
      </p:sp>
      <p:sp>
        <p:nvSpPr>
          <p:cNvPr id="19" name="Text 17"/>
          <p:cNvSpPr/>
          <p:nvPr/>
        </p:nvSpPr>
        <p:spPr>
          <a:xfrm>
            <a:off x="1841500" y="5905500"/>
            <a:ext cx="13335000" cy="635000"/>
          </a:xfrm>
          <a:prstGeom prst="rect">
            <a:avLst/>
          </a:prstGeom>
          <a:noFill/>
          <a:ln/>
        </p:spPr>
        <p:txBody>
          <a:bodyPr wrap="square" lIns="0" tIns="0" rIns="0" bIns="0" rtlCol="0" anchor="t"/>
          <a:lstStyle/>
          <a:p>
            <a:pPr>
              <a:lnSpc>
                <a:spcPct val="160000"/>
              </a:lnSpc>
            </a:pPr>
            <a:r>
              <a:rPr lang="en-US" sz="1600" dirty="0">
                <a:solidFill>
                  <a:srgbClr val="FFFFFF">
                    <a:alpha val="80000"/>
                  </a:srgbClr>
                </a:solidFill>
                <a:latin typeface="Quattrocento Sans" pitchFamily="34" charset="0"/>
                <a:ea typeface="Quattrocento Sans" pitchFamily="34" charset="-122"/>
                <a:cs typeface="Quattrocento Sans" pitchFamily="34" charset="-120"/>
              </a:rPr>
              <a:t>Giao diện được thiết kế </a:t>
            </a:r>
            <a:r>
              <a:rPr lang="en-US" sz="1600" b="1" dirty="0">
                <a:solidFill>
                  <a:srgbClr val="FFFFFF">
                    <a:alpha val="80000"/>
                  </a:srgbClr>
                </a:solidFill>
                <a:latin typeface="Quattrocento Sans" pitchFamily="34" charset="0"/>
                <a:ea typeface="Quattrocento Sans" pitchFamily="34" charset="-122"/>
                <a:cs typeface="Quattrocento Sans" pitchFamily="34" charset="-120"/>
              </a:rPr>
              <a:t>đơn giản, trực quan</a:t>
            </a:r>
            <a:r>
              <a:rPr lang="en-US" sz="1600" dirty="0">
                <a:solidFill>
                  <a:srgbClr val="FFFFFF">
                    <a:alpha val="80000"/>
                  </a:srgbClr>
                </a:solidFill>
                <a:latin typeface="Quattrocento Sans" pitchFamily="34" charset="0"/>
                <a:ea typeface="Quattrocento Sans" pitchFamily="34" charset="-122"/>
                <a:cs typeface="Quattrocento Sans" pitchFamily="34" charset="-120"/>
              </a:rPr>
              <a:t>, đảm bảo ngườii dùng có thể thao tác dễ dàng ngay cả khi </a:t>
            </a:r>
            <a:r>
              <a:rPr lang="en-US" sz="1600" b="1" dirty="0">
                <a:solidFill>
                  <a:srgbClr val="FFFFFF">
                    <a:alpha val="80000"/>
                  </a:srgbClr>
                </a:solidFill>
                <a:latin typeface="Quattrocento Sans" pitchFamily="34" charset="0"/>
                <a:ea typeface="Quattrocento Sans" pitchFamily="34" charset="-122"/>
                <a:cs typeface="Quattrocento Sans" pitchFamily="34" charset="-120"/>
              </a:rPr>
              <a:t>không có kiến thức sâu về Blockchain</a:t>
            </a:r>
            <a:r>
              <a:rPr lang="en-US" sz="1600" dirty="0">
                <a:solidFill>
                  <a:srgbClr val="FFFFFF">
                    <a:alpha val="80000"/>
                  </a:srgbClr>
                </a:solidFill>
                <a:latin typeface="Quattrocento Sans" pitchFamily="34" charset="0"/>
                <a:ea typeface="Quattrocento Sans" pitchFamily="34" charset="-122"/>
                <a:cs typeface="Quattrocento Sans" pitchFamily="34" charset="-120"/>
              </a:rPr>
              <a:t>.</a:t>
            </a:r>
            <a:endParaRPr lang="en-US" sz="1600" dirty="0"/>
          </a:p>
        </p:txBody>
      </p:sp>
      <p:sp>
        <p:nvSpPr>
          <p:cNvPr id="20" name="Text 18"/>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400" dirty="0">
                <a:solidFill>
                  <a:srgbClr val="64748B"/>
                </a:solidFill>
                <a:latin typeface="QuattrocentoSans" pitchFamily="34" charset="0"/>
                <a:ea typeface="QuattrocentoSans" pitchFamily="34" charset="-122"/>
                <a:cs typeface="QuattrocentoSans" pitchFamily="34" charset="-120"/>
              </a:rPr>
              <a:t>21</a:t>
            </a:r>
            <a:endParaRPr lang="en-US" sz="14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https://kimi-img.moonshot.cn/pub/slides/okc/d5rtvzlfo7tzy/mnt/agents/output/blockchain-crowdfunding/images/4_121_212_Blockchain_Abstract_Royalty.png"/>
          <p:cNvPicPr>
            <a:picLocks noChangeAspect="1"/>
          </p:cNvPicPr>
          <p:nvPr/>
        </p:nvPicPr>
        <p:blipFill>
          <a:blip r:embed="rId3"/>
          <a:srcRect t="74" b="74"/>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flip="none" rotWithShape="1">
            <a:gsLst>
              <a:gs pos="0">
                <a:srgbClr val="1B3A5C">
                  <a:alpha val="73000"/>
                </a:srgbClr>
              </a:gs>
              <a:gs pos="50000">
                <a:srgbClr val="1B3A5C">
                  <a:alpha val="87000"/>
                </a:srgbClr>
              </a:gs>
              <a:gs pos="100000">
                <a:srgbClr val="1B3A5C">
                  <a:alpha val="94000"/>
                </a:srgbClr>
              </a:gs>
            </a:gsLst>
            <a:lin ang="5400000" scaled="1"/>
          </a:gradFill>
          <a:ln w="12700">
            <a:solidFill>
              <a:srgbClr val="333333"/>
            </a:solidFill>
            <a:prstDash val="solid"/>
          </a:ln>
        </p:spPr>
      </p:sp>
      <p:sp>
        <p:nvSpPr>
          <p:cNvPr id="4" name="Shape 1"/>
          <p:cNvSpPr/>
          <p:nvPr/>
        </p:nvSpPr>
        <p:spPr>
          <a:xfrm>
            <a:off x="6858000" y="2921000"/>
            <a:ext cx="2540000" cy="25400"/>
          </a:xfrm>
          <a:prstGeom prst="rect">
            <a:avLst/>
          </a:prstGeom>
          <a:solidFill>
            <a:srgbClr val="FFFFFF">
              <a:alpha val="37647"/>
            </a:srgbClr>
          </a:solidFill>
          <a:ln/>
        </p:spPr>
      </p:sp>
      <p:sp>
        <p:nvSpPr>
          <p:cNvPr id="5" name="Text 2"/>
          <p:cNvSpPr/>
          <p:nvPr/>
        </p:nvSpPr>
        <p:spPr>
          <a:xfrm>
            <a:off x="3048000" y="3175000"/>
            <a:ext cx="10160000" cy="889000"/>
          </a:xfrm>
          <a:prstGeom prst="rect">
            <a:avLst/>
          </a:prstGeom>
          <a:noFill/>
          <a:ln/>
        </p:spPr>
        <p:txBody>
          <a:bodyPr wrap="none" lIns="0" tIns="0" rIns="0" bIns="0" rtlCol="0" anchor="ctr"/>
          <a:lstStyle/>
          <a:p>
            <a:pPr algn="ctr">
              <a:lnSpc>
                <a:spcPct val="120000"/>
              </a:lnSpc>
            </a:pPr>
            <a:r>
              <a:rPr lang="en-US" sz="4800" kern="0" spc="800" dirty="0">
                <a:solidFill>
                  <a:srgbClr val="FFFFFF"/>
                </a:solidFill>
                <a:latin typeface="Liter" pitchFamily="34" charset="0"/>
                <a:ea typeface="Liter" pitchFamily="34" charset="-122"/>
                <a:cs typeface="Liter" pitchFamily="34" charset="-120"/>
              </a:rPr>
              <a:t>CẢM ƠN</a:t>
            </a:r>
            <a:endParaRPr lang="en-US" sz="4000" dirty="0"/>
          </a:p>
        </p:txBody>
      </p:sp>
      <p:sp>
        <p:nvSpPr>
          <p:cNvPr id="6" name="Shape 3"/>
          <p:cNvSpPr/>
          <p:nvPr/>
        </p:nvSpPr>
        <p:spPr>
          <a:xfrm>
            <a:off x="6858000" y="4254500"/>
            <a:ext cx="2540000" cy="25400"/>
          </a:xfrm>
          <a:prstGeom prst="rect">
            <a:avLst/>
          </a:prstGeom>
          <a:solidFill>
            <a:srgbClr val="FFFFFF">
              <a:alpha val="37647"/>
            </a:srgbClr>
          </a:solidFill>
          <a:ln/>
        </p:spPr>
      </p:sp>
      <p:sp>
        <p:nvSpPr>
          <p:cNvPr id="7" name="Text 4"/>
          <p:cNvSpPr/>
          <p:nvPr/>
        </p:nvSpPr>
        <p:spPr>
          <a:xfrm>
            <a:off x="3048000" y="4572000"/>
            <a:ext cx="10160000" cy="1016000"/>
          </a:xfrm>
          <a:prstGeom prst="rect">
            <a:avLst/>
          </a:prstGeom>
          <a:noFill/>
          <a:ln/>
        </p:spPr>
        <p:txBody>
          <a:bodyPr wrap="square" lIns="0" tIns="0" rIns="0" bIns="0" rtlCol="0" anchor="ctr"/>
          <a:lstStyle/>
          <a:p>
            <a:pPr algn="ctr">
              <a:lnSpc>
                <a:spcPct val="160000"/>
              </a:lnSpc>
            </a:pPr>
            <a:r>
              <a:rPr lang="en-US" sz="2000" dirty="0">
                <a:solidFill>
                  <a:srgbClr val="FFFFFF">
                    <a:alpha val="80000"/>
                  </a:srgbClr>
                </a:solidFill>
                <a:latin typeface="Quattrocento Sans" pitchFamily="34" charset="0"/>
                <a:ea typeface="Quattrocento Sans" pitchFamily="34" charset="-122"/>
                <a:cs typeface="Quattrocento Sans" pitchFamily="34" charset="-120"/>
              </a:rPr>
              <a:t>Hệ thống DApp Gây quỹ Crowdfunding</a:t>
            </a:r>
            <a:endParaRPr lang="en-US" sz="1600" dirty="0"/>
          </a:p>
          <a:p>
            <a:pPr algn="ctr">
              <a:lnSpc>
                <a:spcPct val="160000"/>
              </a:lnSpc>
            </a:pPr>
            <a:r>
              <a:rPr lang="en-US" sz="2000" dirty="0">
                <a:solidFill>
                  <a:srgbClr val="FFFFFF">
                    <a:alpha val="80000"/>
                  </a:srgbClr>
                </a:solidFill>
                <a:latin typeface="Quattrocento Sans" pitchFamily="34" charset="0"/>
                <a:ea typeface="Quattrocento Sans" pitchFamily="34" charset="-122"/>
                <a:cs typeface="Quattrocento Sans" pitchFamily="34" charset="-120"/>
              </a:rPr>
              <a:t>trên nền tảng Blockchain</a:t>
            </a:r>
            <a:endParaRPr lang="en-US" sz="1600" dirty="0"/>
          </a:p>
        </p:txBody>
      </p:sp>
      <p:sp>
        <p:nvSpPr>
          <p:cNvPr id="8" name="Text 5"/>
          <p:cNvSpPr/>
          <p:nvPr/>
        </p:nvSpPr>
        <p:spPr>
          <a:xfrm>
            <a:off x="4318000" y="5969000"/>
            <a:ext cx="7620000" cy="381000"/>
          </a:xfrm>
          <a:prstGeom prst="rect">
            <a:avLst/>
          </a:prstGeom>
          <a:noFill/>
          <a:ln/>
        </p:spPr>
        <p:txBody>
          <a:bodyPr wrap="none" lIns="0" tIns="0" rIns="0" bIns="0" rtlCol="0" anchor="ctr"/>
          <a:lstStyle/>
          <a:p>
            <a:pPr algn="ctr">
              <a:lnSpc>
                <a:spcPct val="100000"/>
              </a:lnSpc>
            </a:pPr>
            <a:r>
              <a:rPr lang="en-US" sz="1600" dirty="0">
                <a:solidFill>
                  <a:srgbClr val="FFFFFF">
                    <a:alpha val="50196"/>
                  </a:srgbClr>
                </a:solidFill>
                <a:latin typeface="Quattrocento Sans" pitchFamily="34" charset="0"/>
                <a:ea typeface="Quattrocento Sans" pitchFamily="34" charset="-122"/>
                <a:cs typeface="Quattrocento Sans" pitchFamily="34" charset="-120"/>
              </a:rPr>
              <a:t>Công nghệ Blockchain | Năm học 2025 - 2026</a:t>
            </a:r>
            <a:endParaRPr lang="en-US" sz="1600" dirty="0"/>
          </a:p>
        </p:txBody>
      </p:sp>
      <p:sp>
        <p:nvSpPr>
          <p:cNvPr id="9" name="Shape 7">
            <a:extLst>
              <a:ext uri="{FF2B5EF4-FFF2-40B4-BE49-F238E27FC236}">
                <a16:creationId xmlns:a16="http://schemas.microsoft.com/office/drawing/2014/main" id="{D961F90E-025F-A531-49C1-2A2A5C60A7E6}"/>
              </a:ext>
            </a:extLst>
          </p:cNvPr>
          <p:cNvSpPr/>
          <p:nvPr/>
        </p:nvSpPr>
        <p:spPr>
          <a:xfrm>
            <a:off x="5088238" y="6667500"/>
            <a:ext cx="6079524" cy="508000"/>
          </a:xfrm>
          <a:prstGeom prst="roundRect">
            <a:avLst>
              <a:gd name="adj" fmla="val 12000"/>
            </a:avLst>
          </a:prstGeom>
          <a:solidFill>
            <a:srgbClr val="3B82F6"/>
          </a:solidFill>
          <a:ln/>
        </p:spPr>
      </p:sp>
      <p:sp>
        <p:nvSpPr>
          <p:cNvPr id="10" name="Text 8">
            <a:extLst>
              <a:ext uri="{FF2B5EF4-FFF2-40B4-BE49-F238E27FC236}">
                <a16:creationId xmlns:a16="http://schemas.microsoft.com/office/drawing/2014/main" id="{DFFF0275-33A3-AE23-C722-FA8C6C9AD4C7}"/>
              </a:ext>
            </a:extLst>
          </p:cNvPr>
          <p:cNvSpPr/>
          <p:nvPr/>
        </p:nvSpPr>
        <p:spPr>
          <a:xfrm>
            <a:off x="6954108" y="6731000"/>
            <a:ext cx="2227992" cy="381000"/>
          </a:xfrm>
          <a:prstGeom prst="rect">
            <a:avLst/>
          </a:prstGeom>
          <a:noFill/>
          <a:ln/>
        </p:spPr>
        <p:txBody>
          <a:bodyPr wrap="none" lIns="0" tIns="0" rIns="0" bIns="0" rtlCol="0" anchor="ctr"/>
          <a:lstStyle/>
          <a:p>
            <a:pPr algn="ctr">
              <a:lnSpc>
                <a:spcPct val="100000"/>
              </a:lnSpc>
            </a:pPr>
            <a:r>
              <a:rPr lang="vi-VN" dirty="0">
                <a:solidFill>
                  <a:srgbClr val="FFFFFF"/>
                </a:solidFill>
                <a:latin typeface="Liter" pitchFamily="34" charset="0"/>
                <a:ea typeface="Liter" pitchFamily="34" charset="-122"/>
                <a:cs typeface="Liter" pitchFamily="34" charset="-120"/>
              </a:rPr>
              <a:t>Link deploy: </a:t>
            </a:r>
            <a:r>
              <a:rPr lang="en-US" dirty="0">
                <a:solidFill>
                  <a:srgbClr val="FFFFFF"/>
                </a:solidFill>
                <a:latin typeface="Liter" pitchFamily="34" charset="0"/>
                <a:ea typeface="Liter" pitchFamily="34" charset="-122"/>
                <a:cs typeface="Liter" pitchFamily="34" charset="-120"/>
              </a:rPr>
              <a:t>https://crowdfunding-dapp-indol.vercel.app/</a:t>
            </a:r>
            <a:endParaRPr lang="en-US"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2625</Words>
  <Application>Microsoft Office PowerPoint</Application>
  <PresentationFormat>Custom</PresentationFormat>
  <Paragraphs>415</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QuattrocentoSans</vt:lpstr>
      <vt:lpstr>Liter</vt:lpstr>
      <vt:lpstr>Arial</vt:lpstr>
      <vt:lpstr>Quattrocento Sans</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Công nghệ Blockchain - DApp Gây quỹ Crowdfunding</dc:title>
  <dc:subject>Công nghệ Blockchain - DApp Gây quỹ Crowdfunding</dc:subject>
  <dc:creator>Kimi</dc:creator>
  <cp:lastModifiedBy>Duy Tường</cp:lastModifiedBy>
  <cp:revision>3</cp:revision>
  <dcterms:created xsi:type="dcterms:W3CDTF">2026-04-23T04:13:21Z</dcterms:created>
  <dcterms:modified xsi:type="dcterms:W3CDTF">2026-04-23T04:56:58Z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{"Label":"Công nghệ Blockchain - DApp Gây quỹ Crowdfunding","ContentProducer":"001191110108MACG2KBH8F10000","ProduceID":"19db8803-a092-8750-8000-0000f3a11228","ReservedCode1":"","ContentPropagator":"001191110108MACG2KBH8F20000","PropagateID":"19db8803-a092-8750-8000-0000f3a11228","ReservedCode2":""}</vt:lpwstr>
  </property>
</Properties>
</file>